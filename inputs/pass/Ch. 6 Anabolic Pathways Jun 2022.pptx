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5" r:id="rId1"/>
  </p:sldMasterIdLst>
  <p:notesMasterIdLst>
    <p:notesMasterId r:id="rId206"/>
  </p:notesMasterIdLst>
  <p:sldIdLst>
    <p:sldId id="256" r:id="rId2"/>
    <p:sldId id="285" r:id="rId3"/>
    <p:sldId id="396" r:id="rId4"/>
    <p:sldId id="287" r:id="rId5"/>
    <p:sldId id="397" r:id="rId6"/>
    <p:sldId id="398" r:id="rId7"/>
    <p:sldId id="399" r:id="rId8"/>
    <p:sldId id="347" r:id="rId9"/>
    <p:sldId id="272" r:id="rId10"/>
    <p:sldId id="288" r:id="rId11"/>
    <p:sldId id="289" r:id="rId12"/>
    <p:sldId id="257" r:id="rId13"/>
    <p:sldId id="290" r:id="rId14"/>
    <p:sldId id="258" r:id="rId15"/>
    <p:sldId id="291" r:id="rId16"/>
    <p:sldId id="400" r:id="rId17"/>
    <p:sldId id="401" r:id="rId18"/>
    <p:sldId id="292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98" r:id="rId27"/>
    <p:sldId id="409" r:id="rId28"/>
    <p:sldId id="410" r:id="rId29"/>
    <p:sldId id="293" r:id="rId30"/>
    <p:sldId id="411" r:id="rId31"/>
    <p:sldId id="412" r:id="rId32"/>
    <p:sldId id="413" r:id="rId33"/>
    <p:sldId id="414" r:id="rId34"/>
    <p:sldId id="266" r:id="rId35"/>
    <p:sldId id="294" r:id="rId36"/>
    <p:sldId id="295" r:id="rId37"/>
    <p:sldId id="296" r:id="rId38"/>
    <p:sldId id="415" r:id="rId39"/>
    <p:sldId id="297" r:id="rId40"/>
    <p:sldId id="416" r:id="rId41"/>
    <p:sldId id="417" r:id="rId42"/>
    <p:sldId id="418" r:id="rId43"/>
    <p:sldId id="419" r:id="rId44"/>
    <p:sldId id="420" r:id="rId45"/>
    <p:sldId id="421" r:id="rId46"/>
    <p:sldId id="422" r:id="rId47"/>
    <p:sldId id="423" r:id="rId48"/>
    <p:sldId id="424" r:id="rId49"/>
    <p:sldId id="425" r:id="rId50"/>
    <p:sldId id="426" r:id="rId51"/>
    <p:sldId id="427" r:id="rId52"/>
    <p:sldId id="428" r:id="rId53"/>
    <p:sldId id="429" r:id="rId54"/>
    <p:sldId id="322" r:id="rId55"/>
    <p:sldId id="317" r:id="rId56"/>
    <p:sldId id="430" r:id="rId57"/>
    <p:sldId id="323" r:id="rId58"/>
    <p:sldId id="320" r:id="rId59"/>
    <p:sldId id="431" r:id="rId60"/>
    <p:sldId id="432" r:id="rId61"/>
    <p:sldId id="274" r:id="rId62"/>
    <p:sldId id="275" r:id="rId63"/>
    <p:sldId id="276" r:id="rId64"/>
    <p:sldId id="277" r:id="rId65"/>
    <p:sldId id="433" r:id="rId66"/>
    <p:sldId id="278" r:id="rId67"/>
    <p:sldId id="280" r:id="rId68"/>
    <p:sldId id="434" r:id="rId69"/>
    <p:sldId id="435" r:id="rId70"/>
    <p:sldId id="436" r:id="rId71"/>
    <p:sldId id="437" r:id="rId72"/>
    <p:sldId id="438" r:id="rId73"/>
    <p:sldId id="439" r:id="rId74"/>
    <p:sldId id="440" r:id="rId75"/>
    <p:sldId id="441" r:id="rId76"/>
    <p:sldId id="442" r:id="rId77"/>
    <p:sldId id="443" r:id="rId78"/>
    <p:sldId id="444" r:id="rId79"/>
    <p:sldId id="445" r:id="rId80"/>
    <p:sldId id="446" r:id="rId81"/>
    <p:sldId id="281" r:id="rId82"/>
    <p:sldId id="447" r:id="rId83"/>
    <p:sldId id="448" r:id="rId84"/>
    <p:sldId id="449" r:id="rId85"/>
    <p:sldId id="450" r:id="rId86"/>
    <p:sldId id="451" r:id="rId87"/>
    <p:sldId id="282" r:id="rId88"/>
    <p:sldId id="452" r:id="rId89"/>
    <p:sldId id="453" r:id="rId90"/>
    <p:sldId id="454" r:id="rId91"/>
    <p:sldId id="455" r:id="rId92"/>
    <p:sldId id="456" r:id="rId93"/>
    <p:sldId id="457" r:id="rId94"/>
    <p:sldId id="458" r:id="rId95"/>
    <p:sldId id="459" r:id="rId96"/>
    <p:sldId id="283" r:id="rId97"/>
    <p:sldId id="460" r:id="rId98"/>
    <p:sldId id="461" r:id="rId99"/>
    <p:sldId id="462" r:id="rId100"/>
    <p:sldId id="463" r:id="rId101"/>
    <p:sldId id="464" r:id="rId102"/>
    <p:sldId id="465" r:id="rId103"/>
    <p:sldId id="466" r:id="rId104"/>
    <p:sldId id="467" r:id="rId105"/>
    <p:sldId id="468" r:id="rId106"/>
    <p:sldId id="469" r:id="rId107"/>
    <p:sldId id="284" r:id="rId108"/>
    <p:sldId id="273" r:id="rId109"/>
    <p:sldId id="470" r:id="rId110"/>
    <p:sldId id="471" r:id="rId111"/>
    <p:sldId id="472" r:id="rId112"/>
    <p:sldId id="473" r:id="rId113"/>
    <p:sldId id="474" r:id="rId114"/>
    <p:sldId id="475" r:id="rId115"/>
    <p:sldId id="476" r:id="rId116"/>
    <p:sldId id="477" r:id="rId117"/>
    <p:sldId id="478" r:id="rId118"/>
    <p:sldId id="479" r:id="rId119"/>
    <p:sldId id="480" r:id="rId120"/>
    <p:sldId id="481" r:id="rId121"/>
    <p:sldId id="482" r:id="rId122"/>
    <p:sldId id="483" r:id="rId123"/>
    <p:sldId id="484" r:id="rId124"/>
    <p:sldId id="485" r:id="rId125"/>
    <p:sldId id="486" r:id="rId126"/>
    <p:sldId id="324" r:id="rId127"/>
    <p:sldId id="487" r:id="rId128"/>
    <p:sldId id="488" r:id="rId129"/>
    <p:sldId id="489" r:id="rId130"/>
    <p:sldId id="490" r:id="rId131"/>
    <p:sldId id="491" r:id="rId132"/>
    <p:sldId id="492" r:id="rId133"/>
    <p:sldId id="493" r:id="rId134"/>
    <p:sldId id="494" r:id="rId135"/>
    <p:sldId id="495" r:id="rId136"/>
    <p:sldId id="496" r:id="rId137"/>
    <p:sldId id="497" r:id="rId138"/>
    <p:sldId id="325" r:id="rId139"/>
    <p:sldId id="326" r:id="rId140"/>
    <p:sldId id="327" r:id="rId141"/>
    <p:sldId id="328" r:id="rId142"/>
    <p:sldId id="349" r:id="rId143"/>
    <p:sldId id="329" r:id="rId144"/>
    <p:sldId id="330" r:id="rId145"/>
    <p:sldId id="321" r:id="rId146"/>
    <p:sldId id="350" r:id="rId147"/>
    <p:sldId id="351" r:id="rId148"/>
    <p:sldId id="352" r:id="rId149"/>
    <p:sldId id="353" r:id="rId150"/>
    <p:sldId id="331" r:id="rId151"/>
    <p:sldId id="335" r:id="rId152"/>
    <p:sldId id="354" r:id="rId153"/>
    <p:sldId id="355" r:id="rId154"/>
    <p:sldId id="356" r:id="rId155"/>
    <p:sldId id="357" r:id="rId156"/>
    <p:sldId id="358" r:id="rId157"/>
    <p:sldId id="333" r:id="rId158"/>
    <p:sldId id="336" r:id="rId159"/>
    <p:sldId id="337" r:id="rId160"/>
    <p:sldId id="334" r:id="rId161"/>
    <p:sldId id="338" r:id="rId162"/>
    <p:sldId id="339" r:id="rId163"/>
    <p:sldId id="362" r:id="rId164"/>
    <p:sldId id="363" r:id="rId165"/>
    <p:sldId id="340" r:id="rId166"/>
    <p:sldId id="364" r:id="rId167"/>
    <p:sldId id="365" r:id="rId168"/>
    <p:sldId id="348" r:id="rId169"/>
    <p:sldId id="346" r:id="rId170"/>
    <p:sldId id="366" r:id="rId171"/>
    <p:sldId id="341" r:id="rId172"/>
    <p:sldId id="367" r:id="rId173"/>
    <p:sldId id="368" r:id="rId174"/>
    <p:sldId id="369" r:id="rId175"/>
    <p:sldId id="391" r:id="rId176"/>
    <p:sldId id="370" r:id="rId177"/>
    <p:sldId id="392" r:id="rId178"/>
    <p:sldId id="371" r:id="rId179"/>
    <p:sldId id="372" r:id="rId180"/>
    <p:sldId id="373" r:id="rId181"/>
    <p:sldId id="394" r:id="rId182"/>
    <p:sldId id="374" r:id="rId183"/>
    <p:sldId id="375" r:id="rId184"/>
    <p:sldId id="376" r:id="rId185"/>
    <p:sldId id="377" r:id="rId186"/>
    <p:sldId id="378" r:id="rId187"/>
    <p:sldId id="393" r:id="rId188"/>
    <p:sldId id="395" r:id="rId189"/>
    <p:sldId id="379" r:id="rId190"/>
    <p:sldId id="380" r:id="rId191"/>
    <p:sldId id="381" r:id="rId192"/>
    <p:sldId id="382" r:id="rId193"/>
    <p:sldId id="383" r:id="rId194"/>
    <p:sldId id="384" r:id="rId195"/>
    <p:sldId id="385" r:id="rId196"/>
    <p:sldId id="386" r:id="rId197"/>
    <p:sldId id="387" r:id="rId198"/>
    <p:sldId id="388" r:id="rId199"/>
    <p:sldId id="389" r:id="rId200"/>
    <p:sldId id="390" r:id="rId201"/>
    <p:sldId id="345" r:id="rId202"/>
    <p:sldId id="305" r:id="rId203"/>
    <p:sldId id="264" r:id="rId204"/>
    <p:sldId id="267" r:id="rId205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yan Cannon-Scott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444"/>
    <a:srgbClr val="CC0000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commentAuthors" Target="commentAuthor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viewProps" Target="viewProps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theme" Target="theme/theme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4B46C3-E135-48AD-F1FB-18654AF8BD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191171-4216-3135-D25E-0344AE48C1F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CDF1632-87C4-49E2-A281-6BCF66C2F70E}" type="datetimeFigureOut">
              <a:rPr lang="en-US"/>
              <a:pPr>
                <a:defRPr/>
              </a:pPr>
              <a:t>6/23/2022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220F663-C332-CAE8-98DB-3151A22C57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769799A-5135-967D-E4DB-AE0B93500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9A53D-ED9D-1B0C-1375-B93D48CB11D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082FB-AE03-9783-B29E-A64252187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25FC868-81A7-47F3-964B-94F1F55D0B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600A2FBE-3622-C602-1906-814476AB1B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DB909D70-76DF-D128-578F-0A62CCF53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58247C8F-134E-EDDD-229E-0A8C4A0EA3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E1986B8-335B-464A-B42E-31654C96FF5A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E76A9ABB-7938-1DBC-4759-A918CFC668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308D8AA9-10A3-B623-C829-2BDA8D689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E24AB89E-9709-13EB-ABBE-51D9DDDE2E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92F1594-2817-4327-AD16-C94546CCEF1F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99E5199C-335F-1024-CA5F-ABDE32B33E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D6FF10BF-5254-57BC-316F-6E3905A3D9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E14ACE0D-25EC-FDC1-8F16-84F64781DF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8EDFF5C-9F29-450D-B5FC-75708ABB0660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>
            <a:extLst>
              <a:ext uri="{FF2B5EF4-FFF2-40B4-BE49-F238E27FC236}">
                <a16:creationId xmlns:a16="http://schemas.microsoft.com/office/drawing/2014/main" id="{E81B4C5C-96D7-576A-D122-5027236F99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>
            <a:extLst>
              <a:ext uri="{FF2B5EF4-FFF2-40B4-BE49-F238E27FC236}">
                <a16:creationId xmlns:a16="http://schemas.microsoft.com/office/drawing/2014/main" id="{0F5909DB-18BE-497C-9BB7-D4EF91A4A2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6115B439-6FC4-8E7F-CA7D-A1B4FD9159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DA4ECEE-FB9C-4D58-9283-3EB032D14995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>
            <a:extLst>
              <a:ext uri="{FF2B5EF4-FFF2-40B4-BE49-F238E27FC236}">
                <a16:creationId xmlns:a16="http://schemas.microsoft.com/office/drawing/2014/main" id="{13B73236-FCBD-E30E-04B7-64E4CB872F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>
            <a:extLst>
              <a:ext uri="{FF2B5EF4-FFF2-40B4-BE49-F238E27FC236}">
                <a16:creationId xmlns:a16="http://schemas.microsoft.com/office/drawing/2014/main" id="{43C4C8F0-57E6-5501-B0BF-686E3EC247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8068" name="Slide Number Placeholder 3">
            <a:extLst>
              <a:ext uri="{FF2B5EF4-FFF2-40B4-BE49-F238E27FC236}">
                <a16:creationId xmlns:a16="http://schemas.microsoft.com/office/drawing/2014/main" id="{6933B15C-E8F4-724D-DD00-8F5912564B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F301B1B-2808-40F9-9D54-F919634047A9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>
            <a:extLst>
              <a:ext uri="{FF2B5EF4-FFF2-40B4-BE49-F238E27FC236}">
                <a16:creationId xmlns:a16="http://schemas.microsoft.com/office/drawing/2014/main" id="{49D89375-7501-BDEC-2DCA-22EDDDE76C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>
            <a:extLst>
              <a:ext uri="{FF2B5EF4-FFF2-40B4-BE49-F238E27FC236}">
                <a16:creationId xmlns:a16="http://schemas.microsoft.com/office/drawing/2014/main" id="{782FB36C-2429-C09C-1B88-7A524879F3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0116" name="Slide Number Placeholder 3">
            <a:extLst>
              <a:ext uri="{FF2B5EF4-FFF2-40B4-BE49-F238E27FC236}">
                <a16:creationId xmlns:a16="http://schemas.microsoft.com/office/drawing/2014/main" id="{A86DC1B1-3E48-C6E0-FEFB-16CF1FBDB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03B713-7E88-4927-9898-0E097F822B49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>
            <a:extLst>
              <a:ext uri="{FF2B5EF4-FFF2-40B4-BE49-F238E27FC236}">
                <a16:creationId xmlns:a16="http://schemas.microsoft.com/office/drawing/2014/main" id="{30FB7A54-FCD9-2587-A1ED-C4654E0F84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>
            <a:extLst>
              <a:ext uri="{FF2B5EF4-FFF2-40B4-BE49-F238E27FC236}">
                <a16:creationId xmlns:a16="http://schemas.microsoft.com/office/drawing/2014/main" id="{E7FC8826-8A24-F8DE-A556-E73C5C1052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2164" name="Slide Number Placeholder 3">
            <a:extLst>
              <a:ext uri="{FF2B5EF4-FFF2-40B4-BE49-F238E27FC236}">
                <a16:creationId xmlns:a16="http://schemas.microsoft.com/office/drawing/2014/main" id="{DCBADC96-7C05-BE48-D208-82A5654333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D9AF394-D7E5-4AD5-8A18-2435AAE3D49A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>
            <a:extLst>
              <a:ext uri="{FF2B5EF4-FFF2-40B4-BE49-F238E27FC236}">
                <a16:creationId xmlns:a16="http://schemas.microsoft.com/office/drawing/2014/main" id="{E017AE37-2B75-24A4-F50C-B2072AE691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>
            <a:extLst>
              <a:ext uri="{FF2B5EF4-FFF2-40B4-BE49-F238E27FC236}">
                <a16:creationId xmlns:a16="http://schemas.microsoft.com/office/drawing/2014/main" id="{47768BFC-C175-D5E8-1B4A-831ACD9FD3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5236" name="Slide Number Placeholder 3">
            <a:extLst>
              <a:ext uri="{FF2B5EF4-FFF2-40B4-BE49-F238E27FC236}">
                <a16:creationId xmlns:a16="http://schemas.microsoft.com/office/drawing/2014/main" id="{9856F197-AB55-C0B4-3961-9A924B4D58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448BC77-27BA-4EB7-AB78-6F980A0DCE0B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BB06CEF0-F770-9E86-2096-B8221B045D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E659AB62-8247-9E6A-7EF3-55E4AD598A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7284" name="Slide Number Placeholder 3">
            <a:extLst>
              <a:ext uri="{FF2B5EF4-FFF2-40B4-BE49-F238E27FC236}">
                <a16:creationId xmlns:a16="http://schemas.microsoft.com/office/drawing/2014/main" id="{CFD5840C-043C-5D64-5B71-B51BBFF43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B4342B-11AD-4D00-AF4F-AC48D55A5878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>
            <a:extLst>
              <a:ext uri="{FF2B5EF4-FFF2-40B4-BE49-F238E27FC236}">
                <a16:creationId xmlns:a16="http://schemas.microsoft.com/office/drawing/2014/main" id="{6E87C029-4370-F679-47B7-BCD1CC0078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>
            <a:extLst>
              <a:ext uri="{FF2B5EF4-FFF2-40B4-BE49-F238E27FC236}">
                <a16:creationId xmlns:a16="http://schemas.microsoft.com/office/drawing/2014/main" id="{104686A1-7D46-8C46-21D2-CEDCDBCB3D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0D8CB9B5-FA74-A030-6FEF-98428C265F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B6CE31E-9498-4434-89F4-30566F730C71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>
            <a:extLst>
              <a:ext uri="{FF2B5EF4-FFF2-40B4-BE49-F238E27FC236}">
                <a16:creationId xmlns:a16="http://schemas.microsoft.com/office/drawing/2014/main" id="{17B83EE1-7FF4-2C71-7EB9-4BA3A242BD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1" name="Notes Placeholder 2">
            <a:extLst>
              <a:ext uri="{FF2B5EF4-FFF2-40B4-BE49-F238E27FC236}">
                <a16:creationId xmlns:a16="http://schemas.microsoft.com/office/drawing/2014/main" id="{F72C931C-1ED8-F2DE-8582-6E1276992D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9812" name="Slide Number Placeholder 3">
            <a:extLst>
              <a:ext uri="{FF2B5EF4-FFF2-40B4-BE49-F238E27FC236}">
                <a16:creationId xmlns:a16="http://schemas.microsoft.com/office/drawing/2014/main" id="{ED030045-95C7-B3EF-AFF6-2465800BB7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0EF482F-F7F2-4D47-A473-C7A15EFBF43D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>
            <a:extLst>
              <a:ext uri="{FF2B5EF4-FFF2-40B4-BE49-F238E27FC236}">
                <a16:creationId xmlns:a16="http://schemas.microsoft.com/office/drawing/2014/main" id="{C1ABE0AE-EA5C-AB5C-362F-B1A70A333D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1" name="Notes Placeholder 2">
            <a:extLst>
              <a:ext uri="{FF2B5EF4-FFF2-40B4-BE49-F238E27FC236}">
                <a16:creationId xmlns:a16="http://schemas.microsoft.com/office/drawing/2014/main" id="{ABF3F56C-660D-65EC-D963-5C8EE6EFD1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0052" name="Slide Number Placeholder 3">
            <a:extLst>
              <a:ext uri="{FF2B5EF4-FFF2-40B4-BE49-F238E27FC236}">
                <a16:creationId xmlns:a16="http://schemas.microsoft.com/office/drawing/2014/main" id="{D4C19F71-5CD2-72E4-3A9D-F81F10A581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CBFE682-DA8B-40CE-AFFD-C1FC0EF9632C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>
            <a:extLst>
              <a:ext uri="{FF2B5EF4-FFF2-40B4-BE49-F238E27FC236}">
                <a16:creationId xmlns:a16="http://schemas.microsoft.com/office/drawing/2014/main" id="{8DE88520-5B55-3DD1-4687-A0CF64939C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39" name="Notes Placeholder 2">
            <a:extLst>
              <a:ext uri="{FF2B5EF4-FFF2-40B4-BE49-F238E27FC236}">
                <a16:creationId xmlns:a16="http://schemas.microsoft.com/office/drawing/2014/main" id="{307FD70C-A888-0A4D-4FAE-2557D87C0C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2340" name="Slide Number Placeholder 3">
            <a:extLst>
              <a:ext uri="{FF2B5EF4-FFF2-40B4-BE49-F238E27FC236}">
                <a16:creationId xmlns:a16="http://schemas.microsoft.com/office/drawing/2014/main" id="{EF2477B0-DFEB-5413-3D41-B2D87576CB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5AF3934-D33A-4E7B-93B1-4A518F2EB625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Slide Image Placeholder 1">
            <a:extLst>
              <a:ext uri="{FF2B5EF4-FFF2-40B4-BE49-F238E27FC236}">
                <a16:creationId xmlns:a16="http://schemas.microsoft.com/office/drawing/2014/main" id="{16E4F2B0-E599-892A-7865-80A3A31660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5107" name="Notes Placeholder 2">
            <a:extLst>
              <a:ext uri="{FF2B5EF4-FFF2-40B4-BE49-F238E27FC236}">
                <a16:creationId xmlns:a16="http://schemas.microsoft.com/office/drawing/2014/main" id="{1AAE7B06-D7C6-67AD-4111-F010FB62C4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5108" name="Slide Number Placeholder 3">
            <a:extLst>
              <a:ext uri="{FF2B5EF4-FFF2-40B4-BE49-F238E27FC236}">
                <a16:creationId xmlns:a16="http://schemas.microsoft.com/office/drawing/2014/main" id="{F709576B-8FB6-369A-4B16-EEFDD27EA8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F13F550-5E55-4C05-BE6D-6DC60F00DFA7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Slide Image Placeholder 1">
            <a:extLst>
              <a:ext uri="{FF2B5EF4-FFF2-40B4-BE49-F238E27FC236}">
                <a16:creationId xmlns:a16="http://schemas.microsoft.com/office/drawing/2014/main" id="{DFCDF1D2-391A-E542-D3DE-F141D54C76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5" name="Notes Placeholder 2">
            <a:extLst>
              <a:ext uri="{FF2B5EF4-FFF2-40B4-BE49-F238E27FC236}">
                <a16:creationId xmlns:a16="http://schemas.microsoft.com/office/drawing/2014/main" id="{C07A78A0-5CAB-6715-EF19-719C05C1295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7156" name="Slide Number Placeholder 3">
            <a:extLst>
              <a:ext uri="{FF2B5EF4-FFF2-40B4-BE49-F238E27FC236}">
                <a16:creationId xmlns:a16="http://schemas.microsoft.com/office/drawing/2014/main" id="{60AA0A39-B67A-564B-6260-C16A393959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A9FE2BE-79C5-4FDF-9708-53F33573B1E5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Slide Image Placeholder 1">
            <a:extLst>
              <a:ext uri="{FF2B5EF4-FFF2-40B4-BE49-F238E27FC236}">
                <a16:creationId xmlns:a16="http://schemas.microsoft.com/office/drawing/2014/main" id="{B307DB4C-B89C-89BB-0287-F9B30782BC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0227" name="Notes Placeholder 2">
            <a:extLst>
              <a:ext uri="{FF2B5EF4-FFF2-40B4-BE49-F238E27FC236}">
                <a16:creationId xmlns:a16="http://schemas.microsoft.com/office/drawing/2014/main" id="{A02FB268-5BCD-6728-9C40-3034C4A2BA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80228" name="Slide Number Placeholder 3">
            <a:extLst>
              <a:ext uri="{FF2B5EF4-FFF2-40B4-BE49-F238E27FC236}">
                <a16:creationId xmlns:a16="http://schemas.microsoft.com/office/drawing/2014/main" id="{781BE02C-1EC1-A221-2727-38BC1DF221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50ECCBE-69C8-4235-8611-421102EBBCA1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Slide Image Placeholder 1">
            <a:extLst>
              <a:ext uri="{FF2B5EF4-FFF2-40B4-BE49-F238E27FC236}">
                <a16:creationId xmlns:a16="http://schemas.microsoft.com/office/drawing/2014/main" id="{0960668B-E281-E4A3-2224-BD432BE8A8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Notes Placeholder 2">
            <a:extLst>
              <a:ext uri="{FF2B5EF4-FFF2-40B4-BE49-F238E27FC236}">
                <a16:creationId xmlns:a16="http://schemas.microsoft.com/office/drawing/2014/main" id="{3C7AC1AF-3749-6137-B31B-D13CE097EC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82276" name="Slide Number Placeholder 3">
            <a:extLst>
              <a:ext uri="{FF2B5EF4-FFF2-40B4-BE49-F238E27FC236}">
                <a16:creationId xmlns:a16="http://schemas.microsoft.com/office/drawing/2014/main" id="{24BE7387-4DBE-9554-4742-0002F9112F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0DCF6A7-F0D5-424F-A532-D0B118CA65FD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Slide Image Placeholder 1">
            <a:extLst>
              <a:ext uri="{FF2B5EF4-FFF2-40B4-BE49-F238E27FC236}">
                <a16:creationId xmlns:a16="http://schemas.microsoft.com/office/drawing/2014/main" id="{0B19F5DB-A66E-D390-984C-8AB7295AE9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23" name="Notes Placeholder 2">
            <a:extLst>
              <a:ext uri="{FF2B5EF4-FFF2-40B4-BE49-F238E27FC236}">
                <a16:creationId xmlns:a16="http://schemas.microsoft.com/office/drawing/2014/main" id="{E5A8B9CA-9ED8-F9DD-DC29-B72EAAA054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84324" name="Slide Number Placeholder 3">
            <a:extLst>
              <a:ext uri="{FF2B5EF4-FFF2-40B4-BE49-F238E27FC236}">
                <a16:creationId xmlns:a16="http://schemas.microsoft.com/office/drawing/2014/main" id="{C41338C6-D637-E3E1-D230-5EF73D77E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EE95470-C63F-475D-AEC1-617DFA4528F9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Slide Image Placeholder 1">
            <a:extLst>
              <a:ext uri="{FF2B5EF4-FFF2-40B4-BE49-F238E27FC236}">
                <a16:creationId xmlns:a16="http://schemas.microsoft.com/office/drawing/2014/main" id="{F3ADDF3E-0860-9F34-989E-DC56DBEACA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6371" name="Notes Placeholder 2">
            <a:extLst>
              <a:ext uri="{FF2B5EF4-FFF2-40B4-BE49-F238E27FC236}">
                <a16:creationId xmlns:a16="http://schemas.microsoft.com/office/drawing/2014/main" id="{FAF1AEED-E322-8C75-9436-4328050BEB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86372" name="Slide Number Placeholder 3">
            <a:extLst>
              <a:ext uri="{FF2B5EF4-FFF2-40B4-BE49-F238E27FC236}">
                <a16:creationId xmlns:a16="http://schemas.microsoft.com/office/drawing/2014/main" id="{17034662-6E79-CE1C-FA03-214A5EEED5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284A161-BC2C-41BA-835F-CBD513BE8100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Slide Image Placeholder 1">
            <a:extLst>
              <a:ext uri="{FF2B5EF4-FFF2-40B4-BE49-F238E27FC236}">
                <a16:creationId xmlns:a16="http://schemas.microsoft.com/office/drawing/2014/main" id="{27FB9CE6-F0EE-8897-F456-475B462C04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3539" name="Notes Placeholder 2">
            <a:extLst>
              <a:ext uri="{FF2B5EF4-FFF2-40B4-BE49-F238E27FC236}">
                <a16:creationId xmlns:a16="http://schemas.microsoft.com/office/drawing/2014/main" id="{65B3D0DC-C8B1-AF81-9C3D-497B9C3EBA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3540" name="Slide Number Placeholder 3">
            <a:extLst>
              <a:ext uri="{FF2B5EF4-FFF2-40B4-BE49-F238E27FC236}">
                <a16:creationId xmlns:a16="http://schemas.microsoft.com/office/drawing/2014/main" id="{8341A702-E109-64D6-86FE-62509D7324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62F64A-C633-418C-B944-B62B44292171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Slide Image Placeholder 1">
            <a:extLst>
              <a:ext uri="{FF2B5EF4-FFF2-40B4-BE49-F238E27FC236}">
                <a16:creationId xmlns:a16="http://schemas.microsoft.com/office/drawing/2014/main" id="{69FFBD51-357C-6380-05C7-592EFF9045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5587" name="Notes Placeholder 2">
            <a:extLst>
              <a:ext uri="{FF2B5EF4-FFF2-40B4-BE49-F238E27FC236}">
                <a16:creationId xmlns:a16="http://schemas.microsoft.com/office/drawing/2014/main" id="{4D491A16-F17E-AC72-46A5-922029BCDC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5588" name="Slide Number Placeholder 3">
            <a:extLst>
              <a:ext uri="{FF2B5EF4-FFF2-40B4-BE49-F238E27FC236}">
                <a16:creationId xmlns:a16="http://schemas.microsoft.com/office/drawing/2014/main" id="{98C274EB-53C2-783F-48C1-1A96077122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EC21DF3-434A-4322-AE3B-0A7A15DD4D7F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Slide Image Placeholder 1">
            <a:extLst>
              <a:ext uri="{FF2B5EF4-FFF2-40B4-BE49-F238E27FC236}">
                <a16:creationId xmlns:a16="http://schemas.microsoft.com/office/drawing/2014/main" id="{6A5C8A06-56B6-309F-1AE7-9F72F3FCDC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7635" name="Notes Placeholder 2">
            <a:extLst>
              <a:ext uri="{FF2B5EF4-FFF2-40B4-BE49-F238E27FC236}">
                <a16:creationId xmlns:a16="http://schemas.microsoft.com/office/drawing/2014/main" id="{113C324A-62C0-D288-457E-CD7DA74E76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97636" name="Slide Number Placeholder 3">
            <a:extLst>
              <a:ext uri="{FF2B5EF4-FFF2-40B4-BE49-F238E27FC236}">
                <a16:creationId xmlns:a16="http://schemas.microsoft.com/office/drawing/2014/main" id="{A9674ED8-9F86-1CAD-55EB-00C384E89D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8C7552A-4587-4B93-8CBC-0403B2659DD3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Slide Image Placeholder 1">
            <a:extLst>
              <a:ext uri="{FF2B5EF4-FFF2-40B4-BE49-F238E27FC236}">
                <a16:creationId xmlns:a16="http://schemas.microsoft.com/office/drawing/2014/main" id="{EAB33474-8E36-D953-7A32-3734158EE6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2755" name="Notes Placeholder 2">
            <a:extLst>
              <a:ext uri="{FF2B5EF4-FFF2-40B4-BE49-F238E27FC236}">
                <a16:creationId xmlns:a16="http://schemas.microsoft.com/office/drawing/2014/main" id="{1AC124E2-962D-E464-64D0-AF10D3661B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2756" name="Slide Number Placeholder 3">
            <a:extLst>
              <a:ext uri="{FF2B5EF4-FFF2-40B4-BE49-F238E27FC236}">
                <a16:creationId xmlns:a16="http://schemas.microsoft.com/office/drawing/2014/main" id="{C4A87B83-C8D4-4205-614E-D8D5CB1741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2B7EDD6-7A5D-4FE9-B144-5C327FF5AF49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Slide Image Placeholder 1">
            <a:extLst>
              <a:ext uri="{FF2B5EF4-FFF2-40B4-BE49-F238E27FC236}">
                <a16:creationId xmlns:a16="http://schemas.microsoft.com/office/drawing/2014/main" id="{DC727278-51B9-97D0-6219-2BA6FABC4B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827" name="Notes Placeholder 2">
            <a:extLst>
              <a:ext uri="{FF2B5EF4-FFF2-40B4-BE49-F238E27FC236}">
                <a16:creationId xmlns:a16="http://schemas.microsoft.com/office/drawing/2014/main" id="{4E6B5937-9DF7-8828-8121-BAB78B4BA1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5828" name="Slide Number Placeholder 3">
            <a:extLst>
              <a:ext uri="{FF2B5EF4-FFF2-40B4-BE49-F238E27FC236}">
                <a16:creationId xmlns:a16="http://schemas.microsoft.com/office/drawing/2014/main" id="{8F4615D4-780F-DA94-EC9B-3ADA6C356F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57AF3E-44D0-44EC-AC54-72EDBFD40378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158</a:t>
            </a:fld>
            <a:endParaRPr lang="en-US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Slide Image Placeholder 1">
            <a:extLst>
              <a:ext uri="{FF2B5EF4-FFF2-40B4-BE49-F238E27FC236}">
                <a16:creationId xmlns:a16="http://schemas.microsoft.com/office/drawing/2014/main" id="{A2921941-CC8E-B626-59DE-35D5BE1483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7875" name="Notes Placeholder 2">
            <a:extLst>
              <a:ext uri="{FF2B5EF4-FFF2-40B4-BE49-F238E27FC236}">
                <a16:creationId xmlns:a16="http://schemas.microsoft.com/office/drawing/2014/main" id="{A2552726-F1F3-5A2E-EE5D-3F79EDEA48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7876" name="Slide Number Placeholder 3">
            <a:extLst>
              <a:ext uri="{FF2B5EF4-FFF2-40B4-BE49-F238E27FC236}">
                <a16:creationId xmlns:a16="http://schemas.microsoft.com/office/drawing/2014/main" id="{20BF905F-A428-E481-4712-53C13BD0BE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FDBB3BC-47FB-438A-B82F-07D4373BF956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Slide Image Placeholder 1">
            <a:extLst>
              <a:ext uri="{FF2B5EF4-FFF2-40B4-BE49-F238E27FC236}">
                <a16:creationId xmlns:a16="http://schemas.microsoft.com/office/drawing/2014/main" id="{B0E294A9-32B7-4913-52AA-C693AB33BE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0947" name="Notes Placeholder 2">
            <a:extLst>
              <a:ext uri="{FF2B5EF4-FFF2-40B4-BE49-F238E27FC236}">
                <a16:creationId xmlns:a16="http://schemas.microsoft.com/office/drawing/2014/main" id="{7A2E33D1-0B0F-0AF2-E2A5-5680A6AB7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0948" name="Slide Number Placeholder 3">
            <a:extLst>
              <a:ext uri="{FF2B5EF4-FFF2-40B4-BE49-F238E27FC236}">
                <a16:creationId xmlns:a16="http://schemas.microsoft.com/office/drawing/2014/main" id="{D20D7FF3-5223-2815-91B7-E634079E01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1D683A-0627-4F09-B581-927BD7ABB6D1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Slide Image Placeholder 1">
            <a:extLst>
              <a:ext uri="{FF2B5EF4-FFF2-40B4-BE49-F238E27FC236}">
                <a16:creationId xmlns:a16="http://schemas.microsoft.com/office/drawing/2014/main" id="{86CD2106-3CBE-5EF9-135D-C5E555B064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2995" name="Notes Placeholder 2">
            <a:extLst>
              <a:ext uri="{FF2B5EF4-FFF2-40B4-BE49-F238E27FC236}">
                <a16:creationId xmlns:a16="http://schemas.microsoft.com/office/drawing/2014/main" id="{D80B53A3-B892-CA22-30FF-31A124B2D0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2996" name="Slide Number Placeholder 3">
            <a:extLst>
              <a:ext uri="{FF2B5EF4-FFF2-40B4-BE49-F238E27FC236}">
                <a16:creationId xmlns:a16="http://schemas.microsoft.com/office/drawing/2014/main" id="{A5C6A545-BE12-31A3-CA80-9844B8547F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ADEAE24-D55F-4547-AFA2-0EC880DF8633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Slide Image Placeholder 1">
            <a:extLst>
              <a:ext uri="{FF2B5EF4-FFF2-40B4-BE49-F238E27FC236}">
                <a16:creationId xmlns:a16="http://schemas.microsoft.com/office/drawing/2014/main" id="{EEEDBEA6-24C9-DD7F-1739-4B96D7E1CB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7091" name="Notes Placeholder 2">
            <a:extLst>
              <a:ext uri="{FF2B5EF4-FFF2-40B4-BE49-F238E27FC236}">
                <a16:creationId xmlns:a16="http://schemas.microsoft.com/office/drawing/2014/main" id="{63AF10D6-1ABF-88B1-689F-73EBB85006B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7092" name="Slide Number Placeholder 3">
            <a:extLst>
              <a:ext uri="{FF2B5EF4-FFF2-40B4-BE49-F238E27FC236}">
                <a16:creationId xmlns:a16="http://schemas.microsoft.com/office/drawing/2014/main" id="{D69F8DFC-AE18-DFF1-8058-6BD434FFD8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4CA3C0A-93F5-4879-9439-6FC345E8EC29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Slide Image Placeholder 1">
            <a:extLst>
              <a:ext uri="{FF2B5EF4-FFF2-40B4-BE49-F238E27FC236}">
                <a16:creationId xmlns:a16="http://schemas.microsoft.com/office/drawing/2014/main" id="{9DA5356C-6E11-AE5D-9A80-B8DB42DF30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0403" name="Notes Placeholder 2">
            <a:extLst>
              <a:ext uri="{FF2B5EF4-FFF2-40B4-BE49-F238E27FC236}">
                <a16:creationId xmlns:a16="http://schemas.microsoft.com/office/drawing/2014/main" id="{41961424-9566-0B9E-6625-153F86F690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FCE44-B6F3-D9C8-0DC8-8D0AA3792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2334226-78F9-4098-B49D-4AB9D2DBDC1A}" type="slidenum">
              <a:rPr lang="en-US" smtClean="0"/>
              <a:pPr>
                <a:defRPr/>
              </a:pPr>
              <a:t>177</a:t>
            </a:fld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Slide Image Placeholder 1">
            <a:extLst>
              <a:ext uri="{FF2B5EF4-FFF2-40B4-BE49-F238E27FC236}">
                <a16:creationId xmlns:a16="http://schemas.microsoft.com/office/drawing/2014/main" id="{7601BEFA-457E-2B85-45E4-0C7078A60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23" name="Notes Placeholder 2">
            <a:extLst>
              <a:ext uri="{FF2B5EF4-FFF2-40B4-BE49-F238E27FC236}">
                <a16:creationId xmlns:a16="http://schemas.microsoft.com/office/drawing/2014/main" id="{CE9DE6ED-7F8E-E8F4-5AB3-F9CA2BA1C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2AFE7-F37C-9A9D-F8F4-8B8B70ADA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C5D456-085C-4EC2-900B-B6DADD0E699E}" type="slidenum">
              <a:rPr lang="en-US" smtClean="0"/>
              <a:pPr>
                <a:defRPr/>
              </a:pPr>
              <a:t>181</a:t>
            </a:fld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Slide Image Placeholder 1">
            <a:extLst>
              <a:ext uri="{FF2B5EF4-FFF2-40B4-BE49-F238E27FC236}">
                <a16:creationId xmlns:a16="http://schemas.microsoft.com/office/drawing/2014/main" id="{EA1E867B-F213-3B90-A6D1-3EF54041BA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7027" name="Notes Placeholder 2">
            <a:extLst>
              <a:ext uri="{FF2B5EF4-FFF2-40B4-BE49-F238E27FC236}">
                <a16:creationId xmlns:a16="http://schemas.microsoft.com/office/drawing/2014/main" id="{FC4E4617-B2CD-1191-D5DB-5AF59CA988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7028" name="Slide Number Placeholder 3">
            <a:extLst>
              <a:ext uri="{FF2B5EF4-FFF2-40B4-BE49-F238E27FC236}">
                <a16:creationId xmlns:a16="http://schemas.microsoft.com/office/drawing/2014/main" id="{9FE5DF7B-DEC3-6878-5002-E39FE38C3D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028D75-2BB0-4241-9BB3-4161F2D816FB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Slide Image Placeholder 1">
            <a:extLst>
              <a:ext uri="{FF2B5EF4-FFF2-40B4-BE49-F238E27FC236}">
                <a16:creationId xmlns:a16="http://schemas.microsoft.com/office/drawing/2014/main" id="{3D93F655-2B8D-9B94-8493-1AE266E914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9075" name="Notes Placeholder 2">
            <a:extLst>
              <a:ext uri="{FF2B5EF4-FFF2-40B4-BE49-F238E27FC236}">
                <a16:creationId xmlns:a16="http://schemas.microsoft.com/office/drawing/2014/main" id="{33C6F750-8BE7-8C1B-A2FA-3C794EF860D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9076" name="Slide Number Placeholder 3">
            <a:extLst>
              <a:ext uri="{FF2B5EF4-FFF2-40B4-BE49-F238E27FC236}">
                <a16:creationId xmlns:a16="http://schemas.microsoft.com/office/drawing/2014/main" id="{D085D142-7558-3A79-DB27-A9EC82FA45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F0ED6F-FB7C-44B5-A7D8-F5EC139BD738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HD-ShadowLong.png">
            <a:extLst>
              <a:ext uri="{FF2B5EF4-FFF2-40B4-BE49-F238E27FC236}">
                <a16:creationId xmlns:a16="http://schemas.microsoft.com/office/drawing/2014/main" id="{19426EBB-B8A1-39CB-8BE1-0F29C015E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43388"/>
            <a:ext cx="67262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 descr="HD-ShadowShort.png">
            <a:extLst>
              <a:ext uri="{FF2B5EF4-FFF2-40B4-BE49-F238E27FC236}">
                <a16:creationId xmlns:a16="http://schemas.microsoft.com/office/drawing/2014/main" id="{885D5CE6-54CB-EB96-99E5-6E5B92DBA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188" y="4243388"/>
            <a:ext cx="23066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121E2F-F59C-6F91-874F-AEC2C07E62D8}"/>
              </a:ext>
            </a:extLst>
          </p:cNvPr>
          <p:cNvSpPr/>
          <p:nvPr/>
        </p:nvSpPr>
        <p:spPr bwMode="ltGray">
          <a:xfrm>
            <a:off x="0" y="2590800"/>
            <a:ext cx="6726238" cy="165893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2E063D-14E7-1725-1574-D7A79CB831E9}"/>
              </a:ext>
            </a:extLst>
          </p:cNvPr>
          <p:cNvSpPr/>
          <p:nvPr/>
        </p:nvSpPr>
        <p:spPr>
          <a:xfrm>
            <a:off x="6834188" y="2590800"/>
            <a:ext cx="2308225" cy="16589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300B574-C4B8-5CE3-C41A-532A8BE43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56125" y="5935663"/>
            <a:ext cx="2057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1BEF4F0-13D2-D9B5-F95A-06870A72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5935663"/>
            <a:ext cx="40211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9F83EE7-620E-BC34-9050-A610B493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2749550"/>
            <a:ext cx="1370013" cy="13573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323599-A8CB-476E-B658-0E420875DB5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8650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28203553-CB50-AFB3-FCB1-3770BD8360A6}"/>
              </a:ext>
            </a:extLst>
          </p:cNvPr>
          <p:cNvGrpSpPr>
            <a:grpSpLocks/>
          </p:cNvGrpSpPr>
          <p:nvPr/>
        </p:nvGrpSpPr>
        <p:grpSpPr bwMode="auto">
          <a:xfrm>
            <a:off x="0" y="609600"/>
            <a:ext cx="9161463" cy="1676400"/>
            <a:chOff x="0" y="2895600"/>
            <a:chExt cx="9161969" cy="1677035"/>
          </a:xfrm>
        </p:grpSpPr>
        <p:pic>
          <p:nvPicPr>
            <p:cNvPr id="5" name="Picture 8" descr="HD-ShadowLong.png">
              <a:extLst>
                <a:ext uri="{FF2B5EF4-FFF2-40B4-BE49-F238E27FC236}">
                  <a16:creationId xmlns:a16="http://schemas.microsoft.com/office/drawing/2014/main" id="{D9ED55A3-DBD8-A68E-0992-21E5825458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98"/>
            <a:stretch>
              <a:fillRect/>
            </a:stretch>
          </p:blipFill>
          <p:spPr bwMode="auto"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9" descr="HD-ShadowShort.png">
              <a:extLst>
                <a:ext uri="{FF2B5EF4-FFF2-40B4-BE49-F238E27FC236}">
                  <a16:creationId xmlns:a16="http://schemas.microsoft.com/office/drawing/2014/main" id="{3B161D4D-F286-4121-3A7F-2891858B6C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DF764E-3B3B-1C9B-2BE8-756AAD2C83AF}"/>
                </a:ext>
              </a:extLst>
            </p:cNvPr>
            <p:cNvSpPr/>
            <p:nvPr/>
          </p:nvSpPr>
          <p:spPr bwMode="ltGray">
            <a:xfrm>
              <a:off x="0" y="2895600"/>
              <a:ext cx="7566443" cy="136894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E75C97-F00A-64D2-6099-78D97048DDAD}"/>
                </a:ext>
              </a:extLst>
            </p:cNvPr>
            <p:cNvSpPr/>
            <p:nvPr/>
          </p:nvSpPr>
          <p:spPr>
            <a:xfrm>
              <a:off x="7710914" y="2895600"/>
              <a:ext cx="1433591" cy="13689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1F48A07-FDCE-E141-AB97-AA041786F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0569DE8-049F-4485-D75E-853BEC421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0D52627-9B54-C8DF-8B65-FD73AA80C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5CF1A3-880A-45FC-900E-4561C9A86BC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4376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E4AC59F7-8FD1-85DA-DD87-3385902A81D8}"/>
              </a:ext>
            </a:extLst>
          </p:cNvPr>
          <p:cNvGrpSpPr>
            <a:grpSpLocks/>
          </p:cNvGrpSpPr>
          <p:nvPr/>
        </p:nvGrpSpPr>
        <p:grpSpPr bwMode="auto">
          <a:xfrm>
            <a:off x="0" y="2728913"/>
            <a:ext cx="9161463" cy="1676400"/>
            <a:chOff x="0" y="2895600"/>
            <a:chExt cx="9161969" cy="1677035"/>
          </a:xfrm>
        </p:grpSpPr>
        <p:pic>
          <p:nvPicPr>
            <p:cNvPr id="5" name="Picture 8" descr="HD-ShadowLong.png">
              <a:extLst>
                <a:ext uri="{FF2B5EF4-FFF2-40B4-BE49-F238E27FC236}">
                  <a16:creationId xmlns:a16="http://schemas.microsoft.com/office/drawing/2014/main" id="{9BA30805-51A0-2A1F-C651-190CEC6335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98"/>
            <a:stretch>
              <a:fillRect/>
            </a:stretch>
          </p:blipFill>
          <p:spPr bwMode="auto"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9" descr="HD-ShadowShort.png">
              <a:extLst>
                <a:ext uri="{FF2B5EF4-FFF2-40B4-BE49-F238E27FC236}">
                  <a16:creationId xmlns:a16="http://schemas.microsoft.com/office/drawing/2014/main" id="{36225DA5-6709-BF26-9753-72A7096DF6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DFD2AAE-7418-DD51-1465-373D08ACE4B3}"/>
                </a:ext>
              </a:extLst>
            </p:cNvPr>
            <p:cNvSpPr/>
            <p:nvPr/>
          </p:nvSpPr>
          <p:spPr bwMode="ltGray">
            <a:xfrm>
              <a:off x="0" y="2895600"/>
              <a:ext cx="7566443" cy="136894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AC7281C-11F8-7AD1-54B0-34ECB33BB02A}"/>
                </a:ext>
              </a:extLst>
            </p:cNvPr>
            <p:cNvSpPr/>
            <p:nvPr/>
          </p:nvSpPr>
          <p:spPr>
            <a:xfrm>
              <a:off x="7710914" y="2895600"/>
              <a:ext cx="1433591" cy="13689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CFA6C97-93F6-6F4D-A5E0-E718C1C171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5750" y="5935663"/>
            <a:ext cx="2057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A872A45-3778-2324-328F-6AA82CEEF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0EED3C7-3C47-E817-757C-561742CC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6538" y="2870200"/>
            <a:ext cx="1149350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AF977-07D4-4D9A-A279-8EB1BDA3C5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3797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FE4BD526-4028-182E-AB58-DA89B07FDF7B}"/>
              </a:ext>
            </a:extLst>
          </p:cNvPr>
          <p:cNvGrpSpPr>
            <a:grpSpLocks/>
          </p:cNvGrpSpPr>
          <p:nvPr/>
        </p:nvGrpSpPr>
        <p:grpSpPr bwMode="auto">
          <a:xfrm>
            <a:off x="0" y="609600"/>
            <a:ext cx="9161463" cy="1676400"/>
            <a:chOff x="0" y="2895600"/>
            <a:chExt cx="9161969" cy="1677035"/>
          </a:xfrm>
        </p:grpSpPr>
        <p:pic>
          <p:nvPicPr>
            <p:cNvPr id="6" name="Picture 8" descr="HD-ShadowLong.png">
              <a:extLst>
                <a:ext uri="{FF2B5EF4-FFF2-40B4-BE49-F238E27FC236}">
                  <a16:creationId xmlns:a16="http://schemas.microsoft.com/office/drawing/2014/main" id="{CE1A5B63-8FF5-D030-C333-8CCF236E6B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98"/>
            <a:stretch>
              <a:fillRect/>
            </a:stretch>
          </p:blipFill>
          <p:spPr bwMode="auto"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9" descr="HD-ShadowShort.png">
              <a:extLst>
                <a:ext uri="{FF2B5EF4-FFF2-40B4-BE49-F238E27FC236}">
                  <a16:creationId xmlns:a16="http://schemas.microsoft.com/office/drawing/2014/main" id="{D2F2AA70-2043-61EC-6F25-31C098882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B98E93-7ADB-1A98-EBCD-ED1DCD2831F7}"/>
                </a:ext>
              </a:extLst>
            </p:cNvPr>
            <p:cNvSpPr/>
            <p:nvPr/>
          </p:nvSpPr>
          <p:spPr bwMode="ltGray">
            <a:xfrm>
              <a:off x="0" y="2895600"/>
              <a:ext cx="7566443" cy="136894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AAE2AA-5A11-8F71-D5C5-2271E7976BC6}"/>
                </a:ext>
              </a:extLst>
            </p:cNvPr>
            <p:cNvSpPr/>
            <p:nvPr/>
          </p:nvSpPr>
          <p:spPr>
            <a:xfrm>
              <a:off x="7710914" y="2895600"/>
              <a:ext cx="1433591" cy="13689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85AD0F6B-9359-3ADD-AFAA-E4C363314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030C10B-258E-A1AD-D744-E419EE540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DB89F915-347A-DA10-36C9-41DA54FFC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3E24B6-A4AC-4188-BAFC-B6B431E9F4E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36383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652D695-83FA-D9B2-6B71-2DC2AD77CC61}"/>
              </a:ext>
            </a:extLst>
          </p:cNvPr>
          <p:cNvGrpSpPr>
            <a:grpSpLocks/>
          </p:cNvGrpSpPr>
          <p:nvPr/>
        </p:nvGrpSpPr>
        <p:grpSpPr bwMode="auto">
          <a:xfrm>
            <a:off x="0" y="609600"/>
            <a:ext cx="9161463" cy="1676400"/>
            <a:chOff x="0" y="2895600"/>
            <a:chExt cx="9161969" cy="1677035"/>
          </a:xfrm>
        </p:grpSpPr>
        <p:pic>
          <p:nvPicPr>
            <p:cNvPr id="8" name="Picture 8" descr="HD-ShadowLong.png">
              <a:extLst>
                <a:ext uri="{FF2B5EF4-FFF2-40B4-BE49-F238E27FC236}">
                  <a16:creationId xmlns:a16="http://schemas.microsoft.com/office/drawing/2014/main" id="{B7D4B931-C675-70D5-4AC9-38398A51B9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98"/>
            <a:stretch>
              <a:fillRect/>
            </a:stretch>
          </p:blipFill>
          <p:spPr bwMode="auto"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9" descr="HD-ShadowShort.png">
              <a:extLst>
                <a:ext uri="{FF2B5EF4-FFF2-40B4-BE49-F238E27FC236}">
                  <a16:creationId xmlns:a16="http://schemas.microsoft.com/office/drawing/2014/main" id="{D92B1FE7-A285-5C6E-5EB9-2631FD318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33720EB-22C5-D4BE-8065-0BA9DB62D2BC}"/>
                </a:ext>
              </a:extLst>
            </p:cNvPr>
            <p:cNvSpPr/>
            <p:nvPr/>
          </p:nvSpPr>
          <p:spPr bwMode="ltGray">
            <a:xfrm>
              <a:off x="0" y="2895600"/>
              <a:ext cx="7566443" cy="136894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6741B9-C008-7F58-E568-EF2BD99C5356}"/>
                </a:ext>
              </a:extLst>
            </p:cNvPr>
            <p:cNvSpPr/>
            <p:nvPr/>
          </p:nvSpPr>
          <p:spPr>
            <a:xfrm>
              <a:off x="7710914" y="2895600"/>
              <a:ext cx="1433591" cy="13689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27E4BA3D-756F-0878-A85B-19DEC395B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B011D6DD-0E92-AFB6-9DFB-F159E3B11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06F4D6F-FF55-011A-BDEF-7D8C1260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AD0334-3E71-4CA1-971E-28D511B09BF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6847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7">
            <a:extLst>
              <a:ext uri="{FF2B5EF4-FFF2-40B4-BE49-F238E27FC236}">
                <a16:creationId xmlns:a16="http://schemas.microsoft.com/office/drawing/2014/main" id="{23BF14F7-84DE-2782-056D-DB02EC118776}"/>
              </a:ext>
            </a:extLst>
          </p:cNvPr>
          <p:cNvGrpSpPr>
            <a:grpSpLocks/>
          </p:cNvGrpSpPr>
          <p:nvPr/>
        </p:nvGrpSpPr>
        <p:grpSpPr bwMode="auto">
          <a:xfrm>
            <a:off x="0" y="609600"/>
            <a:ext cx="9161463" cy="1676400"/>
            <a:chOff x="0" y="2895600"/>
            <a:chExt cx="9161969" cy="1677035"/>
          </a:xfrm>
        </p:grpSpPr>
        <p:pic>
          <p:nvPicPr>
            <p:cNvPr id="4" name="Picture 8" descr="HD-ShadowLong.png">
              <a:extLst>
                <a:ext uri="{FF2B5EF4-FFF2-40B4-BE49-F238E27FC236}">
                  <a16:creationId xmlns:a16="http://schemas.microsoft.com/office/drawing/2014/main" id="{2DC3D654-CB4D-B27C-7712-A18BDDBF14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98"/>
            <a:stretch>
              <a:fillRect/>
            </a:stretch>
          </p:blipFill>
          <p:spPr bwMode="auto"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9" descr="HD-ShadowShort.png">
              <a:extLst>
                <a:ext uri="{FF2B5EF4-FFF2-40B4-BE49-F238E27FC236}">
                  <a16:creationId xmlns:a16="http://schemas.microsoft.com/office/drawing/2014/main" id="{06F2F8EF-00E0-7D2E-6AE9-77DA435DA7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F50B97-4EB9-34D7-C109-E16DDEBB677F}"/>
                </a:ext>
              </a:extLst>
            </p:cNvPr>
            <p:cNvSpPr/>
            <p:nvPr/>
          </p:nvSpPr>
          <p:spPr bwMode="ltGray">
            <a:xfrm>
              <a:off x="0" y="2895600"/>
              <a:ext cx="7566443" cy="136894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72AF128-1B51-C727-1017-91CD87882B4F}"/>
                </a:ext>
              </a:extLst>
            </p:cNvPr>
            <p:cNvSpPr/>
            <p:nvPr/>
          </p:nvSpPr>
          <p:spPr>
            <a:xfrm>
              <a:off x="7710914" y="2895600"/>
              <a:ext cx="1433591" cy="13689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A32FFF86-C15B-144D-A6F2-61A254871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A4DAE92-2F91-D14F-64A2-CBBD2BC7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90AA5DCD-5D81-428D-5D44-C92456C1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21D96-AA32-4C99-9886-5016F033CCA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05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HD-ShadowShort.png">
            <a:extLst>
              <a:ext uri="{FF2B5EF4-FFF2-40B4-BE49-F238E27FC236}">
                <a16:creationId xmlns:a16="http://schemas.microsoft.com/office/drawing/2014/main" id="{859D5369-D29C-B1F3-4865-C1278EB87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838" y="1973263"/>
            <a:ext cx="14446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876057-7693-80D9-379D-D8CCB7BDFEF0}"/>
              </a:ext>
            </a:extLst>
          </p:cNvPr>
          <p:cNvSpPr/>
          <p:nvPr/>
        </p:nvSpPr>
        <p:spPr>
          <a:xfrm>
            <a:off x="7710488" y="609600"/>
            <a:ext cx="1433512" cy="1368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6B6B89DF-294C-CD41-21E7-92AD276C3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2471066-F7C3-D569-B049-E05EE7D2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25DA752-9ABD-380F-6739-091507483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213AC-F5C4-4A3E-9493-AD65A31DDDE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65329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DAC23388-CF85-FB7D-473D-8A9A252F28A6}"/>
              </a:ext>
            </a:extLst>
          </p:cNvPr>
          <p:cNvGrpSpPr>
            <a:grpSpLocks/>
          </p:cNvGrpSpPr>
          <p:nvPr/>
        </p:nvGrpSpPr>
        <p:grpSpPr bwMode="auto">
          <a:xfrm>
            <a:off x="0" y="609600"/>
            <a:ext cx="9161463" cy="1676400"/>
            <a:chOff x="0" y="2895600"/>
            <a:chExt cx="9161969" cy="1677035"/>
          </a:xfrm>
        </p:grpSpPr>
        <p:pic>
          <p:nvPicPr>
            <p:cNvPr id="6" name="Picture 8" descr="HD-ShadowLong.png">
              <a:extLst>
                <a:ext uri="{FF2B5EF4-FFF2-40B4-BE49-F238E27FC236}">
                  <a16:creationId xmlns:a16="http://schemas.microsoft.com/office/drawing/2014/main" id="{19A7563A-C41A-194B-FB92-F0821F00E3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98"/>
            <a:stretch>
              <a:fillRect/>
            </a:stretch>
          </p:blipFill>
          <p:spPr bwMode="auto"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9" descr="HD-ShadowShort.png">
              <a:extLst>
                <a:ext uri="{FF2B5EF4-FFF2-40B4-BE49-F238E27FC236}">
                  <a16:creationId xmlns:a16="http://schemas.microsoft.com/office/drawing/2014/main" id="{3C6790BA-8827-9653-F245-3605901126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EDBBB7-BE30-FE39-A602-624E46CF75A4}"/>
                </a:ext>
              </a:extLst>
            </p:cNvPr>
            <p:cNvSpPr/>
            <p:nvPr/>
          </p:nvSpPr>
          <p:spPr bwMode="ltGray">
            <a:xfrm>
              <a:off x="0" y="2895600"/>
              <a:ext cx="7566443" cy="136894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DC79D7D-3CDF-5C09-8D64-5CA33C13F133}"/>
                </a:ext>
              </a:extLst>
            </p:cNvPr>
            <p:cNvSpPr/>
            <p:nvPr/>
          </p:nvSpPr>
          <p:spPr>
            <a:xfrm>
              <a:off x="7710914" y="2895600"/>
              <a:ext cx="1433591" cy="13689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1303D4E5-459D-7228-9A41-40F47B7C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36381B35-4B7F-6D68-FEFB-501088D22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1F8EF8D0-4A99-A506-C297-47A3CFCFF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8E06A-A345-4EF8-A0DF-7F58466633F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786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F50B3CDF-02D9-F7C8-D59B-EE239610DC51}"/>
              </a:ext>
            </a:extLst>
          </p:cNvPr>
          <p:cNvGrpSpPr>
            <a:grpSpLocks/>
          </p:cNvGrpSpPr>
          <p:nvPr/>
        </p:nvGrpSpPr>
        <p:grpSpPr bwMode="auto">
          <a:xfrm>
            <a:off x="0" y="609600"/>
            <a:ext cx="9161463" cy="1676400"/>
            <a:chOff x="0" y="2895600"/>
            <a:chExt cx="9161969" cy="1677035"/>
          </a:xfrm>
        </p:grpSpPr>
        <p:pic>
          <p:nvPicPr>
            <p:cNvPr id="6" name="Picture 8" descr="HD-ShadowLong.png">
              <a:extLst>
                <a:ext uri="{FF2B5EF4-FFF2-40B4-BE49-F238E27FC236}">
                  <a16:creationId xmlns:a16="http://schemas.microsoft.com/office/drawing/2014/main" id="{C1C4B052-FE73-B803-D740-F19216C6D0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98"/>
            <a:stretch>
              <a:fillRect/>
            </a:stretch>
          </p:blipFill>
          <p:spPr bwMode="auto"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9" descr="HD-ShadowShort.png">
              <a:extLst>
                <a:ext uri="{FF2B5EF4-FFF2-40B4-BE49-F238E27FC236}">
                  <a16:creationId xmlns:a16="http://schemas.microsoft.com/office/drawing/2014/main" id="{AA5232CC-62FB-C6EE-9D65-1774E3BBD8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CF69DF-3CE5-FA0A-559D-EE59FD1ADF28}"/>
                </a:ext>
              </a:extLst>
            </p:cNvPr>
            <p:cNvSpPr/>
            <p:nvPr/>
          </p:nvSpPr>
          <p:spPr bwMode="ltGray">
            <a:xfrm>
              <a:off x="0" y="2895600"/>
              <a:ext cx="7566443" cy="136894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22B2CD0-451D-C2FD-322E-2F9A480292EF}"/>
                </a:ext>
              </a:extLst>
            </p:cNvPr>
            <p:cNvSpPr/>
            <p:nvPr/>
          </p:nvSpPr>
          <p:spPr>
            <a:xfrm>
              <a:off x="7710914" y="2895600"/>
              <a:ext cx="1433591" cy="13689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7ED3898C-B271-94A3-A637-E210DBD63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5C5F1CED-706A-7F24-4DA3-7EB11289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0D27AD7A-9399-7677-A1F0-BEB65042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58AA-7619-43A0-85DB-92EEDE897ED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81095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3D2FB559-D69D-D4EA-27F5-779385CF515B}"/>
              </a:ext>
            </a:extLst>
          </p:cNvPr>
          <p:cNvGrpSpPr>
            <a:grpSpLocks/>
          </p:cNvGrpSpPr>
          <p:nvPr/>
        </p:nvGrpSpPr>
        <p:grpSpPr bwMode="auto">
          <a:xfrm>
            <a:off x="0" y="4572000"/>
            <a:ext cx="9161463" cy="1676400"/>
            <a:chOff x="0" y="2895600"/>
            <a:chExt cx="9161969" cy="1677035"/>
          </a:xfrm>
        </p:grpSpPr>
        <p:pic>
          <p:nvPicPr>
            <p:cNvPr id="6" name="Picture 8" descr="HD-ShadowLong.png">
              <a:extLst>
                <a:ext uri="{FF2B5EF4-FFF2-40B4-BE49-F238E27FC236}">
                  <a16:creationId xmlns:a16="http://schemas.microsoft.com/office/drawing/2014/main" id="{C7B13C80-BA4E-42AE-84EA-80C80B7329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98"/>
            <a:stretch>
              <a:fillRect/>
            </a:stretch>
          </p:blipFill>
          <p:spPr bwMode="auto"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9" descr="HD-ShadowShort.png">
              <a:extLst>
                <a:ext uri="{FF2B5EF4-FFF2-40B4-BE49-F238E27FC236}">
                  <a16:creationId xmlns:a16="http://schemas.microsoft.com/office/drawing/2014/main" id="{FA2134A7-F8FC-2B3B-FDB8-478A707148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A4031D-3D22-51DA-B2DA-F5C7FB2809AF}"/>
                </a:ext>
              </a:extLst>
            </p:cNvPr>
            <p:cNvSpPr/>
            <p:nvPr/>
          </p:nvSpPr>
          <p:spPr bwMode="ltGray">
            <a:xfrm>
              <a:off x="0" y="2895600"/>
              <a:ext cx="7566443" cy="136894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A6DB81-3F5E-EC14-8E0C-A468791C3D8C}"/>
                </a:ext>
              </a:extLst>
            </p:cNvPr>
            <p:cNvSpPr/>
            <p:nvPr/>
          </p:nvSpPr>
          <p:spPr>
            <a:xfrm>
              <a:off x="7710914" y="2895600"/>
              <a:ext cx="1433591" cy="13689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1A6A2AE2-0596-6BE9-6872-8C00EE203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B2A3BBBB-DF2E-A1DB-77BF-5D029F77B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F5B0333F-DA5D-3360-2F57-2BCD3A424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6538" y="4711700"/>
            <a:ext cx="1149350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20D693-A6B7-4E23-9BCC-E791E2E5305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5229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1F9538DF-FC4E-CFDC-B88C-BFB0B05A45FB}"/>
              </a:ext>
            </a:extLst>
          </p:cNvPr>
          <p:cNvGrpSpPr>
            <a:grpSpLocks/>
          </p:cNvGrpSpPr>
          <p:nvPr/>
        </p:nvGrpSpPr>
        <p:grpSpPr bwMode="auto">
          <a:xfrm>
            <a:off x="0" y="4572000"/>
            <a:ext cx="9161463" cy="1676400"/>
            <a:chOff x="0" y="2895600"/>
            <a:chExt cx="9161969" cy="1677035"/>
          </a:xfrm>
        </p:grpSpPr>
        <p:pic>
          <p:nvPicPr>
            <p:cNvPr id="6" name="Picture 8" descr="HD-ShadowLong.png">
              <a:extLst>
                <a:ext uri="{FF2B5EF4-FFF2-40B4-BE49-F238E27FC236}">
                  <a16:creationId xmlns:a16="http://schemas.microsoft.com/office/drawing/2014/main" id="{7AA47A49-8F2F-5592-3E4A-1D8EEDC40D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98"/>
            <a:stretch>
              <a:fillRect/>
            </a:stretch>
          </p:blipFill>
          <p:spPr bwMode="auto"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9" descr="HD-ShadowShort.png">
              <a:extLst>
                <a:ext uri="{FF2B5EF4-FFF2-40B4-BE49-F238E27FC236}">
                  <a16:creationId xmlns:a16="http://schemas.microsoft.com/office/drawing/2014/main" id="{17F365F0-C148-11DE-182B-643630386B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CED1FD-68F4-22D7-CA47-013E81C40B7F}"/>
                </a:ext>
              </a:extLst>
            </p:cNvPr>
            <p:cNvSpPr/>
            <p:nvPr/>
          </p:nvSpPr>
          <p:spPr bwMode="ltGray">
            <a:xfrm>
              <a:off x="0" y="2895600"/>
              <a:ext cx="7566443" cy="136894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F040F1-DB72-9895-84F3-43C6CF2C8C09}"/>
                </a:ext>
              </a:extLst>
            </p:cNvPr>
            <p:cNvSpPr/>
            <p:nvPr/>
          </p:nvSpPr>
          <p:spPr>
            <a:xfrm>
              <a:off x="7710914" y="2895600"/>
              <a:ext cx="1433591" cy="13689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3301924A-9C47-870B-5045-D3EA2DF52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F41CD788-8385-4FBC-9CB9-38AA9112F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FBA15255-FD3A-48B4-C1C6-F532F3E4F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6538" y="4711700"/>
            <a:ext cx="1149350" cy="1090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AE0A18-54BC-44FF-9ED4-242E4603DFB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25948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12344609-0656-1B2E-DE87-54E5FB43F515}"/>
              </a:ext>
            </a:extLst>
          </p:cNvPr>
          <p:cNvGrpSpPr>
            <a:grpSpLocks/>
          </p:cNvGrpSpPr>
          <p:nvPr/>
        </p:nvGrpSpPr>
        <p:grpSpPr bwMode="auto">
          <a:xfrm>
            <a:off x="0" y="4572000"/>
            <a:ext cx="9161463" cy="1676400"/>
            <a:chOff x="0" y="2895600"/>
            <a:chExt cx="9161969" cy="1677035"/>
          </a:xfrm>
        </p:grpSpPr>
        <p:pic>
          <p:nvPicPr>
            <p:cNvPr id="6" name="Picture 8" descr="HD-ShadowLong.png">
              <a:extLst>
                <a:ext uri="{FF2B5EF4-FFF2-40B4-BE49-F238E27FC236}">
                  <a16:creationId xmlns:a16="http://schemas.microsoft.com/office/drawing/2014/main" id="{5D119083-4C8B-D441-C649-E9EC3C9533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98"/>
            <a:stretch>
              <a:fillRect/>
            </a:stretch>
          </p:blipFill>
          <p:spPr bwMode="auto"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9" descr="HD-ShadowShort.png">
              <a:extLst>
                <a:ext uri="{FF2B5EF4-FFF2-40B4-BE49-F238E27FC236}">
                  <a16:creationId xmlns:a16="http://schemas.microsoft.com/office/drawing/2014/main" id="{B17835E0-2350-8FD6-CEA0-F0A40BDE82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79A046-5124-D9C8-1301-4D2CAFE0E11E}"/>
                </a:ext>
              </a:extLst>
            </p:cNvPr>
            <p:cNvSpPr/>
            <p:nvPr/>
          </p:nvSpPr>
          <p:spPr bwMode="ltGray">
            <a:xfrm>
              <a:off x="0" y="2895600"/>
              <a:ext cx="7566443" cy="136894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4F9D22-2B8A-EEC3-7DB6-58FAA99D8A79}"/>
                </a:ext>
              </a:extLst>
            </p:cNvPr>
            <p:cNvSpPr/>
            <p:nvPr/>
          </p:nvSpPr>
          <p:spPr>
            <a:xfrm>
              <a:off x="7710914" y="2895600"/>
              <a:ext cx="1433591" cy="13689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F433E43-3F20-3192-9503-3DBD62D7CFFD}"/>
              </a:ext>
            </a:extLst>
          </p:cNvPr>
          <p:cNvSpPr txBox="1"/>
          <p:nvPr/>
        </p:nvSpPr>
        <p:spPr>
          <a:xfrm>
            <a:off x="271463" y="747713"/>
            <a:ext cx="533400" cy="585787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>
                <a:effectLst/>
                <a:latin typeface="+mn-lt"/>
              </a:rPr>
              <a:t>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9365D-613D-7571-FC7E-A8858BF85B2F}"/>
              </a:ext>
            </a:extLst>
          </p:cNvPr>
          <p:cNvSpPr txBox="1"/>
          <p:nvPr/>
        </p:nvSpPr>
        <p:spPr>
          <a:xfrm>
            <a:off x="6967538" y="2998788"/>
            <a:ext cx="4572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7200" dirty="0">
                <a:effectLst/>
                <a:latin typeface="+mn-lt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97ED8A12-A193-D11B-D507-8ACCA54D772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F4B0F22F-52E7-C47E-5DC8-6DE06A6163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B85715DD-CDED-9935-4DC3-49C7122F4A6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856538" y="4710113"/>
            <a:ext cx="1149350" cy="1090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D68D28-1723-4656-B7F8-1039470900B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96728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A9567E88-BB82-AD62-31E9-E3B7C18B9D00}"/>
              </a:ext>
            </a:extLst>
          </p:cNvPr>
          <p:cNvGrpSpPr>
            <a:grpSpLocks/>
          </p:cNvGrpSpPr>
          <p:nvPr/>
        </p:nvGrpSpPr>
        <p:grpSpPr bwMode="auto">
          <a:xfrm>
            <a:off x="0" y="4572000"/>
            <a:ext cx="9161463" cy="1676400"/>
            <a:chOff x="0" y="2895600"/>
            <a:chExt cx="9161969" cy="1677035"/>
          </a:xfrm>
        </p:grpSpPr>
        <p:pic>
          <p:nvPicPr>
            <p:cNvPr id="6" name="Picture 8" descr="HD-ShadowLong.png">
              <a:extLst>
                <a:ext uri="{FF2B5EF4-FFF2-40B4-BE49-F238E27FC236}">
                  <a16:creationId xmlns:a16="http://schemas.microsoft.com/office/drawing/2014/main" id="{474D354D-D762-14FC-7FD2-11201873DC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98"/>
            <a:stretch>
              <a:fillRect/>
            </a:stretch>
          </p:blipFill>
          <p:spPr bwMode="auto"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9" descr="HD-ShadowShort.png">
              <a:extLst>
                <a:ext uri="{FF2B5EF4-FFF2-40B4-BE49-F238E27FC236}">
                  <a16:creationId xmlns:a16="http://schemas.microsoft.com/office/drawing/2014/main" id="{C1679C41-237A-3107-6D54-16596AD6B5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CB2A96-10A2-AFA4-2A75-E0583267134D}"/>
                </a:ext>
              </a:extLst>
            </p:cNvPr>
            <p:cNvSpPr/>
            <p:nvPr/>
          </p:nvSpPr>
          <p:spPr bwMode="ltGray">
            <a:xfrm>
              <a:off x="0" y="2895600"/>
              <a:ext cx="7566443" cy="136894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72CDD4F-E38D-93BC-6DCB-7EEF45500099}"/>
                </a:ext>
              </a:extLst>
            </p:cNvPr>
            <p:cNvSpPr/>
            <p:nvPr/>
          </p:nvSpPr>
          <p:spPr>
            <a:xfrm>
              <a:off x="7710914" y="2895600"/>
              <a:ext cx="1433591" cy="13689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E95584E3-FA12-EF6E-4D79-7ED8E1CB5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8B016371-3229-B5C5-2E51-0BE8E1534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8800719C-EFD1-78A5-1292-18FB9569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6538" y="4710113"/>
            <a:ext cx="1149350" cy="1090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9326D6-F605-47FC-8D29-32211713D22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2689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7">
            <a:extLst>
              <a:ext uri="{FF2B5EF4-FFF2-40B4-BE49-F238E27FC236}">
                <a16:creationId xmlns:a16="http://schemas.microsoft.com/office/drawing/2014/main" id="{A954D5D3-CDFE-6230-DC8E-8158D1C363B0}"/>
              </a:ext>
            </a:extLst>
          </p:cNvPr>
          <p:cNvGrpSpPr>
            <a:grpSpLocks/>
          </p:cNvGrpSpPr>
          <p:nvPr/>
        </p:nvGrpSpPr>
        <p:grpSpPr bwMode="auto">
          <a:xfrm>
            <a:off x="0" y="609600"/>
            <a:ext cx="9161463" cy="1676400"/>
            <a:chOff x="0" y="2895600"/>
            <a:chExt cx="9161969" cy="1677035"/>
          </a:xfrm>
        </p:grpSpPr>
        <p:pic>
          <p:nvPicPr>
            <p:cNvPr id="14" name="Picture 8" descr="HD-ShadowLong.png">
              <a:extLst>
                <a:ext uri="{FF2B5EF4-FFF2-40B4-BE49-F238E27FC236}">
                  <a16:creationId xmlns:a16="http://schemas.microsoft.com/office/drawing/2014/main" id="{9E78FCA0-DBCB-1235-7A36-6A6422AE19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98"/>
            <a:stretch>
              <a:fillRect/>
            </a:stretch>
          </p:blipFill>
          <p:spPr bwMode="auto"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9" descr="HD-ShadowShort.png">
              <a:extLst>
                <a:ext uri="{FF2B5EF4-FFF2-40B4-BE49-F238E27FC236}">
                  <a16:creationId xmlns:a16="http://schemas.microsoft.com/office/drawing/2014/main" id="{413327E2-3CD5-527B-50A0-CF0022E35E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F7299E5-4BBE-BF60-39E8-14F0BBE1783F}"/>
                </a:ext>
              </a:extLst>
            </p:cNvPr>
            <p:cNvSpPr/>
            <p:nvPr/>
          </p:nvSpPr>
          <p:spPr bwMode="ltGray">
            <a:xfrm>
              <a:off x="0" y="2895600"/>
              <a:ext cx="7566443" cy="136894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59B19E-6312-D9D7-4678-F891984BF5AD}"/>
                </a:ext>
              </a:extLst>
            </p:cNvPr>
            <p:cNvSpPr/>
            <p:nvPr/>
          </p:nvSpPr>
          <p:spPr>
            <a:xfrm>
              <a:off x="7710914" y="2895600"/>
              <a:ext cx="1433591" cy="13689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Date Placeholder 2">
            <a:extLst>
              <a:ext uri="{FF2B5EF4-FFF2-40B4-BE49-F238E27FC236}">
                <a16:creationId xmlns:a16="http://schemas.microsoft.com/office/drawing/2014/main" id="{C2BD68DB-5C03-828E-5DCB-EC51CE4004B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4C101B3F-818F-39A2-315A-C2EE3E3E907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BA782136-C4AC-4925-A62E-5CBC59ACD58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B040CA-E4DE-4702-AA74-5DA2BB7C682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33598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7">
            <a:extLst>
              <a:ext uri="{FF2B5EF4-FFF2-40B4-BE49-F238E27FC236}">
                <a16:creationId xmlns:a16="http://schemas.microsoft.com/office/drawing/2014/main" id="{C040F001-7A89-7848-6C7A-EB43386579E1}"/>
              </a:ext>
            </a:extLst>
          </p:cNvPr>
          <p:cNvGrpSpPr>
            <a:grpSpLocks/>
          </p:cNvGrpSpPr>
          <p:nvPr/>
        </p:nvGrpSpPr>
        <p:grpSpPr bwMode="auto">
          <a:xfrm>
            <a:off x="0" y="609600"/>
            <a:ext cx="9161463" cy="1676400"/>
            <a:chOff x="0" y="2895600"/>
            <a:chExt cx="9161969" cy="1677035"/>
          </a:xfrm>
        </p:grpSpPr>
        <p:pic>
          <p:nvPicPr>
            <p:cNvPr id="13" name="Picture 8" descr="HD-ShadowLong.png">
              <a:extLst>
                <a:ext uri="{FF2B5EF4-FFF2-40B4-BE49-F238E27FC236}">
                  <a16:creationId xmlns:a16="http://schemas.microsoft.com/office/drawing/2014/main" id="{14194F3F-244B-9EC3-150A-7BB0D93F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98"/>
            <a:stretch>
              <a:fillRect/>
            </a:stretch>
          </p:blipFill>
          <p:spPr bwMode="auto"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9" descr="HD-ShadowShort.png">
              <a:extLst>
                <a:ext uri="{FF2B5EF4-FFF2-40B4-BE49-F238E27FC236}">
                  <a16:creationId xmlns:a16="http://schemas.microsoft.com/office/drawing/2014/main" id="{F803010C-B3A1-AB4E-317F-F9BFE80DF1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59267B5-B6BC-0378-C941-651D5B2D6912}"/>
                </a:ext>
              </a:extLst>
            </p:cNvPr>
            <p:cNvSpPr/>
            <p:nvPr/>
          </p:nvSpPr>
          <p:spPr bwMode="ltGray">
            <a:xfrm>
              <a:off x="0" y="2895600"/>
              <a:ext cx="7566443" cy="136894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0376149-1B4A-23D3-98C9-A17E9B688A0F}"/>
                </a:ext>
              </a:extLst>
            </p:cNvPr>
            <p:cNvSpPr/>
            <p:nvPr/>
          </p:nvSpPr>
          <p:spPr>
            <a:xfrm>
              <a:off x="7710914" y="2895600"/>
              <a:ext cx="1433591" cy="13689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7075FC2F-B88B-7CCC-37DC-E8159D6E483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4A4CF55D-BEA3-886F-F2B5-2500922E2C6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5603132E-8B84-A6A2-917B-2A4084B0A89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75265-96F9-4313-8BFD-F56D2197AFC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7654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0C134BA0-C4A7-05B7-9FD8-47F9DBDC43DB}"/>
              </a:ext>
            </a:extLst>
          </p:cNvPr>
          <p:cNvGrpSpPr>
            <a:grpSpLocks/>
          </p:cNvGrpSpPr>
          <p:nvPr/>
        </p:nvGrpSpPr>
        <p:grpSpPr bwMode="auto">
          <a:xfrm>
            <a:off x="0" y="609600"/>
            <a:ext cx="9161463" cy="1676400"/>
            <a:chOff x="0" y="2895600"/>
            <a:chExt cx="9161969" cy="1677035"/>
          </a:xfrm>
        </p:grpSpPr>
        <p:pic>
          <p:nvPicPr>
            <p:cNvPr id="5" name="Picture 8" descr="HD-ShadowLong.png">
              <a:extLst>
                <a:ext uri="{FF2B5EF4-FFF2-40B4-BE49-F238E27FC236}">
                  <a16:creationId xmlns:a16="http://schemas.microsoft.com/office/drawing/2014/main" id="{8FAF3FEB-46E9-040B-424B-03CDD22335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98"/>
            <a:stretch>
              <a:fillRect/>
            </a:stretch>
          </p:blipFill>
          <p:spPr bwMode="auto"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9" descr="HD-ShadowShort.png">
              <a:extLst>
                <a:ext uri="{FF2B5EF4-FFF2-40B4-BE49-F238E27FC236}">
                  <a16:creationId xmlns:a16="http://schemas.microsoft.com/office/drawing/2014/main" id="{6DC7E483-B28E-24E9-C8C8-ACEDF9156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4DE317-15B4-7FEE-0A83-A0FA4340B334}"/>
                </a:ext>
              </a:extLst>
            </p:cNvPr>
            <p:cNvSpPr/>
            <p:nvPr/>
          </p:nvSpPr>
          <p:spPr bwMode="ltGray">
            <a:xfrm>
              <a:off x="0" y="2895600"/>
              <a:ext cx="7566443" cy="136894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F2B8DC-5433-EE99-C9FB-160427230238}"/>
                </a:ext>
              </a:extLst>
            </p:cNvPr>
            <p:cNvSpPr/>
            <p:nvPr/>
          </p:nvSpPr>
          <p:spPr>
            <a:xfrm>
              <a:off x="7710914" y="2895600"/>
              <a:ext cx="1433591" cy="13689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FF5957-8A7D-EE37-498C-432BEA3A2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5B6E372-9839-4148-8285-7F8BE44A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C03BA4A-808A-D539-0101-8CDAD5DA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C0135-4A58-4F05-AE41-6A2DB00A823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294461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84745C3D-59A4-2165-2E90-6B8E03583EBD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4575175" y="2747963"/>
            <a:ext cx="6862763" cy="1366837"/>
            <a:chOff x="2281445" y="609600"/>
            <a:chExt cx="6862555" cy="13681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973AE06-835B-315D-319D-6AD4E67C5ECF}"/>
                </a:ext>
              </a:extLst>
            </p:cNvPr>
            <p:cNvSpPr/>
            <p:nvPr/>
          </p:nvSpPr>
          <p:spPr bwMode="ltGray">
            <a:xfrm>
              <a:off x="2281445" y="609600"/>
              <a:ext cx="5286215" cy="136819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E90FB9-BAC2-74E5-3DF7-711745B8B24E}"/>
                </a:ext>
              </a:extLst>
            </p:cNvPr>
            <p:cNvSpPr/>
            <p:nvPr/>
          </p:nvSpPr>
          <p:spPr>
            <a:xfrm>
              <a:off x="7710530" y="609600"/>
              <a:ext cx="1433470" cy="1368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BD4DB4C-BEDA-32B7-3747-5C03A70C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0" y="5935663"/>
            <a:ext cx="2057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EA98457-A003-BDE2-727A-61EB542A1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9588" y="5935663"/>
            <a:ext cx="451961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E205B06-CC50-5A1A-CA10-65E4142F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31088" y="5432425"/>
            <a:ext cx="1149350" cy="1273175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C0DDF2EF-9205-40CC-B6EE-D85769BDF47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71597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78925"/>
            </a:gs>
            <a:gs pos="50000">
              <a:srgbClr val="D54209"/>
            </a:gs>
            <a:gs pos="100000">
              <a:srgbClr val="8D0000"/>
            </a:gs>
          </a:gsLst>
          <a:lin ang="252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 descr="C:\Users\James\Desktop\msft\Berlin\build Assets\hashOverlaySD-FullResolve.png">
            <a:extLst>
              <a:ext uri="{FF2B5EF4-FFF2-40B4-BE49-F238E27FC236}">
                <a16:creationId xmlns:a16="http://schemas.microsoft.com/office/drawing/2014/main" id="{06E5A1B8-AACD-18DD-721C-57E78675B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7540F5DD-B0D6-7512-D003-A8739F1923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1813" y="752475"/>
            <a:ext cx="68961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A4C604A2-46BE-4CA3-E2ED-8B424C3445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2336800"/>
            <a:ext cx="6888163" cy="359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E6F17-62D5-A502-3EC5-5011F1B72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67338" y="593566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7C1EF-3BC3-EE79-91FE-97AB96B07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5935663"/>
            <a:ext cx="48339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A4188-5294-3117-A3C7-A6B4ABE13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48600" y="752475"/>
            <a:ext cx="1157288" cy="1092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36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FAE24C8-2D4A-4FD5-A757-9AF90C938F3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838" r:id="rId1"/>
    <p:sldLayoutId id="2147484839" r:id="rId2"/>
    <p:sldLayoutId id="2147484840" r:id="rId3"/>
    <p:sldLayoutId id="2147484841" r:id="rId4"/>
    <p:sldLayoutId id="2147484842" r:id="rId5"/>
    <p:sldLayoutId id="2147484843" r:id="rId6"/>
    <p:sldLayoutId id="2147484844" r:id="rId7"/>
    <p:sldLayoutId id="2147484845" r:id="rId8"/>
    <p:sldLayoutId id="2147484846" r:id="rId9"/>
    <p:sldLayoutId id="2147484847" r:id="rId10"/>
    <p:sldLayoutId id="2147484848" r:id="rId11"/>
    <p:sldLayoutId id="2147484849" r:id="rId12"/>
    <p:sldLayoutId id="2147484850" r:id="rId13"/>
    <p:sldLayoutId id="2147484851" r:id="rId14"/>
    <p:sldLayoutId id="2147484852" r:id="rId15"/>
    <p:sldLayoutId id="2147484853" r:id="rId16"/>
    <p:sldLayoutId id="2147484854" r:id="rId17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anose="020B0603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anose="020B0603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anose="020B0603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anose="020B0603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anose="020B0603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anose="020B0603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anose="020B0603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anose="020B0603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680CDDA-7B73-E943-5052-16371137EE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00200" y="3178175"/>
            <a:ext cx="6781800" cy="1470025"/>
          </a:xfrm>
        </p:spPr>
        <p:txBody>
          <a:bodyPr anchor="ctr"/>
          <a:lstStyle/>
          <a:p>
            <a:pPr eaLnBrk="1" hangingPunct="1"/>
            <a:r>
              <a:rPr lang="en-US" altLang="en-US" sz="3600" i="1" dirty="0"/>
              <a:t>PUTTING IT ALL BACK TOGETHER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088B03F-AEC5-E039-2D98-8D6A6F587FE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600200" y="4648200"/>
            <a:ext cx="6858000" cy="1295400"/>
          </a:xfrm>
          <a:solidFill>
            <a:srgbClr val="002060"/>
          </a:solidFill>
        </p:spPr>
        <p:txBody>
          <a:bodyPr/>
          <a:lstStyle/>
          <a:p>
            <a:pPr eaLnBrk="1" hangingPunct="1"/>
            <a:r>
              <a:rPr lang="en-US" altLang="en-US" sz="4800" dirty="0"/>
              <a:t>Anabolic Pathways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96EA9A-0C0F-8515-4E4D-E3DAEB7C4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635000"/>
            <a:ext cx="4762500" cy="2495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4">
            <a:extLst>
              <a:ext uri="{FF2B5EF4-FFF2-40B4-BE49-F238E27FC236}">
                <a16:creationId xmlns:a16="http://schemas.microsoft.com/office/drawing/2014/main" id="{654AC0FB-A72A-E484-923B-BB7666C62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2870200"/>
            <a:ext cx="6889750" cy="109061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>Section One: Organization of Anabolic Pathways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59097682-7E86-52C1-FAD8-CC6BE97E6B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 of Anabolic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AEB9EA37-C4C2-0BDC-14AE-749463E2D0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Insulin:</a:t>
            </a:r>
          </a:p>
          <a:p>
            <a:pPr lvl="1"/>
            <a:r>
              <a:rPr lang="en-US" altLang="en-US"/>
              <a:t>Tyrosine Kinase second messenger</a:t>
            </a:r>
          </a:p>
          <a:p>
            <a:r>
              <a:rPr lang="en-US" altLang="en-US"/>
              <a:t>Parasympathetic System:</a:t>
            </a:r>
          </a:p>
          <a:p>
            <a:pPr lvl="1"/>
            <a:r>
              <a:rPr lang="en-US" altLang="en-US"/>
              <a:t>cGMP second messenger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7636F51-12A6-CBA1-FB37-CB77448D4AA9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609600" y="1066800"/>
            <a:ext cx="7467600" cy="51816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bg1"/>
                </a:solidFill>
              </a:rPr>
              <a:t>As soon as you eat…You replenish your </a:t>
            </a:r>
            <a:r>
              <a:rPr lang="en-US" b="1" dirty="0">
                <a:solidFill>
                  <a:schemeClr val="bg2"/>
                </a:solidFill>
              </a:rPr>
              <a:t>plasma glucose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rgbClr val="EE7444"/>
                </a:solidFill>
              </a:rPr>
              <a:t>	</a:t>
            </a:r>
            <a:r>
              <a:rPr lang="en-US" sz="1400" b="1" dirty="0">
                <a:solidFill>
                  <a:schemeClr val="bg2"/>
                </a:solidFill>
              </a:rPr>
              <a:t>Incretins			Dipeptidyl peptidase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400" b="1" dirty="0">
                <a:solidFill>
                  <a:schemeClr val="bg2"/>
                </a:solidFill>
              </a:rPr>
              <a:t>	Exenatide			Saxagliptin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400" b="1" dirty="0">
                <a:solidFill>
                  <a:schemeClr val="bg2"/>
                </a:solidFill>
              </a:rPr>
              <a:t>	Liraglutide			Sitagliptin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400" b="1" dirty="0">
                <a:solidFill>
                  <a:schemeClr val="bg2"/>
                </a:solidFill>
              </a:rPr>
              <a:t>	Dulaglutide		Vildagliptin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bg1"/>
                </a:solidFill>
              </a:rPr>
              <a:t>After glucose returns to the liver…You turn </a:t>
            </a:r>
            <a:r>
              <a:rPr lang="en-US" b="1" dirty="0">
                <a:solidFill>
                  <a:schemeClr val="bg1"/>
                </a:solidFill>
              </a:rPr>
              <a:t>off </a:t>
            </a:r>
            <a:r>
              <a:rPr lang="en-US" b="1" dirty="0">
                <a:solidFill>
                  <a:schemeClr val="bg2"/>
                </a:solidFill>
              </a:rPr>
              <a:t>gluconeogenesis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bg1"/>
                </a:solidFill>
              </a:rPr>
              <a:t>After you turn off gluconeogenesis…You turn on </a:t>
            </a:r>
            <a:r>
              <a:rPr lang="en-US" b="1" dirty="0">
                <a:solidFill>
                  <a:schemeClr val="bg2"/>
                </a:solidFill>
              </a:rPr>
              <a:t>glycogen synthesis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B823BB3-8713-460A-E949-4CB6D6559E2D}"/>
              </a:ext>
            </a:extLst>
          </p:cNvPr>
          <p:cNvCxnSpPr/>
          <p:nvPr/>
        </p:nvCxnSpPr>
        <p:spPr>
          <a:xfrm flipH="1">
            <a:off x="2590800" y="2133600"/>
            <a:ext cx="1524000" cy="0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73112367-989B-E977-A31C-09EBA3197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Block Alpha 1 Glucosidase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CA9B5075-AB67-E36E-E9FD-009296929B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bg1"/>
                </a:solidFill>
              </a:rPr>
              <a:t>Acarbose 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Miglitol</a:t>
            </a:r>
          </a:p>
          <a:p>
            <a:r>
              <a:rPr lang="en-US" altLang="en-US"/>
              <a:t>Both limit the absorption of glucose from the GI tract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F2A809A-BA86-33AD-A4BE-DA9C9D87F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Incretins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DA2DEEBC-D1F0-360F-692E-5818D75E6F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Physiologic: GLP 1</a:t>
            </a:r>
          </a:p>
          <a:p>
            <a:r>
              <a:rPr lang="en-US" altLang="en-US"/>
              <a:t>Made in the duodenum</a:t>
            </a:r>
          </a:p>
          <a:p>
            <a:r>
              <a:rPr lang="en-US" altLang="en-US"/>
              <a:t>Inhibit Glucagon</a:t>
            </a:r>
          </a:p>
          <a:p>
            <a:r>
              <a:rPr lang="en-US" altLang="en-US"/>
              <a:t>Increase Insulin secretion</a:t>
            </a:r>
          </a:p>
          <a:p>
            <a:r>
              <a:rPr lang="en-US" altLang="en-US"/>
              <a:t>This signal is decreased in diabetics</a:t>
            </a:r>
          </a:p>
          <a:p>
            <a:r>
              <a:rPr lang="en-US" altLang="en-US"/>
              <a:t>This signal is blocked by </a:t>
            </a:r>
            <a:r>
              <a:rPr lang="en-US" altLang="en-US" b="1">
                <a:solidFill>
                  <a:schemeClr val="bg1"/>
                </a:solidFill>
              </a:rPr>
              <a:t>Dipeptidyl peptidase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928BF108-AA54-64EB-2B0B-02C082F11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Block Gluconeogenesis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066B6665-A2DB-9979-CD9E-801C8AA068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Phenformin</a:t>
            </a:r>
          </a:p>
          <a:p>
            <a:r>
              <a:rPr lang="en-US" altLang="en-US"/>
              <a:t>Metformin</a:t>
            </a:r>
          </a:p>
          <a:p>
            <a:pPr lvl="1"/>
            <a:r>
              <a:rPr lang="en-US" altLang="en-US"/>
              <a:t>Causes lactic acidosis</a:t>
            </a:r>
          </a:p>
          <a:p>
            <a:pPr lvl="1"/>
            <a:r>
              <a:rPr lang="en-US" altLang="en-US"/>
              <a:t>Interacts with IV contrast to destroy the kidneys</a:t>
            </a:r>
          </a:p>
          <a:p>
            <a:pPr lvl="1"/>
            <a:r>
              <a:rPr lang="en-US" altLang="en-US"/>
              <a:t>For elective procedures: Stop the drug</a:t>
            </a:r>
          </a:p>
          <a:p>
            <a:pPr lvl="2"/>
            <a:r>
              <a:rPr lang="en-US" altLang="en-US"/>
              <a:t>Wait 48 hours, then do the procedure</a:t>
            </a:r>
          </a:p>
          <a:p>
            <a:pPr lvl="1"/>
            <a:r>
              <a:rPr lang="en-US" altLang="en-US"/>
              <a:t>For emergency procedures: Hold the drug</a:t>
            </a:r>
          </a:p>
          <a:p>
            <a:pPr lvl="2"/>
            <a:r>
              <a:rPr lang="en-US" altLang="en-US"/>
              <a:t>Run plenty of normal saline</a:t>
            </a:r>
          </a:p>
          <a:p>
            <a:pPr lvl="2"/>
            <a:r>
              <a:rPr lang="en-US" altLang="en-US"/>
              <a:t>Give N-Acetylcysteine as antioxidant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4">
            <a:extLst>
              <a:ext uri="{FF2B5EF4-FFF2-40B4-BE49-F238E27FC236}">
                <a16:creationId xmlns:a16="http://schemas.microsoft.com/office/drawing/2014/main" id="{941D9CEC-89C4-BECC-8512-AA437E4FD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2870200"/>
            <a:ext cx="6889750" cy="109061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>Section Two: Anabolic Pathways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28">
            <a:extLst>
              <a:ext uri="{FF2B5EF4-FFF2-40B4-BE49-F238E27FC236}">
                <a16:creationId xmlns:a16="http://schemas.microsoft.com/office/drawing/2014/main" id="{55728CA6-BD4F-4655-B276-D41EF0542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5029200"/>
            <a:ext cx="3071812" cy="609600"/>
          </a:xfrm>
          <a:prstGeom prst="rect">
            <a:avLst/>
          </a:prstGeom>
          <a:solidFill>
            <a:schemeClr val="bg2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alt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Figure 6.1 Glycogen Synthesis, Steps 1-8 </a:t>
            </a:r>
          </a:p>
        </p:txBody>
      </p:sp>
      <p:sp>
        <p:nvSpPr>
          <p:cNvPr id="28675" name="TextBox 8">
            <a:extLst>
              <a:ext uri="{FF2B5EF4-FFF2-40B4-BE49-F238E27FC236}">
                <a16:creationId xmlns:a16="http://schemas.microsoft.com/office/drawing/2014/main" id="{605087B9-ADCD-C7DB-A9DA-4B273FE01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728663"/>
            <a:ext cx="29940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</a:rPr>
              <a:t>Glycogen Synthesis</a:t>
            </a:r>
          </a:p>
        </p:txBody>
      </p:sp>
      <p:pic>
        <p:nvPicPr>
          <p:cNvPr id="28676" name="Picture 1">
            <a:extLst>
              <a:ext uri="{FF2B5EF4-FFF2-40B4-BE49-F238E27FC236}">
                <a16:creationId xmlns:a16="http://schemas.microsoft.com/office/drawing/2014/main" id="{3CAA51FB-02D1-51EF-D888-78E1C655C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113" y="19050"/>
            <a:ext cx="570865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28">
            <a:extLst>
              <a:ext uri="{FF2B5EF4-FFF2-40B4-BE49-F238E27FC236}">
                <a16:creationId xmlns:a16="http://schemas.microsoft.com/office/drawing/2014/main" id="{2AED3ED7-545E-3866-7354-E3E3692C3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3" y="5029200"/>
            <a:ext cx="3071812" cy="609600"/>
          </a:xfrm>
          <a:prstGeom prst="rect">
            <a:avLst/>
          </a:prstGeom>
          <a:solidFill>
            <a:schemeClr val="bg2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alt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Figure 6.2 Glycogen Synthesis, Steps 9-12</a:t>
            </a:r>
          </a:p>
        </p:txBody>
      </p:sp>
      <p:sp>
        <p:nvSpPr>
          <p:cNvPr id="29699" name="TextBox 8">
            <a:extLst>
              <a:ext uri="{FF2B5EF4-FFF2-40B4-BE49-F238E27FC236}">
                <a16:creationId xmlns:a16="http://schemas.microsoft.com/office/drawing/2014/main" id="{AB3900AD-FD01-C070-FE80-62B38463F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2995613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</a:rPr>
              <a:t>Glycogen Synthesis</a:t>
            </a:r>
          </a:p>
        </p:txBody>
      </p:sp>
      <p:pic>
        <p:nvPicPr>
          <p:cNvPr id="29700" name="Picture 2">
            <a:extLst>
              <a:ext uri="{FF2B5EF4-FFF2-40B4-BE49-F238E27FC236}">
                <a16:creationId xmlns:a16="http://schemas.microsoft.com/office/drawing/2014/main" id="{E5C42C3D-42C6-3EE4-396C-3C1882B1B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0"/>
            <a:ext cx="56388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28">
            <a:extLst>
              <a:ext uri="{FF2B5EF4-FFF2-40B4-BE49-F238E27FC236}">
                <a16:creationId xmlns:a16="http://schemas.microsoft.com/office/drawing/2014/main" id="{650AE1B0-4B94-2536-F508-EB070CF0F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8" y="5029200"/>
            <a:ext cx="2933700" cy="381000"/>
          </a:xfrm>
          <a:prstGeom prst="rect">
            <a:avLst/>
          </a:prstGeom>
          <a:solidFill>
            <a:schemeClr val="bg2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alt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Figure 6.3 Pentose Pathway</a:t>
            </a:r>
          </a:p>
        </p:txBody>
      </p:sp>
      <p:sp>
        <p:nvSpPr>
          <p:cNvPr id="30723" name="TextBox 8">
            <a:extLst>
              <a:ext uri="{FF2B5EF4-FFF2-40B4-BE49-F238E27FC236}">
                <a16:creationId xmlns:a16="http://schemas.microsoft.com/office/drawing/2014/main" id="{C3128112-4FF8-E061-ED09-D057F5880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595313"/>
            <a:ext cx="29940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</a:rPr>
              <a:t>Pentose Pathway</a:t>
            </a:r>
          </a:p>
        </p:txBody>
      </p:sp>
      <p:pic>
        <p:nvPicPr>
          <p:cNvPr id="30724" name="Picture 2" descr="Diagram&#10;&#10;Description automatically generated">
            <a:extLst>
              <a:ext uri="{FF2B5EF4-FFF2-40B4-BE49-F238E27FC236}">
                <a16:creationId xmlns:a16="http://schemas.microsoft.com/office/drawing/2014/main" id="{BABB8D99-FD19-7732-6ADF-975BACD15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975" y="374650"/>
            <a:ext cx="4727575" cy="610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CD64F9F-CC97-4EF1-F660-66242064F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NADPH is used for…</a:t>
            </a:r>
          </a:p>
        </p:txBody>
      </p:sp>
      <p:sp>
        <p:nvSpPr>
          <p:cNvPr id="31747" name="Content Placeholder 1">
            <a:extLst>
              <a:ext uri="{FF2B5EF4-FFF2-40B4-BE49-F238E27FC236}">
                <a16:creationId xmlns:a16="http://schemas.microsoft.com/office/drawing/2014/main" id="{525AFDFC-B85A-D9F6-E2CA-FD9EE5666C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Fatty acid synthesis</a:t>
            </a:r>
          </a:p>
          <a:p>
            <a:r>
              <a:rPr lang="en-US" altLang="en-US"/>
              <a:t>DNA synthesis</a:t>
            </a:r>
          </a:p>
          <a:p>
            <a:r>
              <a:rPr lang="en-US" altLang="en-US"/>
              <a:t>RBC repair (used by glutathione)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44A9680-D575-2480-6640-327A53483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X-linked Recessive Enzymes</a:t>
            </a:r>
          </a:p>
        </p:txBody>
      </p:sp>
      <p:sp>
        <p:nvSpPr>
          <p:cNvPr id="33795" name="Content Placeholder 1">
            <a:extLst>
              <a:ext uri="{FF2B5EF4-FFF2-40B4-BE49-F238E27FC236}">
                <a16:creationId xmlns:a16="http://schemas.microsoft.com/office/drawing/2014/main" id="{7B110106-AEAB-1ADB-5465-3BD4EEC554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2336800"/>
            <a:ext cx="6888163" cy="4064000"/>
          </a:xfrm>
        </p:spPr>
        <p:txBody>
          <a:bodyPr/>
          <a:lstStyle/>
          <a:p>
            <a:r>
              <a:rPr lang="en-US" altLang="en-US" sz="2000"/>
              <a:t>G6PD</a:t>
            </a:r>
          </a:p>
          <a:p>
            <a:r>
              <a:rPr lang="en-US" altLang="en-US" sz="2000"/>
              <a:t>Fabry’s (alpha galactosidase)</a:t>
            </a:r>
          </a:p>
          <a:p>
            <a:r>
              <a:rPr lang="en-US" altLang="en-US" sz="2000"/>
              <a:t>Hunter’s (Iduronidase)</a:t>
            </a:r>
          </a:p>
          <a:p>
            <a:r>
              <a:rPr lang="en-US" altLang="en-US" sz="2000"/>
              <a:t>CGD (NADPH Oxidase)</a:t>
            </a:r>
          </a:p>
          <a:p>
            <a:r>
              <a:rPr lang="en-US" altLang="en-US" sz="2000"/>
              <a:t>Lesch-Nyhan (HGPRT)</a:t>
            </a:r>
          </a:p>
          <a:p>
            <a:r>
              <a:rPr lang="en-US" altLang="en-US" sz="2000"/>
              <a:t>Adrenoleukodystrophy (CAT-1)</a:t>
            </a:r>
          </a:p>
          <a:p>
            <a:r>
              <a:rPr lang="en-US" altLang="en-US" sz="2000"/>
              <a:t>Adenosine Deaminase (SCID) 2/3</a:t>
            </a:r>
          </a:p>
          <a:p>
            <a:r>
              <a:rPr lang="en-US" altLang="en-US" sz="2000"/>
              <a:t>Ornithine Transcarbmylase</a:t>
            </a:r>
          </a:p>
          <a:p>
            <a:r>
              <a:rPr lang="en-US" altLang="en-US" sz="2000"/>
              <a:t>PRPP Synthetase</a:t>
            </a:r>
          </a:p>
          <a:p>
            <a:r>
              <a:rPr lang="en-US" altLang="en-US" sz="2000"/>
              <a:t>Tyrosine Kinase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796CBCB2-7E5A-0921-A97A-D254D4586E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G6PD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AAF911F-779C-8925-15A2-FA5E3F8B9B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en-US" altLang="en-US" dirty="0"/>
              <a:t>More common in Mediterranean's                          (protects them from malaria)</a:t>
            </a:r>
          </a:p>
          <a:p>
            <a:pPr eaLnBrk="1" hangingPunct="1">
              <a:defRPr/>
            </a:pPr>
            <a:r>
              <a:rPr lang="en-US" altLang="en-US" dirty="0"/>
              <a:t>Mcc of hemolytic crisis: (1) infection (2) drugs</a:t>
            </a:r>
          </a:p>
          <a:p>
            <a:pPr eaLnBrk="1" hangingPunct="1">
              <a:defRPr/>
            </a:pPr>
            <a:r>
              <a:rPr lang="en-US" altLang="en-US" dirty="0"/>
              <a:t>Drugs that oxidize RBC’s: sulfa drugs; antimalarials; metronidazole; INH</a:t>
            </a:r>
          </a:p>
          <a:p>
            <a:pPr eaLnBrk="1" hangingPunct="1">
              <a:defRPr/>
            </a:pPr>
            <a:r>
              <a:rPr lang="en-US" altLang="en-US" dirty="0"/>
              <a:t>Heinz bodies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28">
            <a:extLst>
              <a:ext uri="{FF2B5EF4-FFF2-40B4-BE49-F238E27FC236}">
                <a16:creationId xmlns:a16="http://schemas.microsoft.com/office/drawing/2014/main" id="{22A750A2-1811-217D-AA1E-AEF3ACE95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86400"/>
            <a:ext cx="2933700" cy="381000"/>
          </a:xfrm>
          <a:prstGeom prst="rect">
            <a:avLst/>
          </a:prstGeom>
          <a:solidFill>
            <a:schemeClr val="bg2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alt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Figure 6.3 Pentose Pathway</a:t>
            </a:r>
          </a:p>
        </p:txBody>
      </p:sp>
      <p:sp>
        <p:nvSpPr>
          <p:cNvPr id="36867" name="TextBox 8">
            <a:extLst>
              <a:ext uri="{FF2B5EF4-FFF2-40B4-BE49-F238E27FC236}">
                <a16:creationId xmlns:a16="http://schemas.microsoft.com/office/drawing/2014/main" id="{9848BEC4-A970-70C5-C604-43B74E1CB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595313"/>
            <a:ext cx="29940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</a:rPr>
              <a:t>Pentose Pathway</a:t>
            </a:r>
          </a:p>
        </p:txBody>
      </p:sp>
      <p:pic>
        <p:nvPicPr>
          <p:cNvPr id="36868" name="Picture 2" descr="Diagram&#10;&#10;Description automatically generated">
            <a:extLst>
              <a:ext uri="{FF2B5EF4-FFF2-40B4-BE49-F238E27FC236}">
                <a16:creationId xmlns:a16="http://schemas.microsoft.com/office/drawing/2014/main" id="{A460726E-E800-4B5A-EB79-564B1A723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74650"/>
            <a:ext cx="4803775" cy="620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FFC0AF6F-BEC3-64DC-D690-86ABE9AE39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52475"/>
            <a:ext cx="6888163" cy="1081088"/>
          </a:xfrm>
        </p:spPr>
        <p:txBody>
          <a:bodyPr/>
          <a:lstStyle/>
          <a:p>
            <a:r>
              <a:rPr lang="en-US" altLang="en-US"/>
              <a:t>Nonoxidative Pentose Pathway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5144D84B-A2F4-D840-220A-688477E25B1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33400" y="2336800"/>
            <a:ext cx="3357563" cy="3598863"/>
          </a:xfrm>
        </p:spPr>
        <p:txBody>
          <a:bodyPr/>
          <a:lstStyle/>
          <a:p>
            <a:r>
              <a:rPr lang="en-US" altLang="en-US" b="1">
                <a:solidFill>
                  <a:schemeClr val="bg1"/>
                </a:solidFill>
              </a:rPr>
              <a:t>Transketolase</a:t>
            </a:r>
          </a:p>
          <a:p>
            <a:pPr lvl="1"/>
            <a:r>
              <a:rPr lang="en-US" altLang="en-US"/>
              <a:t>Uses TPP as cofactor</a:t>
            </a:r>
          </a:p>
          <a:p>
            <a:pPr lvl="1"/>
            <a:r>
              <a:rPr lang="en-US" altLang="en-US"/>
              <a:t>Uses Vitamin B1</a:t>
            </a:r>
          </a:p>
          <a:p>
            <a:pPr lvl="1"/>
            <a:r>
              <a:rPr lang="en-US" altLang="en-US"/>
              <a:t>Decarboxylates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004AB-EFBF-929F-BAD9-43F1EA3DD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60825" y="2336800"/>
            <a:ext cx="3360738" cy="3598863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Transaldolase</a:t>
            </a:r>
          </a:p>
          <a:p>
            <a:pPr lvl="1">
              <a:defRPr/>
            </a:pPr>
            <a:r>
              <a:rPr lang="en-US" dirty="0">
                <a:latin typeface="+mj-lt"/>
              </a:rPr>
              <a:t>Uses PLP as cofactor</a:t>
            </a:r>
          </a:p>
          <a:p>
            <a:pPr lvl="1">
              <a:defRPr/>
            </a:pPr>
            <a:r>
              <a:rPr lang="en-US" dirty="0">
                <a:latin typeface="+mj-lt"/>
              </a:rPr>
              <a:t>Uses Vitamin B6</a:t>
            </a:r>
          </a:p>
          <a:p>
            <a:pPr lvl="1">
              <a:defRPr/>
            </a:pPr>
            <a:r>
              <a:rPr lang="en-US" dirty="0">
                <a:latin typeface="+mj-lt"/>
              </a:rPr>
              <a:t>Decarboxylates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4112CAD2-F974-4873-AC44-052CBAAD8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Wernicke’s Encephalopathy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9129A520-5A1E-CBFC-0555-06FC306476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Wernicke’s area in posterior temporal lobe</a:t>
            </a:r>
          </a:p>
          <a:p>
            <a:r>
              <a:rPr lang="en-US" altLang="en-US"/>
              <a:t>Symptoms due to increased ICP:</a:t>
            </a:r>
          </a:p>
          <a:p>
            <a:pPr lvl="1"/>
            <a:r>
              <a:rPr lang="en-US" altLang="en-US"/>
              <a:t>Nausea, vomiting, dysarthria, double vision, headache, ataxia, etc.</a:t>
            </a:r>
          </a:p>
          <a:p>
            <a:r>
              <a:rPr lang="en-US" altLang="en-US"/>
              <a:t>Always give 100mg of Thiamine prior to giving any sugar to patient</a:t>
            </a:r>
          </a:p>
          <a:p>
            <a:endParaRPr lang="en-US" altLang="en-US"/>
          </a:p>
          <a:p>
            <a:r>
              <a:rPr lang="en-US" altLang="en-US"/>
              <a:t>Wernicke’s Aphasia: Area is dead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28">
            <a:extLst>
              <a:ext uri="{FF2B5EF4-FFF2-40B4-BE49-F238E27FC236}">
                <a16:creationId xmlns:a16="http://schemas.microsoft.com/office/drawing/2014/main" id="{A40E9829-6038-F7EF-531B-63BBB45BF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6003925"/>
            <a:ext cx="2508250" cy="609600"/>
          </a:xfrm>
          <a:prstGeom prst="rect">
            <a:avLst/>
          </a:prstGeom>
          <a:solidFill>
            <a:schemeClr val="bg2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alt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Figure 6.5 Amino Acid Synthesis</a:t>
            </a:r>
          </a:p>
        </p:txBody>
      </p:sp>
      <p:sp>
        <p:nvSpPr>
          <p:cNvPr id="39939" name="TextBox 8">
            <a:extLst>
              <a:ext uri="{FF2B5EF4-FFF2-40B4-BE49-F238E27FC236}">
                <a16:creationId xmlns:a16="http://schemas.microsoft.com/office/drawing/2014/main" id="{DC8AC673-CCB6-07FE-74A5-DB3ECD3E9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85800"/>
            <a:ext cx="2614613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</a:rPr>
              <a:t>Amino Acid Synthesis</a:t>
            </a:r>
          </a:p>
        </p:txBody>
      </p:sp>
      <p:pic>
        <p:nvPicPr>
          <p:cNvPr id="39940" name="Picture 2" descr="Diagram&#10;&#10;Description automatically generated">
            <a:extLst>
              <a:ext uri="{FF2B5EF4-FFF2-40B4-BE49-F238E27FC236}">
                <a16:creationId xmlns:a16="http://schemas.microsoft.com/office/drawing/2014/main" id="{8694B46C-6C5B-035D-F396-B39D3262E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44475"/>
            <a:ext cx="5851525" cy="636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103234A7-8DF5-47BE-05C5-4A9D87EEBA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Transaminases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D9FDC374-8F91-E552-9709-A02302EF8F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All use vitamin B6</a:t>
            </a:r>
          </a:p>
          <a:p>
            <a:r>
              <a:rPr lang="en-US" altLang="en-US"/>
              <a:t>AST: one in cytoplasm, one in mitochondria</a:t>
            </a:r>
          </a:p>
          <a:p>
            <a:pPr lvl="1"/>
            <a:r>
              <a:rPr lang="en-US" altLang="en-US"/>
              <a:t>Does 50% in cytoplasm; does 10% in mitochondria</a:t>
            </a:r>
          </a:p>
          <a:p>
            <a:r>
              <a:rPr lang="en-US" altLang="en-US"/>
              <a:t>ALT: One in cytoplasm</a:t>
            </a:r>
          </a:p>
          <a:p>
            <a:pPr lvl="1"/>
            <a:r>
              <a:rPr lang="en-US" altLang="en-US"/>
              <a:t>Does 50% in cytoplasm</a:t>
            </a:r>
          </a:p>
          <a:p>
            <a:r>
              <a:rPr lang="en-US" altLang="en-US"/>
              <a:t>GGT: One in mitochondria</a:t>
            </a:r>
          </a:p>
          <a:p>
            <a:pPr lvl="1"/>
            <a:r>
              <a:rPr lang="en-US" altLang="en-US"/>
              <a:t>Does 90% in mitochondria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B66C12E7-09AA-9C50-9877-D531894C2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2870200"/>
            <a:ext cx="6889750" cy="1090613"/>
          </a:xfrm>
        </p:spPr>
        <p:txBody>
          <a:bodyPr/>
          <a:lstStyle/>
          <a:p>
            <a:r>
              <a:rPr lang="en-US" altLang="en-US" sz="6600"/>
              <a:t>GGT</a:t>
            </a:r>
          </a:p>
        </p:txBody>
      </p:sp>
      <p:sp>
        <p:nvSpPr>
          <p:cNvPr id="41987" name="Text Placeholder 2">
            <a:extLst>
              <a:ext uri="{FF2B5EF4-FFF2-40B4-BE49-F238E27FC236}">
                <a16:creationId xmlns:a16="http://schemas.microsoft.com/office/drawing/2014/main" id="{F05BA9BC-ED3D-4144-27F3-1E4F68618F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1813" y="4232275"/>
            <a:ext cx="6889750" cy="1703388"/>
          </a:xfrm>
        </p:spPr>
        <p:txBody>
          <a:bodyPr/>
          <a:lstStyle/>
          <a:p>
            <a:r>
              <a:rPr lang="en-US" altLang="en-US" b="1">
                <a:solidFill>
                  <a:schemeClr val="bg1"/>
                </a:solidFill>
              </a:rPr>
              <a:t>Amino acid + alpha ketoglutarate = glutamate + carbons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D553B0F6-02A9-291D-0001-4FBB95EAE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Where Amino Acids Are Made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6BAEFA4E-7D82-D497-3E0C-6E0B767752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Pyruvate</a:t>
            </a:r>
          </a:p>
          <a:p>
            <a:r>
              <a:rPr lang="en-US" altLang="en-US"/>
              <a:t>Acetyl-CoA</a:t>
            </a:r>
          </a:p>
          <a:p>
            <a:r>
              <a:rPr lang="en-US" altLang="en-US"/>
              <a:t>Alpha Ketoglutarate</a:t>
            </a:r>
          </a:p>
          <a:p>
            <a:r>
              <a:rPr lang="en-US" altLang="en-US"/>
              <a:t>Succinyl-CoA</a:t>
            </a:r>
          </a:p>
          <a:p>
            <a:r>
              <a:rPr lang="en-US" altLang="en-US"/>
              <a:t>Fumarate</a:t>
            </a:r>
          </a:p>
          <a:p>
            <a:r>
              <a:rPr lang="en-US" altLang="en-US"/>
              <a:t>Oxaloacetate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53BDE13C-9DAC-1BC5-40A1-586BC257F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Succinyl-CoA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DAC63D85-BB3D-E082-663D-9F3BF5ED40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Used to make ringed structures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652CA34E-9E1D-57C8-113C-0CD63D29D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Hepatitis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7A6B1819-B304-50D3-02E3-0C19CC5583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AST and ALT are one-to-one, except in alcohol</a:t>
            </a:r>
          </a:p>
          <a:p>
            <a:endParaRPr lang="en-US" altLang="en-US"/>
          </a:p>
          <a:p>
            <a:r>
              <a:rPr lang="en-US" altLang="en-US" b="1">
                <a:solidFill>
                  <a:schemeClr val="bg1"/>
                </a:solidFill>
              </a:rPr>
              <a:t>Alcohol liver damage</a:t>
            </a:r>
            <a:r>
              <a:rPr lang="en-US" altLang="en-US"/>
              <a:t>: AST/ALT ratio is 2 to 1 or GGT is elevated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587B513B-21C1-0B68-A24B-8AA0F0B77B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 Stop the TCA Cycle: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98501ED9-8288-D1C4-2E9C-5AA2BBD63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Too much NADH</a:t>
            </a:r>
          </a:p>
          <a:p>
            <a:r>
              <a:rPr lang="en-US" altLang="en-US"/>
              <a:t>Block three important enzymes:</a:t>
            </a:r>
          </a:p>
          <a:p>
            <a:pPr lvl="1"/>
            <a:r>
              <a:rPr lang="en-US" altLang="en-US"/>
              <a:t>Pyruvate Dehydrogenase</a:t>
            </a:r>
          </a:p>
          <a:p>
            <a:pPr lvl="1"/>
            <a:r>
              <a:rPr lang="en-US" altLang="en-US"/>
              <a:t>Isocitrate Dehydrogenase</a:t>
            </a:r>
          </a:p>
          <a:p>
            <a:pPr lvl="1"/>
            <a:r>
              <a:rPr lang="en-US" altLang="en-US"/>
              <a:t>Alpha Ketoglutarate dehydrogenase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F2430739-D62D-D486-CBDD-DE86FF8ECC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Citrate Shuttle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F1471492-1CCB-E2C8-5D70-ADA146F09F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Brings acetyl-CoA units out to the cytoplasm</a:t>
            </a:r>
          </a:p>
          <a:p>
            <a:r>
              <a:rPr lang="en-US" altLang="en-US"/>
              <a:t>Citrate:</a:t>
            </a:r>
          </a:p>
          <a:p>
            <a:pPr lvl="1"/>
            <a:r>
              <a:rPr lang="en-US" altLang="en-US"/>
              <a:t>Blocks PFK 1</a:t>
            </a:r>
          </a:p>
          <a:p>
            <a:pPr lvl="1"/>
            <a:r>
              <a:rPr lang="en-US" altLang="en-US"/>
              <a:t>Activates Acetyl-CoA carboxylase</a:t>
            </a:r>
          </a:p>
          <a:p>
            <a:pPr lvl="1"/>
            <a:r>
              <a:rPr lang="en-US" altLang="en-US"/>
              <a:t>Delivers Acetyl-CoA units to fatty acid synthesis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5A811-9EFA-835A-19C8-FC50283F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438400"/>
            <a:ext cx="8153400" cy="2590800"/>
          </a:xfrm>
        </p:spPr>
        <p:txBody>
          <a:bodyPr/>
          <a:lstStyle/>
          <a:p>
            <a:pPr algn="ctr">
              <a:defRPr/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AcCoA +ATP + CO2 = Malonyl-CoA AcCoA Carboxylase </a:t>
            </a:r>
            <a:br>
              <a:rPr lang="en-US" dirty="0">
                <a:latin typeface="Impact" panose="020B0806030902050204" pitchFamily="34" charset="0"/>
              </a:rPr>
            </a:br>
            <a:r>
              <a:rPr lang="en-US" dirty="0">
                <a:latin typeface="+mn-lt"/>
              </a:rPr>
              <a:t>This is done each round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DA2353A5-F6F2-9605-A1CB-3A1F3FD04B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 Make Palmitic Acid: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727EBBDC-E024-D4CF-C4FC-3D069DB328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How many rounds: #C/2 – 1</a:t>
            </a:r>
          </a:p>
          <a:p>
            <a:r>
              <a:rPr lang="en-US" altLang="en-US"/>
              <a:t>How many NADPHs: #C – 2</a:t>
            </a:r>
          </a:p>
          <a:p>
            <a:r>
              <a:rPr lang="en-US" altLang="en-US"/>
              <a:t>How many ATPs: #C - 1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786F5B02-10BE-E5D0-35B7-6AAE954C2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Pyruvate Carboxylase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BF0D5CE2-DA8B-EC14-D8E6-6510DCD94D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 b="1">
                <a:solidFill>
                  <a:schemeClr val="bg1"/>
                </a:solidFill>
              </a:rPr>
              <a:t>Anapleurotic</a:t>
            </a:r>
            <a:r>
              <a:rPr lang="en-US" altLang="en-US"/>
              <a:t> enzyme</a:t>
            </a:r>
          </a:p>
          <a:p>
            <a:pPr lvl="1"/>
            <a:r>
              <a:rPr lang="en-US" altLang="en-US"/>
              <a:t>Its product is an intermediate of TCA cycle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28">
            <a:extLst>
              <a:ext uri="{FF2B5EF4-FFF2-40B4-BE49-F238E27FC236}">
                <a16:creationId xmlns:a16="http://schemas.microsoft.com/office/drawing/2014/main" id="{03E74BEC-EA5C-62A8-F698-6309BB903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3700" y="6172200"/>
            <a:ext cx="3276600" cy="455613"/>
          </a:xfrm>
          <a:prstGeom prst="rect">
            <a:avLst/>
          </a:prstGeom>
          <a:solidFill>
            <a:schemeClr val="bg2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alt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Figure 6.6 Fatty Acid Synthesis</a:t>
            </a:r>
          </a:p>
        </p:txBody>
      </p:sp>
      <p:sp>
        <p:nvSpPr>
          <p:cNvPr id="51203" name="TextBox 8">
            <a:extLst>
              <a:ext uri="{FF2B5EF4-FFF2-40B4-BE49-F238E27FC236}">
                <a16:creationId xmlns:a16="http://schemas.microsoft.com/office/drawing/2014/main" id="{0F18161C-7A7F-D6AB-763B-6ACCAFE64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81000"/>
            <a:ext cx="449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</a:rPr>
              <a:t>Fatty Acid Synthesis</a:t>
            </a:r>
          </a:p>
        </p:txBody>
      </p:sp>
      <p:pic>
        <p:nvPicPr>
          <p:cNvPr id="51204" name="Picture 2" descr="Diagram&#10;&#10;Description automatically generated">
            <a:extLst>
              <a:ext uri="{FF2B5EF4-FFF2-40B4-BE49-F238E27FC236}">
                <a16:creationId xmlns:a16="http://schemas.microsoft.com/office/drawing/2014/main" id="{5363B2E8-F792-C925-D388-D4BDCA058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1160463"/>
            <a:ext cx="6638925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FFA4D43D-861F-98A4-A611-EEAB31299A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Fatty Acid Synthase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5A1D1B4C-4BCB-A04F-B522-41937F1678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largest quaternary enzyme ever discovered in biochemistry</a:t>
            </a:r>
          </a:p>
          <a:p>
            <a:r>
              <a:rPr lang="en-US" altLang="en-US"/>
              <a:t>Requires ten steps to complete reaction, but only four of them are important: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7330CA0C-B01B-F32D-CE06-E159C71FD2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1. Malonyl-CoA Attacks an Even Number of Carbons</a:t>
            </a:r>
          </a:p>
        </p:txBody>
      </p:sp>
      <p:sp>
        <p:nvSpPr>
          <p:cNvPr id="53251" name="TextBox 3">
            <a:extLst>
              <a:ext uri="{FF2B5EF4-FFF2-40B4-BE49-F238E27FC236}">
                <a16:creationId xmlns:a16="http://schemas.microsoft.com/office/drawing/2014/main" id="{75468874-14A6-DBDF-F05B-62D1D413E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743200"/>
            <a:ext cx="73914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rgbClr val="0070C0"/>
                </a:solidFill>
              </a:rPr>
              <a:t>O</a:t>
            </a:r>
            <a:r>
              <a:rPr lang="en-US" altLang="en-US" sz="3200"/>
              <a:t>	       O	      O				  O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rgbClr val="0070C0"/>
                </a:solidFill>
              </a:rPr>
              <a:t>C -</a:t>
            </a:r>
            <a:r>
              <a:rPr lang="en-US" altLang="en-US" sz="3200"/>
              <a:t> C – C – C – CSCoA + C – CSCoA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rgbClr val="0070C0"/>
                </a:solidFill>
              </a:rPr>
              <a:t>O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D0DB3B-E776-C060-A69B-FC7D027AD61A}"/>
              </a:ext>
            </a:extLst>
          </p:cNvPr>
          <p:cNvCxnSpPr>
            <a:cxnSpLocks/>
          </p:cNvCxnSpPr>
          <p:nvPr/>
        </p:nvCxnSpPr>
        <p:spPr>
          <a:xfrm>
            <a:off x="1219200" y="3429000"/>
            <a:ext cx="0" cy="3048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1AAE55-6DD1-CFCB-2AFD-0FED9C85F73D}"/>
              </a:ext>
            </a:extLst>
          </p:cNvPr>
          <p:cNvCxnSpPr>
            <a:cxnSpLocks/>
          </p:cNvCxnSpPr>
          <p:nvPr/>
        </p:nvCxnSpPr>
        <p:spPr>
          <a:xfrm>
            <a:off x="1371600" y="3429000"/>
            <a:ext cx="0" cy="3048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9D487D-006C-84C5-8D8B-4E7B3072C9BB}"/>
              </a:ext>
            </a:extLst>
          </p:cNvPr>
          <p:cNvCxnSpPr>
            <a:cxnSpLocks/>
          </p:cNvCxnSpPr>
          <p:nvPr/>
        </p:nvCxnSpPr>
        <p:spPr>
          <a:xfrm>
            <a:off x="1260475" y="4343400"/>
            <a:ext cx="0" cy="3048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9FC0AA-DC78-0749-1585-A20076F553B8}"/>
              </a:ext>
            </a:extLst>
          </p:cNvPr>
          <p:cNvCxnSpPr>
            <a:cxnSpLocks/>
          </p:cNvCxnSpPr>
          <p:nvPr/>
        </p:nvCxnSpPr>
        <p:spPr>
          <a:xfrm>
            <a:off x="2514600" y="3429000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AE2760-31FF-9DBB-6865-32DE8226026E}"/>
              </a:ext>
            </a:extLst>
          </p:cNvPr>
          <p:cNvCxnSpPr>
            <a:cxnSpLocks/>
          </p:cNvCxnSpPr>
          <p:nvPr/>
        </p:nvCxnSpPr>
        <p:spPr>
          <a:xfrm>
            <a:off x="2667000" y="3429000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760888-2B02-6017-98B1-7A47974F0B43}"/>
              </a:ext>
            </a:extLst>
          </p:cNvPr>
          <p:cNvCxnSpPr>
            <a:cxnSpLocks/>
          </p:cNvCxnSpPr>
          <p:nvPr/>
        </p:nvCxnSpPr>
        <p:spPr>
          <a:xfrm>
            <a:off x="3810000" y="3429000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7C50B99-96DA-3E22-BD92-D5065CE24B07}"/>
              </a:ext>
            </a:extLst>
          </p:cNvPr>
          <p:cNvCxnSpPr>
            <a:cxnSpLocks/>
          </p:cNvCxnSpPr>
          <p:nvPr/>
        </p:nvCxnSpPr>
        <p:spPr>
          <a:xfrm>
            <a:off x="3962400" y="3429000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67F7F3-9D50-6182-9AE1-4070C9A79F1D}"/>
              </a:ext>
            </a:extLst>
          </p:cNvPr>
          <p:cNvCxnSpPr>
            <a:cxnSpLocks/>
          </p:cNvCxnSpPr>
          <p:nvPr/>
        </p:nvCxnSpPr>
        <p:spPr>
          <a:xfrm>
            <a:off x="6019800" y="3429000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28B593-935A-3026-3A6C-05680FA82981}"/>
              </a:ext>
            </a:extLst>
          </p:cNvPr>
          <p:cNvCxnSpPr>
            <a:cxnSpLocks/>
          </p:cNvCxnSpPr>
          <p:nvPr/>
        </p:nvCxnSpPr>
        <p:spPr>
          <a:xfrm>
            <a:off x="6172200" y="3429000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20C524F3-8C0C-98B6-518F-FC66908CC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2. Decarboxylation</a:t>
            </a:r>
          </a:p>
        </p:txBody>
      </p:sp>
      <p:sp>
        <p:nvSpPr>
          <p:cNvPr id="54275" name="TextBox 3">
            <a:extLst>
              <a:ext uri="{FF2B5EF4-FFF2-40B4-BE49-F238E27FC236}">
                <a16:creationId xmlns:a16="http://schemas.microsoft.com/office/drawing/2014/main" id="{D7AE0E3A-47D7-D091-5E71-0D18EF978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0"/>
            <a:ext cx="4700588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rgbClr val="0070C0"/>
                </a:solidFill>
              </a:rPr>
              <a:t>O</a:t>
            </a:r>
            <a:r>
              <a:rPr lang="en-US" altLang="en-US" sz="3200"/>
              <a:t>	       O	      O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rgbClr val="0070C0"/>
                </a:solidFill>
              </a:rPr>
              <a:t>C -</a:t>
            </a:r>
            <a:r>
              <a:rPr lang="en-US" altLang="en-US" sz="3200"/>
              <a:t> C – C – C - CSCoA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rgbClr val="0070C0"/>
                </a:solidFill>
              </a:rPr>
              <a:t>O	</a:t>
            </a:r>
            <a:r>
              <a:rPr lang="en-US" altLang="en-US" sz="3200"/>
              <a:t>			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/>
              <a:t>			    O	 		   O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rgbClr val="0070C0"/>
                </a:solidFill>
              </a:rPr>
              <a:t>CO</a:t>
            </a:r>
            <a:r>
              <a:rPr lang="en-US" altLang="en-US" sz="3200" baseline="-25000">
                <a:solidFill>
                  <a:srgbClr val="0070C0"/>
                </a:solidFill>
              </a:rPr>
              <a:t>2</a:t>
            </a:r>
            <a:r>
              <a:rPr lang="en-US" altLang="en-US" sz="3200"/>
              <a:t> </a:t>
            </a:r>
            <a:r>
              <a:rPr lang="en-US" altLang="en-US" sz="3200">
                <a:solidFill>
                  <a:srgbClr val="0070C0"/>
                </a:solidFill>
              </a:rPr>
              <a:t>+</a:t>
            </a:r>
            <a:r>
              <a:rPr lang="en-US" altLang="en-US" sz="3200"/>
              <a:t> C - C – C – CSCoA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/>
              <a:t>			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243C40-DB2D-7151-EB4B-343CA3D70240}"/>
              </a:ext>
            </a:extLst>
          </p:cNvPr>
          <p:cNvCxnSpPr>
            <a:cxnSpLocks/>
          </p:cNvCxnSpPr>
          <p:nvPr/>
        </p:nvCxnSpPr>
        <p:spPr>
          <a:xfrm>
            <a:off x="1676400" y="2895600"/>
            <a:ext cx="0" cy="3048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3ADCBC-D433-D679-9261-03E34CCA96ED}"/>
              </a:ext>
            </a:extLst>
          </p:cNvPr>
          <p:cNvCxnSpPr>
            <a:cxnSpLocks/>
          </p:cNvCxnSpPr>
          <p:nvPr/>
        </p:nvCxnSpPr>
        <p:spPr>
          <a:xfrm>
            <a:off x="1828800" y="2895600"/>
            <a:ext cx="0" cy="3048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3B154D-1EE5-7E79-70C1-AADCCA301371}"/>
              </a:ext>
            </a:extLst>
          </p:cNvPr>
          <p:cNvCxnSpPr>
            <a:cxnSpLocks/>
          </p:cNvCxnSpPr>
          <p:nvPr/>
        </p:nvCxnSpPr>
        <p:spPr>
          <a:xfrm>
            <a:off x="2971800" y="2909888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A327F9-3493-B299-9E20-31E6AFBDAB56}"/>
              </a:ext>
            </a:extLst>
          </p:cNvPr>
          <p:cNvCxnSpPr>
            <a:cxnSpLocks/>
          </p:cNvCxnSpPr>
          <p:nvPr/>
        </p:nvCxnSpPr>
        <p:spPr>
          <a:xfrm>
            <a:off x="3124200" y="2909888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22B365-FC6B-3BDD-E734-DD0E6659E88A}"/>
              </a:ext>
            </a:extLst>
          </p:cNvPr>
          <p:cNvCxnSpPr>
            <a:cxnSpLocks/>
          </p:cNvCxnSpPr>
          <p:nvPr/>
        </p:nvCxnSpPr>
        <p:spPr>
          <a:xfrm>
            <a:off x="4191000" y="2895600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771FFE-708F-54B4-B4B1-AEC2E66030BB}"/>
              </a:ext>
            </a:extLst>
          </p:cNvPr>
          <p:cNvCxnSpPr>
            <a:cxnSpLocks/>
          </p:cNvCxnSpPr>
          <p:nvPr/>
        </p:nvCxnSpPr>
        <p:spPr>
          <a:xfrm>
            <a:off x="4343400" y="2895600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57A49F-796F-848F-AF88-EEED7BE6D396}"/>
              </a:ext>
            </a:extLst>
          </p:cNvPr>
          <p:cNvCxnSpPr>
            <a:cxnSpLocks/>
          </p:cNvCxnSpPr>
          <p:nvPr/>
        </p:nvCxnSpPr>
        <p:spPr>
          <a:xfrm>
            <a:off x="1752600" y="3886200"/>
            <a:ext cx="0" cy="3048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BF43FE-19EF-9A94-4F8D-A880B16434E6}"/>
              </a:ext>
            </a:extLst>
          </p:cNvPr>
          <p:cNvCxnSpPr/>
          <p:nvPr/>
        </p:nvCxnSpPr>
        <p:spPr>
          <a:xfrm>
            <a:off x="2971800" y="4191000"/>
            <a:ext cx="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340BBF-0658-5E0D-0A14-B5735B239F2D}"/>
              </a:ext>
            </a:extLst>
          </p:cNvPr>
          <p:cNvCxnSpPr>
            <a:cxnSpLocks/>
          </p:cNvCxnSpPr>
          <p:nvPr/>
        </p:nvCxnSpPr>
        <p:spPr>
          <a:xfrm>
            <a:off x="3505200" y="5332413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9DC327-987A-AD27-1D63-EC43BD9290A6}"/>
              </a:ext>
            </a:extLst>
          </p:cNvPr>
          <p:cNvCxnSpPr>
            <a:cxnSpLocks/>
          </p:cNvCxnSpPr>
          <p:nvPr/>
        </p:nvCxnSpPr>
        <p:spPr>
          <a:xfrm>
            <a:off x="3657600" y="5332413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F4C5B89-A9B1-59B8-587F-24C8DE233E67}"/>
              </a:ext>
            </a:extLst>
          </p:cNvPr>
          <p:cNvCxnSpPr>
            <a:cxnSpLocks/>
          </p:cNvCxnSpPr>
          <p:nvPr/>
        </p:nvCxnSpPr>
        <p:spPr>
          <a:xfrm>
            <a:off x="5257800" y="5316538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5BACEA-43F4-0AFF-5A3E-EC2E06DFE305}"/>
              </a:ext>
            </a:extLst>
          </p:cNvPr>
          <p:cNvCxnSpPr>
            <a:cxnSpLocks/>
          </p:cNvCxnSpPr>
          <p:nvPr/>
        </p:nvCxnSpPr>
        <p:spPr>
          <a:xfrm>
            <a:off x="5410200" y="5316538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3ADA26ED-C8F2-2E93-7A57-438EEE35A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3 &amp; 4. Add Protons to Inside Ketone</a:t>
            </a:r>
          </a:p>
        </p:txBody>
      </p:sp>
      <p:sp>
        <p:nvSpPr>
          <p:cNvPr id="55299" name="TextBox 2">
            <a:extLst>
              <a:ext uri="{FF2B5EF4-FFF2-40B4-BE49-F238E27FC236}">
                <a16:creationId xmlns:a16="http://schemas.microsoft.com/office/drawing/2014/main" id="{E418F5A2-EB3B-BA56-A6F6-FE98101A4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9900" y="2403475"/>
            <a:ext cx="37338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/>
              <a:t>   </a:t>
            </a:r>
            <a:r>
              <a:rPr lang="en-US" altLang="en-US" sz="3200">
                <a:solidFill>
                  <a:srgbClr val="0070C0"/>
                </a:solidFill>
              </a:rPr>
              <a:t>H</a:t>
            </a:r>
            <a:r>
              <a:rPr lang="en-US" altLang="en-US" sz="3200"/>
              <a:t>O</a:t>
            </a:r>
            <a:r>
              <a:rPr lang="en-US" altLang="en-US" sz="3200">
                <a:solidFill>
                  <a:srgbClr val="0070C0"/>
                </a:solidFill>
              </a:rPr>
              <a:t>H</a:t>
            </a:r>
            <a:r>
              <a:rPr lang="en-US" altLang="en-US" sz="3200"/>
              <a:t>	    O	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/>
              <a:t>C - C – C – CSCoA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/>
              <a:t>				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/>
              <a:t>				 O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32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/>
              <a:t>C - C – C – CSCoA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/>
              <a:t>			</a:t>
            </a:r>
            <a:r>
              <a:rPr lang="en-US" altLang="en-US" sz="3200">
                <a:solidFill>
                  <a:srgbClr val="0070C0"/>
                </a:solidFill>
              </a:rPr>
              <a:t>+</a:t>
            </a:r>
            <a:r>
              <a:rPr lang="en-US" altLang="en-US" sz="3200"/>
              <a:t>	</a:t>
            </a:r>
            <a:r>
              <a:rPr lang="en-US" altLang="en-US" sz="3200">
                <a:solidFill>
                  <a:srgbClr val="0070C0"/>
                </a:solidFill>
              </a:rPr>
              <a:t>H</a:t>
            </a:r>
            <a:r>
              <a:rPr lang="en-US" altLang="en-US" sz="3200" baseline="-25000">
                <a:solidFill>
                  <a:srgbClr val="0070C0"/>
                </a:solidFill>
              </a:rPr>
              <a:t>2</a:t>
            </a:r>
            <a:r>
              <a:rPr lang="en-US" altLang="en-US" sz="3200"/>
              <a:t>O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32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02835E-657F-11E4-B0F0-A8C445CAB0E7}"/>
              </a:ext>
            </a:extLst>
          </p:cNvPr>
          <p:cNvCxnSpPr>
            <a:cxnSpLocks/>
          </p:cNvCxnSpPr>
          <p:nvPr/>
        </p:nvCxnSpPr>
        <p:spPr>
          <a:xfrm>
            <a:off x="3810000" y="3059113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751954-49B2-6636-0013-FC94F9604885}"/>
              </a:ext>
            </a:extLst>
          </p:cNvPr>
          <p:cNvCxnSpPr>
            <a:cxnSpLocks/>
          </p:cNvCxnSpPr>
          <p:nvPr/>
        </p:nvCxnSpPr>
        <p:spPr>
          <a:xfrm>
            <a:off x="3886200" y="3062288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28DF64-C1CB-0CA4-703D-79C6B5603F3F}"/>
              </a:ext>
            </a:extLst>
          </p:cNvPr>
          <p:cNvCxnSpPr>
            <a:cxnSpLocks/>
          </p:cNvCxnSpPr>
          <p:nvPr/>
        </p:nvCxnSpPr>
        <p:spPr>
          <a:xfrm>
            <a:off x="5105400" y="3059113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F94E60C-1450-8538-6576-049627D84BBA}"/>
              </a:ext>
            </a:extLst>
          </p:cNvPr>
          <p:cNvCxnSpPr>
            <a:cxnSpLocks/>
          </p:cNvCxnSpPr>
          <p:nvPr/>
        </p:nvCxnSpPr>
        <p:spPr>
          <a:xfrm>
            <a:off x="5029200" y="3059113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665A536-1681-F08F-FC9B-96CE7A1126E1}"/>
              </a:ext>
            </a:extLst>
          </p:cNvPr>
          <p:cNvCxnSpPr/>
          <p:nvPr/>
        </p:nvCxnSpPr>
        <p:spPr>
          <a:xfrm>
            <a:off x="3824288" y="4419600"/>
            <a:ext cx="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B7C009C-AD79-64A0-1074-8B98AF9E51B6}"/>
              </a:ext>
            </a:extLst>
          </p:cNvPr>
          <p:cNvCxnSpPr>
            <a:cxnSpLocks/>
          </p:cNvCxnSpPr>
          <p:nvPr/>
        </p:nvCxnSpPr>
        <p:spPr>
          <a:xfrm>
            <a:off x="5105400" y="4953000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A5D310B-A0CC-BEA3-228B-57E9651163BA}"/>
              </a:ext>
            </a:extLst>
          </p:cNvPr>
          <p:cNvCxnSpPr>
            <a:cxnSpLocks/>
          </p:cNvCxnSpPr>
          <p:nvPr/>
        </p:nvCxnSpPr>
        <p:spPr>
          <a:xfrm>
            <a:off x="5181600" y="4953000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AC6F67B-4831-085C-457E-528B160C42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latin typeface="+mn-lt"/>
              </a:rPr>
              <a:t>Palmitic Acid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AE2DD67-72D1-D9E3-46CA-826071D11D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main fatty acid that we make every day</a:t>
            </a:r>
          </a:p>
          <a:p>
            <a:pPr eaLnBrk="1" hangingPunct="1">
              <a:defRPr/>
            </a:pPr>
            <a:r>
              <a:rPr lang="en-US" altLang="en-US" b="1" dirty="0">
                <a:solidFill>
                  <a:schemeClr val="bg1"/>
                </a:solidFill>
              </a:rPr>
              <a:t>Saturated FA</a:t>
            </a:r>
            <a:r>
              <a:rPr lang="en-US" altLang="en-US" dirty="0"/>
              <a:t>: No double bonds</a:t>
            </a:r>
          </a:p>
          <a:p>
            <a:pPr eaLnBrk="1" hangingPunct="1">
              <a:defRPr/>
            </a:pPr>
            <a:r>
              <a:rPr lang="en-US" altLang="en-US" b="1" dirty="0">
                <a:solidFill>
                  <a:schemeClr val="bg1"/>
                </a:solidFill>
              </a:rPr>
              <a:t>Unsaturated FA</a:t>
            </a:r>
            <a:r>
              <a:rPr lang="en-US" altLang="en-US" dirty="0"/>
              <a:t>: has double bonds</a:t>
            </a:r>
          </a:p>
          <a:p>
            <a:pPr eaLnBrk="1" hangingPunct="1">
              <a:defRPr/>
            </a:pPr>
            <a:r>
              <a:rPr lang="en-US" altLang="en-US" b="1" dirty="0">
                <a:solidFill>
                  <a:schemeClr val="bg1"/>
                </a:solidFill>
              </a:rPr>
              <a:t>Omega FA</a:t>
            </a:r>
            <a:r>
              <a:rPr lang="en-US" altLang="en-US" dirty="0"/>
              <a:t>: counting carbons from the right side</a:t>
            </a:r>
          </a:p>
          <a:p>
            <a:pPr lvl="1" eaLnBrk="1" hangingPunct="1">
              <a:defRPr/>
            </a:pPr>
            <a:r>
              <a:rPr lang="en-US" altLang="en-US" dirty="0"/>
              <a:t>Omega 3 FA: Decreases serum cholesterol</a:t>
            </a:r>
          </a:p>
          <a:p>
            <a:pPr lvl="1" eaLnBrk="1" hangingPunct="1">
              <a:defRPr/>
            </a:pPr>
            <a:r>
              <a:rPr lang="en-US" altLang="en-US" dirty="0"/>
              <a:t>Policosanol</a:t>
            </a:r>
            <a:endParaRPr lang="en-US" alt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4B16F97-17E7-6780-1BEE-598E81F345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latin typeface="+mn-lt"/>
              </a:rPr>
              <a:t>Rules for Fatty Acids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F76B647-A8B4-A508-6A24-CAA067B651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2336800"/>
            <a:ext cx="6888163" cy="3911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We do NOT go beyond C-16</a:t>
            </a:r>
          </a:p>
          <a:p>
            <a:pPr eaLnBrk="1" hangingPunct="1">
              <a:defRPr/>
            </a:pPr>
            <a:r>
              <a:rPr lang="en-US" altLang="en-US" dirty="0"/>
              <a:t>Double bonds must be at least 3 carbons apart</a:t>
            </a:r>
          </a:p>
          <a:p>
            <a:pPr eaLnBrk="1" hangingPunct="1">
              <a:defRPr/>
            </a:pPr>
            <a:r>
              <a:rPr lang="en-US" altLang="en-US" dirty="0"/>
              <a:t>NO double bonds after C-10 </a:t>
            </a:r>
          </a:p>
          <a:p>
            <a:pPr eaLnBrk="1" hangingPunct="1">
              <a:defRPr/>
            </a:pPr>
            <a:endParaRPr lang="en-US" altLang="en-US" dirty="0"/>
          </a:p>
          <a:p>
            <a:pPr marL="0" indent="0" algn="ctr" eaLnBrk="1" hangingPunct="1">
              <a:buFont typeface="Arial" panose="020B0604020202020204" pitchFamily="34" charset="0"/>
              <a:buNone/>
              <a:defRPr/>
            </a:pPr>
            <a:r>
              <a:rPr lang="en-US" altLang="en-US" dirty="0"/>
              <a:t>C</a:t>
            </a:r>
            <a:r>
              <a:rPr lang="en-US" altLang="en-US" baseline="-25000" dirty="0"/>
              <a:t>16</a:t>
            </a:r>
            <a:r>
              <a:rPr lang="en-US" altLang="en-US" dirty="0"/>
              <a:t> 2(1,10)</a:t>
            </a:r>
          </a:p>
          <a:p>
            <a:pPr marL="0" indent="0" algn="ctr" eaLnBrk="1" hangingPunct="1">
              <a:buFont typeface="Arial" panose="020B0604020202020204" pitchFamily="34" charset="0"/>
              <a:buNone/>
              <a:defRPr/>
            </a:pPr>
            <a:endParaRPr lang="en-US" altLang="en-US" dirty="0"/>
          </a:p>
          <a:p>
            <a:pPr marL="0" indent="0" algn="ctr" eaLnBrk="1" hangingPunct="1">
              <a:buFont typeface="Arial" panose="020B0604020202020204" pitchFamily="34" charset="0"/>
              <a:buNone/>
              <a:defRPr/>
            </a:pPr>
            <a:r>
              <a:rPr lang="en-US" altLang="en-US" dirty="0"/>
              <a:t>C = C-C-C-C-C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5172130-8853-044D-8B0F-895613DFCE69}"/>
              </a:ext>
            </a:extLst>
          </p:cNvPr>
          <p:cNvCxnSpPr/>
          <p:nvPr/>
        </p:nvCxnSpPr>
        <p:spPr>
          <a:xfrm flipV="1">
            <a:off x="3657600" y="5486400"/>
            <a:ext cx="0" cy="31432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45F4B8A-3947-D34F-7E87-C180E2C3A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latin typeface="+mn-lt"/>
              </a:rPr>
              <a:t>Essential Fatty Acids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D325F598-0CBB-CD59-7C59-C7BA10741C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Linolenic </a:t>
            </a:r>
          </a:p>
          <a:p>
            <a:pPr eaLnBrk="1" hangingPunct="1">
              <a:defRPr/>
            </a:pPr>
            <a:r>
              <a:rPr lang="en-US" altLang="en-US" dirty="0"/>
              <a:t>Linoleic (used to make arachidonic acid)</a:t>
            </a:r>
          </a:p>
          <a:p>
            <a:pPr eaLnBrk="1" hangingPunct="1">
              <a:defRPr/>
            </a:pPr>
            <a:r>
              <a:rPr lang="en-US" altLang="en-US" dirty="0"/>
              <a:t>Come ONLY from the diet</a:t>
            </a:r>
          </a:p>
          <a:p>
            <a:pPr eaLnBrk="1" hangingPunct="1">
              <a:defRPr/>
            </a:pPr>
            <a:r>
              <a:rPr lang="en-US" altLang="en-US" dirty="0"/>
              <a:t>Your body can not make these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92467A7-3DAF-11DC-A8CD-65A37E2107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52475"/>
            <a:ext cx="6888163" cy="10810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latin typeface="+mn-lt"/>
              </a:rPr>
              <a:t>Arachidonic Acid</a:t>
            </a:r>
          </a:p>
        </p:txBody>
      </p:sp>
      <p:sp>
        <p:nvSpPr>
          <p:cNvPr id="59395" name="Content Placeholder 1">
            <a:extLst>
              <a:ext uri="{FF2B5EF4-FFF2-40B4-BE49-F238E27FC236}">
                <a16:creationId xmlns:a16="http://schemas.microsoft.com/office/drawing/2014/main" id="{15C731DF-EAED-375D-8FB8-2F60582B3AF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33400" y="2336800"/>
            <a:ext cx="3357563" cy="359886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/>
              <a:t>Cyclooxygenase</a:t>
            </a:r>
          </a:p>
          <a:p>
            <a:pPr lvl="1"/>
            <a:r>
              <a:rPr lang="en-US" altLang="en-US"/>
              <a:t>PGA</a:t>
            </a:r>
            <a:r>
              <a:rPr lang="en-US" altLang="en-US" baseline="-25000"/>
              <a:t>2</a:t>
            </a:r>
          </a:p>
          <a:p>
            <a:pPr lvl="1"/>
            <a:r>
              <a:rPr lang="en-US" altLang="en-US"/>
              <a:t>PGE</a:t>
            </a:r>
            <a:r>
              <a:rPr lang="en-US" altLang="en-US" baseline="-25000"/>
              <a:t>2</a:t>
            </a:r>
          </a:p>
          <a:p>
            <a:pPr lvl="1"/>
            <a:r>
              <a:rPr lang="en-US" altLang="en-US"/>
              <a:t>PG1</a:t>
            </a:r>
            <a:r>
              <a:rPr lang="en-US" altLang="en-US" baseline="-25000"/>
              <a:t>2</a:t>
            </a:r>
          </a:p>
          <a:p>
            <a:pPr lvl="1"/>
            <a:r>
              <a:rPr lang="en-US" altLang="en-US"/>
              <a:t>PGF</a:t>
            </a:r>
            <a:r>
              <a:rPr lang="en-US" altLang="en-US" baseline="-25000"/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95C51-EB99-0826-3E40-95ED9A2E1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60825" y="2336800"/>
            <a:ext cx="3360738" cy="359886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Lipoxygenase</a:t>
            </a:r>
          </a:p>
          <a:p>
            <a:pPr lvl="1">
              <a:defRPr/>
            </a:pPr>
            <a:r>
              <a:rPr lang="en-US" dirty="0"/>
              <a:t>LTB</a:t>
            </a:r>
            <a:r>
              <a:rPr lang="en-US" baseline="-25000" dirty="0"/>
              <a:t>4</a:t>
            </a:r>
            <a:endParaRPr lang="en-US" dirty="0"/>
          </a:p>
          <a:p>
            <a:pPr lvl="1">
              <a:defRPr/>
            </a:pPr>
            <a:r>
              <a:rPr lang="en-US" dirty="0"/>
              <a:t>LTC</a:t>
            </a:r>
            <a:r>
              <a:rPr lang="en-US" baseline="-25000" dirty="0"/>
              <a:t>4</a:t>
            </a:r>
            <a:r>
              <a:rPr lang="en-US" dirty="0"/>
              <a:t>D</a:t>
            </a:r>
            <a:r>
              <a:rPr lang="en-US" baseline="-25000" dirty="0"/>
              <a:t>4</a:t>
            </a:r>
            <a:r>
              <a:rPr lang="en-US" dirty="0"/>
              <a:t>E</a:t>
            </a:r>
            <a:r>
              <a:rPr lang="en-US" baseline="-25000" dirty="0"/>
              <a:t>4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/>
              <a:t>	(SRS-A)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2A5E9D36-11BF-D5F9-D905-422363DEB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52475"/>
            <a:ext cx="6888163" cy="1081088"/>
          </a:xfrm>
        </p:spPr>
        <p:txBody>
          <a:bodyPr/>
          <a:lstStyle/>
          <a:p>
            <a:r>
              <a:rPr lang="en-US" altLang="en-US"/>
              <a:t>From Arachidonic Acid: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2FB6A958-F58C-AF0E-2893-F869E6C700D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33400" y="2336800"/>
            <a:ext cx="3357563" cy="3598863"/>
          </a:xfrm>
        </p:spPr>
        <p:txBody>
          <a:bodyPr/>
          <a:lstStyle/>
          <a:p>
            <a:r>
              <a:rPr lang="en-US" altLang="en-US" b="1">
                <a:solidFill>
                  <a:schemeClr val="bg1"/>
                </a:solidFill>
              </a:rPr>
              <a:t>Cyclooxygenase:</a:t>
            </a:r>
          </a:p>
          <a:p>
            <a:pPr lvl="1"/>
            <a:r>
              <a:rPr lang="en-US" altLang="en-US"/>
              <a:t>COX 1 and COX 2</a:t>
            </a:r>
          </a:p>
          <a:p>
            <a:pPr lvl="1"/>
            <a:r>
              <a:rPr lang="en-US" altLang="en-US"/>
              <a:t>Makes prostaglandins</a:t>
            </a:r>
          </a:p>
        </p:txBody>
      </p:sp>
      <p:sp>
        <p:nvSpPr>
          <p:cNvPr id="60420" name="Content Placeholder 3">
            <a:extLst>
              <a:ext uri="{FF2B5EF4-FFF2-40B4-BE49-F238E27FC236}">
                <a16:creationId xmlns:a16="http://schemas.microsoft.com/office/drawing/2014/main" id="{1E5FB56F-5581-9C75-D3C4-17CB0EC5539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060825" y="2336800"/>
            <a:ext cx="3360738" cy="3598863"/>
          </a:xfrm>
        </p:spPr>
        <p:txBody>
          <a:bodyPr/>
          <a:lstStyle/>
          <a:p>
            <a:r>
              <a:rPr lang="en-US" altLang="en-US" b="1">
                <a:solidFill>
                  <a:schemeClr val="bg1"/>
                </a:solidFill>
              </a:rPr>
              <a:t>Lipoxygenase</a:t>
            </a:r>
            <a:r>
              <a:rPr lang="en-US" altLang="en-US"/>
              <a:t>:</a:t>
            </a:r>
          </a:p>
          <a:p>
            <a:pPr lvl="1"/>
            <a:r>
              <a:rPr lang="en-US" altLang="en-US"/>
              <a:t>Makes leukotrienes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28">
            <a:extLst>
              <a:ext uri="{FF2B5EF4-FFF2-40B4-BE49-F238E27FC236}">
                <a16:creationId xmlns:a16="http://schemas.microsoft.com/office/drawing/2014/main" id="{8CA397FA-88F7-6CD4-C38D-695D01AC0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0" y="6045200"/>
            <a:ext cx="3683000" cy="303213"/>
          </a:xfrm>
          <a:prstGeom prst="rect">
            <a:avLst/>
          </a:prstGeom>
          <a:solidFill>
            <a:schemeClr val="bg2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alt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Figure 6.9 Arachidonic Acid Pathway </a:t>
            </a:r>
          </a:p>
        </p:txBody>
      </p:sp>
      <p:sp>
        <p:nvSpPr>
          <p:cNvPr id="61443" name="TextBox 8">
            <a:extLst>
              <a:ext uri="{FF2B5EF4-FFF2-40B4-BE49-F238E27FC236}">
                <a16:creationId xmlns:a16="http://schemas.microsoft.com/office/drawing/2014/main" id="{08B817A1-D509-5039-8A37-209133440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228600"/>
            <a:ext cx="368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</a:rPr>
              <a:t>Arachidonic Acid</a:t>
            </a:r>
          </a:p>
        </p:txBody>
      </p:sp>
      <p:pic>
        <p:nvPicPr>
          <p:cNvPr id="61444" name="Picture 6" descr="Diagram&#10;&#10;Description automatically generated">
            <a:extLst>
              <a:ext uri="{FF2B5EF4-FFF2-40B4-BE49-F238E27FC236}">
                <a16:creationId xmlns:a16="http://schemas.microsoft.com/office/drawing/2014/main" id="{E95B50D6-FB4D-4B77-67D9-C2B6D0A8D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38" y="1001713"/>
            <a:ext cx="7350125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17453D6A-259F-01CA-A8C6-2B0CEE3F5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Steroid Use in Asthma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0B65D6C9-AEB9-ED53-541B-C9E1D85690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Decreased deaths</a:t>
            </a:r>
          </a:p>
          <a:p>
            <a:r>
              <a:rPr lang="en-US" altLang="en-US"/>
              <a:t>Decreased hospitalizations</a:t>
            </a:r>
          </a:p>
          <a:p>
            <a:r>
              <a:rPr lang="en-US" altLang="en-US"/>
              <a:t>Decreased oxygen use</a:t>
            </a:r>
          </a:p>
          <a:p>
            <a:r>
              <a:rPr lang="en-US" altLang="en-US"/>
              <a:t>Decreased ICU use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4F25AF03-E350-363C-1FA2-23209E49D9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Aspirin-Sensitive Asthma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AF064534-3286-30B1-BCC9-10669087FA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Blocking COX shunts intermediates towards Lipoxygenase</a:t>
            </a:r>
          </a:p>
          <a:p>
            <a:r>
              <a:rPr lang="en-US" altLang="en-US"/>
              <a:t>Leukotrienes are more severe bronchoconstrictors</a:t>
            </a:r>
          </a:p>
          <a:p>
            <a:endParaRPr lang="en-US" altLang="en-US"/>
          </a:p>
          <a:p>
            <a:r>
              <a:rPr lang="en-US" altLang="en-US"/>
              <a:t>Patient has nasal polyps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A5A7C243-B858-3A76-EFB0-AFD4CC7C4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752475"/>
            <a:ext cx="7046913" cy="1081088"/>
          </a:xfrm>
        </p:spPr>
        <p:txBody>
          <a:bodyPr/>
          <a:lstStyle/>
          <a:p>
            <a:r>
              <a:rPr lang="en-US" altLang="en-US"/>
              <a:t>SRS-A (Slow Reacting Substance of Anaphylaxis)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905F2A72-D1D5-07B6-7E09-2F3769E8C5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LT C4,D4,E4</a:t>
            </a:r>
          </a:p>
          <a:p>
            <a:r>
              <a:rPr lang="en-US" altLang="en-US"/>
              <a:t>Produced by mast cells </a:t>
            </a:r>
          </a:p>
          <a:p>
            <a:r>
              <a:rPr lang="en-US" altLang="en-US"/>
              <a:t>Released 4 to 8 hours after initial allergic response</a:t>
            </a:r>
          </a:p>
          <a:p>
            <a:r>
              <a:rPr lang="en-US" altLang="en-US"/>
              <a:t>A potent Broncho(Vaso)constrictor</a:t>
            </a:r>
          </a:p>
          <a:p>
            <a:r>
              <a:rPr lang="en-US" altLang="en-US"/>
              <a:t>Destroyed by </a:t>
            </a:r>
            <a:r>
              <a:rPr lang="en-US" altLang="en-US" b="1"/>
              <a:t>Arylsulfatase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A11A440E-7D30-1D27-35E7-147D0EF91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Metachromatic Leukodystrophy</a:t>
            </a: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68BCFACE-4F1A-4AF1-1630-EAB0FF9329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Arylsulfatase deficiency</a:t>
            </a:r>
          </a:p>
          <a:p>
            <a:r>
              <a:rPr lang="en-US" altLang="en-US"/>
              <a:t>Multiple sclerosis equivalent in a 5 to 10 y/o child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62FCEE79-9F1F-137A-3C68-868658DDE7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LT B4</a:t>
            </a:r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EE95D74E-788F-9BC4-B965-DD2D99D6BE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Strong chemoattractant for neutrophils</a:t>
            </a:r>
          </a:p>
          <a:p>
            <a:r>
              <a:rPr lang="en-US" altLang="en-US"/>
              <a:t>IL 8 also</a:t>
            </a:r>
          </a:p>
          <a:p>
            <a:r>
              <a:rPr lang="en-US" altLang="en-US"/>
              <a:t>Minor players: C3a and C5a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66A5FC86-FA2F-970B-B15F-69B6448ACB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Thromboxane (PG A2)</a:t>
            </a:r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C0984557-58CF-CF73-C057-B0AEA0AAAD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Vasoconstricts</a:t>
            </a:r>
          </a:p>
          <a:p>
            <a:r>
              <a:rPr lang="en-US" altLang="en-US"/>
              <a:t>Decreased platelet aggregation</a:t>
            </a:r>
          </a:p>
          <a:p>
            <a:r>
              <a:rPr lang="en-US" altLang="en-US"/>
              <a:t>This is the target of Aspirin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01BCE018-1571-4F26-1199-D7238C2275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PG E-2 (E-1)</a:t>
            </a:r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D31B45CA-C574-6A21-C13F-111EDF4298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Vasodilates: 80%    Vasoconstricts: 20%</a:t>
            </a:r>
          </a:p>
          <a:p>
            <a:r>
              <a:rPr lang="en-US" altLang="en-US"/>
              <a:t>Keeps PDA open</a:t>
            </a:r>
          </a:p>
          <a:p>
            <a:r>
              <a:rPr lang="en-US" altLang="en-US"/>
              <a:t>Maintains stomach protection</a:t>
            </a:r>
          </a:p>
          <a:p>
            <a:r>
              <a:rPr lang="en-US" altLang="en-US"/>
              <a:t>Dilates the renal afferent arteriole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62AEA766-61F5-4883-3B29-D075CCFBEB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PDA</a:t>
            </a:r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9753BC62-286A-B394-F650-1021D39EE4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bg1"/>
                </a:solidFill>
              </a:rPr>
              <a:t>Alprostadil</a:t>
            </a:r>
            <a:r>
              <a:rPr lang="en-US" altLang="en-US"/>
              <a:t> (PG E analogue) opens the PDA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Indomethacin </a:t>
            </a:r>
            <a:r>
              <a:rPr lang="en-US" altLang="en-US"/>
              <a:t>closes the PDA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BE256D2F-8AD9-2E95-981C-12B3DDB3C8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Aspirin/NSAID Induced Ulcers</a:t>
            </a:r>
          </a:p>
        </p:txBody>
      </p:sp>
      <p:sp>
        <p:nvSpPr>
          <p:cNvPr id="70659" name="Content Placeholder 2">
            <a:extLst>
              <a:ext uri="{FF2B5EF4-FFF2-40B4-BE49-F238E27FC236}">
                <a16:creationId xmlns:a16="http://schemas.microsoft.com/office/drawing/2014/main" id="{CE1A9AE1-765C-F713-D77E-4DF90D0556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Misoprostol: puts prostaglandin back</a:t>
            </a:r>
          </a:p>
          <a:p>
            <a:r>
              <a:rPr lang="en-US" altLang="en-US"/>
              <a:t>Or use COX 2 inhibitors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712E4AD8-AE3F-F1A8-5B5F-2FB55B7AE2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COX 2 Inhibitors</a:t>
            </a:r>
          </a:p>
        </p:txBody>
      </p:sp>
      <p:sp>
        <p:nvSpPr>
          <p:cNvPr id="71683" name="Content Placeholder 2">
            <a:extLst>
              <a:ext uri="{FF2B5EF4-FFF2-40B4-BE49-F238E27FC236}">
                <a16:creationId xmlns:a16="http://schemas.microsoft.com/office/drawing/2014/main" id="{33CCAF80-6BF0-65D6-A503-80DA3FB557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Celecoxib</a:t>
            </a:r>
          </a:p>
          <a:p>
            <a:r>
              <a:rPr lang="en-US" altLang="en-US"/>
              <a:t>Rofecoxib</a:t>
            </a:r>
          </a:p>
          <a:p>
            <a:r>
              <a:rPr lang="en-US" altLang="en-US"/>
              <a:t>Valdecoxib</a:t>
            </a:r>
          </a:p>
          <a:p>
            <a:r>
              <a:rPr lang="en-US" altLang="en-US"/>
              <a:t>Creates cardiovascular risk by blocking prostacyclins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>
            <a:extLst>
              <a:ext uri="{FF2B5EF4-FFF2-40B4-BE49-F238E27FC236}">
                <a16:creationId xmlns:a16="http://schemas.microsoft.com/office/drawing/2014/main" id="{6CAEC29A-E26A-115A-2C26-362143B05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Prostacyclin</a:t>
            </a:r>
          </a:p>
        </p:txBody>
      </p:sp>
      <p:sp>
        <p:nvSpPr>
          <p:cNvPr id="72707" name="Content Placeholder 2">
            <a:extLst>
              <a:ext uri="{FF2B5EF4-FFF2-40B4-BE49-F238E27FC236}">
                <a16:creationId xmlns:a16="http://schemas.microsoft.com/office/drawing/2014/main" id="{8D543B0E-52EB-7707-DEC8-9B589F8F8F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Made by endothelium</a:t>
            </a:r>
          </a:p>
          <a:p>
            <a:r>
              <a:rPr lang="en-US" altLang="en-US"/>
              <a:t>Vasodilates</a:t>
            </a:r>
          </a:p>
          <a:p>
            <a:r>
              <a:rPr lang="en-US" altLang="en-US"/>
              <a:t>Inhibits platelet aggregation</a:t>
            </a:r>
          </a:p>
          <a:p>
            <a:r>
              <a:rPr lang="en-US" altLang="en-US"/>
              <a:t>Used to treat pulmonary hypertension</a:t>
            </a:r>
          </a:p>
          <a:p>
            <a:r>
              <a:rPr lang="en-US" altLang="en-US"/>
              <a:t>Made primarily by COX 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4AB0E631-3E85-4C1B-D0F1-A7DF03A22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PG F-2</a:t>
            </a:r>
          </a:p>
        </p:txBody>
      </p:sp>
      <p:sp>
        <p:nvSpPr>
          <p:cNvPr id="73731" name="Content Placeholder 2">
            <a:extLst>
              <a:ext uri="{FF2B5EF4-FFF2-40B4-BE49-F238E27FC236}">
                <a16:creationId xmlns:a16="http://schemas.microsoft.com/office/drawing/2014/main" id="{6EC2FF6F-203D-DE8B-5462-28484D10FD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Vasoconstrictor</a:t>
            </a:r>
          </a:p>
          <a:p>
            <a:r>
              <a:rPr lang="en-US" altLang="en-US"/>
              <a:t>Involved in painful menstrual cramps</a:t>
            </a:r>
          </a:p>
          <a:p>
            <a:r>
              <a:rPr lang="en-US" altLang="en-US"/>
              <a:t>Separates placenta after fetus is delivered</a:t>
            </a:r>
          </a:p>
          <a:p>
            <a:r>
              <a:rPr lang="en-US" altLang="en-US"/>
              <a:t>Hi levels in semen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D1FA5741-6DC1-83B5-98DB-09691F83C3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PG E-2 Analogues</a:t>
            </a:r>
          </a:p>
        </p:txBody>
      </p:sp>
      <p:sp>
        <p:nvSpPr>
          <p:cNvPr id="74755" name="Content Placeholder 2">
            <a:extLst>
              <a:ext uri="{FF2B5EF4-FFF2-40B4-BE49-F238E27FC236}">
                <a16:creationId xmlns:a16="http://schemas.microsoft.com/office/drawing/2014/main" id="{DEEF02A1-8B0E-6553-7CE2-EA1F477DE3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Misoprostol</a:t>
            </a:r>
          </a:p>
          <a:p>
            <a:r>
              <a:rPr lang="en-US" altLang="en-US"/>
              <a:t>Alprostadil</a:t>
            </a:r>
          </a:p>
          <a:p>
            <a:r>
              <a:rPr lang="en-US" altLang="en-US"/>
              <a:t>Dinoprostone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204A30B0-C8DA-B5A0-A5B1-FD146BFEE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PG F-2 Analogues</a:t>
            </a:r>
          </a:p>
        </p:txBody>
      </p:sp>
      <p:sp>
        <p:nvSpPr>
          <p:cNvPr id="75779" name="Content Placeholder 2">
            <a:extLst>
              <a:ext uri="{FF2B5EF4-FFF2-40B4-BE49-F238E27FC236}">
                <a16:creationId xmlns:a16="http://schemas.microsoft.com/office/drawing/2014/main" id="{7111F8B4-1E41-9055-30A7-C026AFE15B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Arborist</a:t>
            </a:r>
          </a:p>
          <a:p>
            <a:r>
              <a:rPr lang="en-US" altLang="en-US"/>
              <a:t>Latanoprost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4DC4BC5D-5496-4EEC-BCC1-EF90E39C8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2870200"/>
            <a:ext cx="6889750" cy="1090613"/>
          </a:xfrm>
        </p:spPr>
        <p:txBody>
          <a:bodyPr/>
          <a:lstStyle/>
          <a:p>
            <a:r>
              <a:rPr lang="en-US" altLang="en-US"/>
              <a:t>Leukotrienes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5A51D199-B8FF-BE8A-BF62-A5D599CB8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Leukotrienes: LT- C4,D4,E4</a:t>
            </a:r>
          </a:p>
        </p:txBody>
      </p:sp>
      <p:sp>
        <p:nvSpPr>
          <p:cNvPr id="77827" name="Content Placeholder 2">
            <a:extLst>
              <a:ext uri="{FF2B5EF4-FFF2-40B4-BE49-F238E27FC236}">
                <a16:creationId xmlns:a16="http://schemas.microsoft.com/office/drawing/2014/main" id="{25E46FDB-C6D3-5122-AA7E-2845E18C2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336800"/>
            <a:ext cx="6888163" cy="359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defTabSz="914400" eaLnBrk="1" hangingPunct="1"/>
            <a:r>
              <a:rPr lang="en-US" altLang="en-US"/>
              <a:t>AKA: SRS-A (slow reacting substance of anaphylaxis)</a:t>
            </a:r>
          </a:p>
          <a:p>
            <a:pPr defTabSz="914400" eaLnBrk="1" hangingPunct="1"/>
            <a:r>
              <a:rPr lang="en-US" altLang="en-US"/>
              <a:t>Made by mast cells 4 to 8 hours after allergic response (late symptoms)</a:t>
            </a:r>
          </a:p>
          <a:p>
            <a:pPr defTabSz="914400" eaLnBrk="1" hangingPunct="1"/>
            <a:r>
              <a:rPr lang="en-US" altLang="en-US"/>
              <a:t>The most potent bronchoconstrictor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12FEB1DB-CB3E-D7A9-8103-B2F461A9AF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LT B-4</a:t>
            </a:r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EABBEEB1-D6FA-D0B9-78FD-D461864B1E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Strong chemoattractant for neutrophils</a:t>
            </a:r>
          </a:p>
          <a:p>
            <a:r>
              <a:rPr lang="en-US" altLang="en-US"/>
              <a:t>IL 8 also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DB906B3B-BDAF-FFC6-CC34-71178333A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2870200"/>
            <a:ext cx="6889750" cy="1090613"/>
          </a:xfrm>
        </p:spPr>
        <p:txBody>
          <a:bodyPr/>
          <a:lstStyle/>
          <a:p>
            <a:r>
              <a:rPr lang="en-US" altLang="en-US"/>
              <a:t>Pharmacology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FC9A9D2-05C7-E30B-CB67-8429B682A0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Irreversible Cyclo-Oxygenase Inhibitor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B2008379-4008-50FC-356C-02257F7C3D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Aspirin</a:t>
            </a:r>
          </a:p>
          <a:p>
            <a:pPr lvl="1" eaLnBrk="1" hangingPunct="1"/>
            <a:r>
              <a:rPr lang="en-US" altLang="en-US"/>
              <a:t>Antiplatelet</a:t>
            </a:r>
          </a:p>
          <a:p>
            <a:pPr lvl="1" eaLnBrk="1" hangingPunct="1"/>
            <a:r>
              <a:rPr lang="en-US" altLang="en-US"/>
              <a:t>Antipyretic</a:t>
            </a:r>
          </a:p>
          <a:p>
            <a:pPr lvl="1" eaLnBrk="1" hangingPunct="1"/>
            <a:r>
              <a:rPr lang="en-US" altLang="en-US"/>
              <a:t>Anti-inflammatory</a:t>
            </a:r>
          </a:p>
          <a:p>
            <a:pPr lvl="1" eaLnBrk="1" hangingPunct="1"/>
            <a:r>
              <a:rPr lang="en-US" altLang="en-US"/>
              <a:t>Analgesia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>
            <a:extLst>
              <a:ext uri="{FF2B5EF4-FFF2-40B4-BE49-F238E27FC236}">
                <a16:creationId xmlns:a16="http://schemas.microsoft.com/office/drawing/2014/main" id="{F824FC4C-F20B-F43A-4C72-3B588BCD82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Acid Base Problems From Aspirin</a:t>
            </a:r>
          </a:p>
        </p:txBody>
      </p:sp>
      <p:sp>
        <p:nvSpPr>
          <p:cNvPr id="82947" name="Content Placeholder 2">
            <a:extLst>
              <a:ext uri="{FF2B5EF4-FFF2-40B4-BE49-F238E27FC236}">
                <a16:creationId xmlns:a16="http://schemas.microsoft.com/office/drawing/2014/main" id="{645FA2F7-80F0-CAC7-0FC6-E43D660F39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Initial: Respiratory alkalosis</a:t>
            </a:r>
          </a:p>
          <a:p>
            <a:pPr lvl="1"/>
            <a:r>
              <a:rPr lang="en-US" altLang="en-US"/>
              <a:t>pH –high      pCO2 – low     HCO3 – nl</a:t>
            </a:r>
          </a:p>
          <a:p>
            <a:pPr lvl="1"/>
            <a:endParaRPr lang="en-US" altLang="en-US"/>
          </a:p>
          <a:p>
            <a:r>
              <a:rPr lang="en-US" altLang="en-US"/>
              <a:t>Most common: Combined metabolic acidosis and respiratory alkalosis</a:t>
            </a:r>
          </a:p>
          <a:p>
            <a:pPr lvl="1"/>
            <a:r>
              <a:rPr lang="en-US" altLang="en-US"/>
              <a:t>pH – almost nl     pCO2 – low      HCO3 – low</a:t>
            </a:r>
          </a:p>
          <a:p>
            <a:pPr lvl="1"/>
            <a:endParaRPr lang="en-US" altLang="en-US"/>
          </a:p>
          <a:p>
            <a:r>
              <a:rPr lang="en-US" altLang="en-US"/>
              <a:t>End stage: Mixed acidosis</a:t>
            </a:r>
          </a:p>
          <a:p>
            <a:pPr lvl="1"/>
            <a:r>
              <a:rPr lang="en-US" altLang="en-US"/>
              <a:t>pH – low      pCO2 – high      HCO3 - low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>
            <a:extLst>
              <a:ext uri="{FF2B5EF4-FFF2-40B4-BE49-F238E27FC236}">
                <a16:creationId xmlns:a16="http://schemas.microsoft.com/office/drawing/2014/main" id="{20ED1DDF-EC69-5F4C-0038-84DD2A102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Aspirin Overdose</a:t>
            </a:r>
          </a:p>
        </p:txBody>
      </p:sp>
      <p:sp>
        <p:nvSpPr>
          <p:cNvPr id="83971" name="Content Placeholder 2">
            <a:extLst>
              <a:ext uri="{FF2B5EF4-FFF2-40B4-BE49-F238E27FC236}">
                <a16:creationId xmlns:a16="http://schemas.microsoft.com/office/drawing/2014/main" id="{3AB2019B-66A1-C68E-C582-BD9C5238CA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Fluids first</a:t>
            </a:r>
          </a:p>
          <a:p>
            <a:r>
              <a:rPr lang="en-US" altLang="en-US"/>
              <a:t>Bicarbonate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1670B83-5517-B50A-7E77-F39FD6668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Reversible Cyclo-Oxygenase inhibitors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21632BD-4EFA-E39F-6679-4E9DF7AEF3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NSAIDs</a:t>
            </a:r>
          </a:p>
          <a:p>
            <a:pPr lvl="1" eaLnBrk="1" hangingPunct="1"/>
            <a:r>
              <a:rPr lang="en-US" altLang="en-US"/>
              <a:t>Indomethacin</a:t>
            </a:r>
          </a:p>
          <a:p>
            <a:pPr lvl="1" eaLnBrk="1" hangingPunct="1"/>
            <a:r>
              <a:rPr lang="en-US" altLang="en-US"/>
              <a:t>Phenylbutazone</a:t>
            </a:r>
          </a:p>
          <a:p>
            <a:pPr lvl="1" eaLnBrk="1" hangingPunct="1"/>
            <a:r>
              <a:rPr lang="en-US" altLang="en-US"/>
              <a:t>Ibuprofen</a:t>
            </a:r>
          </a:p>
          <a:p>
            <a:pPr lvl="1" eaLnBrk="1" hangingPunct="1"/>
            <a:r>
              <a:rPr lang="en-US" altLang="en-US"/>
              <a:t>Naproxen</a:t>
            </a:r>
          </a:p>
          <a:p>
            <a:pPr lvl="1" eaLnBrk="1" hangingPunct="1"/>
            <a:r>
              <a:rPr lang="en-US" altLang="en-US"/>
              <a:t>Baclofen</a:t>
            </a:r>
          </a:p>
          <a:p>
            <a:pPr lvl="1" eaLnBrk="1" hangingPunct="1"/>
            <a:r>
              <a:rPr lang="en-US" altLang="en-US"/>
              <a:t>Ketorolac</a:t>
            </a:r>
          </a:p>
          <a:p>
            <a:pPr lvl="1" eaLnBrk="1" hangingPunct="1"/>
            <a:r>
              <a:rPr lang="en-US" altLang="en-US"/>
              <a:t>Diclofenac</a:t>
            </a:r>
          </a:p>
          <a:p>
            <a:pPr lvl="1" eaLnBrk="1" hangingPunct="1"/>
            <a:r>
              <a:rPr lang="en-US" altLang="en-US"/>
              <a:t>Ketoprofen</a:t>
            </a:r>
          </a:p>
          <a:p>
            <a:pPr lvl="1" eaLnBrk="1" hangingPunct="1"/>
            <a:r>
              <a:rPr lang="en-US" altLang="en-US"/>
              <a:t>Sulindac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C9F5348-BD2A-CA6F-0591-2E88D9C5D8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52475"/>
            <a:ext cx="6888163" cy="10810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Steroids</a:t>
            </a:r>
          </a:p>
        </p:txBody>
      </p:sp>
      <p:sp>
        <p:nvSpPr>
          <p:cNvPr id="87043" name="Rectangle 4">
            <a:extLst>
              <a:ext uri="{FF2B5EF4-FFF2-40B4-BE49-F238E27FC236}">
                <a16:creationId xmlns:a16="http://schemas.microsoft.com/office/drawing/2014/main" id="{87A4AA9D-0A5C-A32C-B8E2-6BB9922914A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33400" y="2336800"/>
            <a:ext cx="3357563" cy="3598863"/>
          </a:xfrm>
        </p:spPr>
        <p:txBody>
          <a:bodyPr/>
          <a:lstStyle/>
          <a:p>
            <a:pPr eaLnBrk="1" hangingPunct="1"/>
            <a:r>
              <a:rPr lang="en-US" altLang="en-US" b="1"/>
              <a:t>Anti-inflammatory actions</a:t>
            </a:r>
          </a:p>
          <a:p>
            <a:pPr lvl="1" eaLnBrk="1" hangingPunct="1"/>
            <a:r>
              <a:rPr lang="en-US" altLang="en-US"/>
              <a:t>Inhibit PLP-A</a:t>
            </a:r>
          </a:p>
          <a:p>
            <a:pPr lvl="1" eaLnBrk="1" hangingPunct="1"/>
            <a:r>
              <a:rPr lang="en-US" altLang="en-US"/>
              <a:t>Kills T-cells and eosinophils</a:t>
            </a:r>
          </a:p>
          <a:p>
            <a:pPr lvl="1" eaLnBrk="1" hangingPunct="1"/>
            <a:r>
              <a:rPr lang="en-US" altLang="en-US"/>
              <a:t>Inhibits macrophage migration</a:t>
            </a:r>
          </a:p>
          <a:p>
            <a:pPr lvl="1" eaLnBrk="1" hangingPunct="1"/>
            <a:r>
              <a:rPr lang="en-US" altLang="en-US"/>
              <a:t>Stabilizes mast cells</a:t>
            </a:r>
          </a:p>
          <a:p>
            <a:pPr lvl="1" eaLnBrk="1" hangingPunct="1"/>
            <a:r>
              <a:rPr lang="en-US" altLang="en-US"/>
              <a:t>Stabilizes endothelium</a:t>
            </a:r>
          </a:p>
        </p:txBody>
      </p:sp>
      <p:sp>
        <p:nvSpPr>
          <p:cNvPr id="87044" name="Rectangle 5">
            <a:extLst>
              <a:ext uri="{FF2B5EF4-FFF2-40B4-BE49-F238E27FC236}">
                <a16:creationId xmlns:a16="http://schemas.microsoft.com/office/drawing/2014/main" id="{A75D3B8A-D11E-9A44-9464-B2833CBCBDB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060825" y="2336800"/>
            <a:ext cx="3360738" cy="3598863"/>
          </a:xfrm>
        </p:spPr>
        <p:txBody>
          <a:bodyPr/>
          <a:lstStyle/>
          <a:p>
            <a:pPr eaLnBrk="1" hangingPunct="1"/>
            <a:r>
              <a:rPr lang="en-US" altLang="en-US" b="1"/>
              <a:t>Physiologic actions</a:t>
            </a:r>
          </a:p>
          <a:p>
            <a:pPr lvl="1" eaLnBrk="1" hangingPunct="1"/>
            <a:r>
              <a:rPr lang="en-US" altLang="en-US"/>
              <a:t>Proteolysis</a:t>
            </a:r>
          </a:p>
          <a:p>
            <a:pPr lvl="1" eaLnBrk="1" hangingPunct="1"/>
            <a:r>
              <a:rPr lang="en-US" altLang="en-US"/>
              <a:t>gluconeogenesis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193A942-5DA6-7C95-35B3-510B6C1FF7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52475"/>
            <a:ext cx="6888163" cy="10810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Steroids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32DAB2F-C6C0-B589-1DFE-4DCE5AF6F1D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33400" y="2336800"/>
            <a:ext cx="3357563" cy="3598863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Prednisone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Methylprednisolone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Triamcinolone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Budesonide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Ciclesonide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Beclomethasone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Betamethasone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Hydrocortisone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Dexamethasone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Fludrocortisone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>
              <a:latin typeface="Impact" pitchFamily="34" charset="0"/>
            </a:endParaRP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A7FB2B12-0B22-C284-0A39-5164C14F79F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060825" y="2336800"/>
            <a:ext cx="3360738" cy="3598863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Cyproterone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Megestrol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Fluticasone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Mometasone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Danazol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3A02367-E7B3-C47B-EA99-93BB779D5E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Mast Cell Stabilizers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C2F43782-4F39-14F7-1A8A-4891BDE119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Cromolyn </a:t>
            </a:r>
          </a:p>
          <a:p>
            <a:pPr eaLnBrk="1" hangingPunct="1"/>
            <a:r>
              <a:rPr lang="en-US" altLang="en-US"/>
              <a:t>Nedocromil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>
            <a:extLst>
              <a:ext uri="{FF2B5EF4-FFF2-40B4-BE49-F238E27FC236}">
                <a16:creationId xmlns:a16="http://schemas.microsoft.com/office/drawing/2014/main" id="{43FF332E-5B05-F509-FA44-F66E6F7CD3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Management of Asthma</a:t>
            </a:r>
          </a:p>
        </p:txBody>
      </p:sp>
      <p:sp>
        <p:nvSpPr>
          <p:cNvPr id="93187" name="Content Placeholder 2">
            <a:extLst>
              <a:ext uri="{FF2B5EF4-FFF2-40B4-BE49-F238E27FC236}">
                <a16:creationId xmlns:a16="http://schemas.microsoft.com/office/drawing/2014/main" id="{4B96862A-F05C-F974-64E6-4AAF9377A0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Level 1: mild intermittent </a:t>
            </a:r>
          </a:p>
          <a:p>
            <a:pPr lvl="1"/>
            <a:r>
              <a:rPr lang="en-US" altLang="en-US">
                <a:solidFill>
                  <a:schemeClr val="bg1"/>
                </a:solidFill>
              </a:rPr>
              <a:t>Use B-2 agonist as needed</a:t>
            </a:r>
          </a:p>
          <a:p>
            <a:r>
              <a:rPr lang="en-US" altLang="en-US"/>
              <a:t>Level 2: Mild Persistent</a:t>
            </a:r>
          </a:p>
          <a:p>
            <a:pPr lvl="1"/>
            <a:r>
              <a:rPr lang="en-US" altLang="en-US">
                <a:solidFill>
                  <a:schemeClr val="bg1"/>
                </a:solidFill>
              </a:rPr>
              <a:t>Under age 5: cromolyn inhaler daily/B2 agonist prn</a:t>
            </a:r>
          </a:p>
          <a:p>
            <a:pPr lvl="1"/>
            <a:r>
              <a:rPr lang="en-US" altLang="en-US">
                <a:solidFill>
                  <a:schemeClr val="bg1"/>
                </a:solidFill>
              </a:rPr>
              <a:t>Above age 5: steroid inhaler daily/B2 agonist prn</a:t>
            </a:r>
          </a:p>
          <a:p>
            <a:r>
              <a:rPr lang="en-US" altLang="en-US"/>
              <a:t>Level 3: Moderate persistent</a:t>
            </a:r>
          </a:p>
          <a:p>
            <a:pPr lvl="1"/>
            <a:r>
              <a:rPr lang="en-US" altLang="en-US">
                <a:solidFill>
                  <a:schemeClr val="bg1"/>
                </a:solidFill>
              </a:rPr>
              <a:t>LABA/Steroid inhaler daily and use B2 agonist prn</a:t>
            </a:r>
          </a:p>
          <a:p>
            <a:r>
              <a:rPr lang="en-US" altLang="en-US"/>
              <a:t>Level 4: Severe</a:t>
            </a:r>
          </a:p>
          <a:p>
            <a:pPr lvl="1"/>
            <a:r>
              <a:rPr lang="en-US" altLang="en-US">
                <a:solidFill>
                  <a:schemeClr val="bg1"/>
                </a:solidFill>
              </a:rPr>
              <a:t>Oral steroids: start w/ high dose, them taper</a:t>
            </a:r>
          </a:p>
          <a:p>
            <a:r>
              <a:rPr lang="en-US" altLang="en-US"/>
              <a:t>Level 5: Very Severe</a:t>
            </a:r>
          </a:p>
          <a:p>
            <a:pPr lvl="1"/>
            <a:r>
              <a:rPr lang="en-US" altLang="en-US">
                <a:solidFill>
                  <a:schemeClr val="bg1"/>
                </a:solidFill>
              </a:rPr>
              <a:t>Add Omalizumab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275CC0B-7A2B-EB00-6617-C938E7A4E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LRBs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47F04C26-B5D1-1BF1-A298-026020DE6B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Zafirlukast</a:t>
            </a:r>
          </a:p>
          <a:p>
            <a:pPr eaLnBrk="1" hangingPunct="1"/>
            <a:r>
              <a:rPr lang="en-US" altLang="en-US"/>
              <a:t>Montelukast</a:t>
            </a:r>
          </a:p>
          <a:p>
            <a:pPr eaLnBrk="1" hangingPunct="1"/>
            <a:r>
              <a:rPr lang="en-US" altLang="en-US"/>
              <a:t>Zileuton 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6AFD2C2-DA8A-E557-53F6-C76A8CEFE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Triglyceride Synthesis</a:t>
            </a:r>
          </a:p>
        </p:txBody>
      </p:sp>
      <p:sp>
        <p:nvSpPr>
          <p:cNvPr id="96259" name="TextBox 1">
            <a:extLst>
              <a:ext uri="{FF2B5EF4-FFF2-40B4-BE49-F238E27FC236}">
                <a16:creationId xmlns:a16="http://schemas.microsoft.com/office/drawing/2014/main" id="{C9CA497D-29D7-7F2D-1E0B-72BF13A5A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0613" y="2533650"/>
            <a:ext cx="442277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/>
              <a:t>C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/>
              <a:t>C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/>
              <a:t>      C-O-P</a:t>
            </a:r>
          </a:p>
        </p:txBody>
      </p:sp>
      <p:sp>
        <p:nvSpPr>
          <p:cNvPr id="96260" name="TextBox 3">
            <a:extLst>
              <a:ext uri="{FF2B5EF4-FFF2-40B4-BE49-F238E27FC236}">
                <a16:creationId xmlns:a16="http://schemas.microsoft.com/office/drawing/2014/main" id="{11325D28-8DB5-444E-2613-A0CD6EEE4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105400"/>
            <a:ext cx="350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/>
              <a:t>Glycerol 3 Phosphate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>
            <a:extLst>
              <a:ext uri="{FF2B5EF4-FFF2-40B4-BE49-F238E27FC236}">
                <a16:creationId xmlns:a16="http://schemas.microsoft.com/office/drawing/2014/main" id="{434BEAC4-B792-DC0D-CC62-218D7B8FF4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 Make Glycerol 3 Phosphate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A915A-8277-B657-7D84-7D7F577E9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Only the liver has </a:t>
            </a:r>
            <a:r>
              <a:rPr lang="en-US" b="1" dirty="0">
                <a:solidFill>
                  <a:schemeClr val="bg1"/>
                </a:solidFill>
              </a:rPr>
              <a:t>glycerol kinase</a:t>
            </a:r>
          </a:p>
          <a:p>
            <a:pPr>
              <a:defRPr/>
            </a:pPr>
            <a:r>
              <a:rPr lang="en-US" dirty="0">
                <a:latin typeface="+mj-lt"/>
              </a:rPr>
              <a:t>All other organs use DHAP to make G-3 P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>
            <a:extLst>
              <a:ext uri="{FF2B5EF4-FFF2-40B4-BE49-F238E27FC236}">
                <a16:creationId xmlns:a16="http://schemas.microsoft.com/office/drawing/2014/main" id="{4BC7C171-966B-F557-725C-3F3EA88129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Lysophosphatidic Acid</a:t>
            </a:r>
          </a:p>
        </p:txBody>
      </p:sp>
      <p:sp>
        <p:nvSpPr>
          <p:cNvPr id="99331" name="Content Placeholder 2">
            <a:extLst>
              <a:ext uri="{FF2B5EF4-FFF2-40B4-BE49-F238E27FC236}">
                <a16:creationId xmlns:a16="http://schemas.microsoft.com/office/drawing/2014/main" id="{ED9FEE2E-491A-9A01-A2C7-8A95347B0C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Has a C-16 attached to carbon 1</a:t>
            </a:r>
          </a:p>
          <a:p>
            <a:pPr lvl="1"/>
            <a:r>
              <a:rPr lang="en-US" altLang="en-US"/>
              <a:t>NO double bonds allowed on this carbon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212E2F1B-0030-45B8-A4EB-FB9B4706A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Phosphatidic Acid</a:t>
            </a:r>
          </a:p>
        </p:txBody>
      </p:sp>
      <p:sp>
        <p:nvSpPr>
          <p:cNvPr id="100355" name="Content Placeholder 2">
            <a:extLst>
              <a:ext uri="{FF2B5EF4-FFF2-40B4-BE49-F238E27FC236}">
                <a16:creationId xmlns:a16="http://schemas.microsoft.com/office/drawing/2014/main" id="{40F339CB-039E-9B7A-30B6-C38B87C3C1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Has a fully saturated C-16 on carbon 1</a:t>
            </a:r>
          </a:p>
          <a:p>
            <a:r>
              <a:rPr lang="en-US" altLang="en-US"/>
              <a:t>Now has an unsaturated C-16 at carbon 2</a:t>
            </a:r>
          </a:p>
          <a:p>
            <a:r>
              <a:rPr lang="en-US" altLang="en-US"/>
              <a:t>Becomes the backbone for complex phospholipids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>
            <a:extLst>
              <a:ext uri="{FF2B5EF4-FFF2-40B4-BE49-F238E27FC236}">
                <a16:creationId xmlns:a16="http://schemas.microsoft.com/office/drawing/2014/main" id="{F9B97A6C-EC33-2016-6BE3-8B2EFB518E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Carriers</a:t>
            </a:r>
          </a:p>
        </p:txBody>
      </p:sp>
      <p:sp>
        <p:nvSpPr>
          <p:cNvPr id="101379" name="Content Placeholder 2">
            <a:extLst>
              <a:ext uri="{FF2B5EF4-FFF2-40B4-BE49-F238E27FC236}">
                <a16:creationId xmlns:a16="http://schemas.microsoft.com/office/drawing/2014/main" id="{5E4F6985-BCFC-ED1E-C623-0B49993471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CDP: the carrier for complex lipids</a:t>
            </a:r>
          </a:p>
          <a:p>
            <a:r>
              <a:rPr lang="en-US" altLang="en-US"/>
              <a:t>UDP: the carrier for one sugar donation</a:t>
            </a:r>
          </a:p>
          <a:p>
            <a:r>
              <a:rPr lang="en-US" altLang="en-US"/>
              <a:t>Dolichol: the carrier for multiple sugar donation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41BA6B82-C70A-A873-1EF0-D1FFC050C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Phosphatidylethanolamine</a:t>
            </a:r>
          </a:p>
        </p:txBody>
      </p:sp>
      <p:sp>
        <p:nvSpPr>
          <p:cNvPr id="102403" name="Content Placeholder 2">
            <a:extLst>
              <a:ext uri="{FF2B5EF4-FFF2-40B4-BE49-F238E27FC236}">
                <a16:creationId xmlns:a16="http://schemas.microsoft.com/office/drawing/2014/main" id="{44F11F59-9AD5-3F03-0A95-5AD68069A6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Use for building receptors on neuronal tissue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>
            <a:extLst>
              <a:ext uri="{FF2B5EF4-FFF2-40B4-BE49-F238E27FC236}">
                <a16:creationId xmlns:a16="http://schemas.microsoft.com/office/drawing/2014/main" id="{1C67646A-1F65-9EEE-5B54-0438E94C21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Phosphatidylcholine</a:t>
            </a:r>
          </a:p>
        </p:txBody>
      </p:sp>
      <p:sp>
        <p:nvSpPr>
          <p:cNvPr id="103427" name="Content Placeholder 2">
            <a:extLst>
              <a:ext uri="{FF2B5EF4-FFF2-40B4-BE49-F238E27FC236}">
                <a16:creationId xmlns:a16="http://schemas.microsoft.com/office/drawing/2014/main" id="{E8F22A09-77FC-0D6E-C34D-40EA1B56B5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Used to make Lecithin</a:t>
            </a:r>
          </a:p>
          <a:p>
            <a:pPr lvl="1"/>
            <a:r>
              <a:rPr lang="en-US" altLang="en-US"/>
              <a:t>Helps emulsify fats for digestion and absorption</a:t>
            </a:r>
          </a:p>
          <a:p>
            <a:r>
              <a:rPr lang="en-US" altLang="en-US"/>
              <a:t>Also used to make Surfactant</a:t>
            </a:r>
          </a:p>
          <a:p>
            <a:pPr lvl="1"/>
            <a:r>
              <a:rPr lang="en-US" altLang="en-US"/>
              <a:t>Increases compliance of lungs</a:t>
            </a:r>
          </a:p>
          <a:p>
            <a:pPr lvl="1"/>
            <a:r>
              <a:rPr lang="en-US" altLang="en-US"/>
              <a:t>Prevents collapse (Atelectasis) of airway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>
            <a:extLst>
              <a:ext uri="{FF2B5EF4-FFF2-40B4-BE49-F238E27FC236}">
                <a16:creationId xmlns:a16="http://schemas.microsoft.com/office/drawing/2014/main" id="{702277EC-57BB-77BF-810C-A2C2B828FB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Phosphatidylserine</a:t>
            </a:r>
          </a:p>
        </p:txBody>
      </p:sp>
      <p:sp>
        <p:nvSpPr>
          <p:cNvPr id="104451" name="Content Placeholder 2">
            <a:extLst>
              <a:ext uri="{FF2B5EF4-FFF2-40B4-BE49-F238E27FC236}">
                <a16:creationId xmlns:a16="http://schemas.microsoft.com/office/drawing/2014/main" id="{C183241D-E117-C5DB-94AB-9512B81B12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marker for apoptosis</a:t>
            </a:r>
          </a:p>
          <a:p>
            <a:pPr lvl="1"/>
            <a:r>
              <a:rPr lang="en-US" altLang="en-US"/>
              <a:t>Gene: P53</a:t>
            </a:r>
          </a:p>
          <a:p>
            <a:pPr lvl="1"/>
            <a:r>
              <a:rPr lang="en-US" altLang="en-US"/>
              <a:t>Protein: D-Cyclins</a:t>
            </a:r>
          </a:p>
          <a:p>
            <a:pPr lvl="1"/>
            <a:r>
              <a:rPr lang="en-US" altLang="en-US"/>
              <a:t>Label: phosphatidylserine</a:t>
            </a:r>
          </a:p>
          <a:p>
            <a:pPr lvl="1"/>
            <a:r>
              <a:rPr lang="en-US" altLang="en-US"/>
              <a:t>Caspaces: recognize label and destroy the cell</a:t>
            </a:r>
          </a:p>
          <a:p>
            <a:pPr lvl="1"/>
            <a:endParaRPr lang="en-US" altLang="en-US"/>
          </a:p>
          <a:p>
            <a:pPr lvl="1"/>
            <a:r>
              <a:rPr lang="en-US" altLang="en-US"/>
              <a:t>Ubiquitin: Label for proteins that need destruction</a:t>
            </a:r>
          </a:p>
          <a:p>
            <a:pPr lvl="1"/>
            <a:r>
              <a:rPr lang="en-US" altLang="en-US"/>
              <a:t>Ubiquitin Ligase: Places label on proteins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>
            <a:extLst>
              <a:ext uri="{FF2B5EF4-FFF2-40B4-BE49-F238E27FC236}">
                <a16:creationId xmlns:a16="http://schemas.microsoft.com/office/drawing/2014/main" id="{0449C22F-2133-3C43-14DE-1FC18DA067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Cardiolipin</a:t>
            </a:r>
          </a:p>
        </p:txBody>
      </p:sp>
      <p:sp>
        <p:nvSpPr>
          <p:cNvPr id="105475" name="Content Placeholder 2">
            <a:extLst>
              <a:ext uri="{FF2B5EF4-FFF2-40B4-BE49-F238E27FC236}">
                <a16:creationId xmlns:a16="http://schemas.microsoft.com/office/drawing/2014/main" id="{75D813C2-25AF-D704-1D94-E4614D2250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Made with two G-3P back-to-back</a:t>
            </a:r>
          </a:p>
          <a:p>
            <a:r>
              <a:rPr lang="en-US" altLang="en-US"/>
              <a:t>A marker seen in SLE</a:t>
            </a:r>
          </a:p>
          <a:p>
            <a:pPr lvl="1"/>
            <a:r>
              <a:rPr lang="en-US" altLang="en-US"/>
              <a:t>Stimulates intrinsic clotting cycle</a:t>
            </a:r>
          </a:p>
          <a:p>
            <a:pPr lvl="1"/>
            <a:r>
              <a:rPr lang="en-US" altLang="en-US"/>
              <a:t>Multiple spontaneous abortions</a:t>
            </a:r>
          </a:p>
          <a:p>
            <a:pPr lvl="1"/>
            <a:r>
              <a:rPr lang="en-US" altLang="en-US"/>
              <a:t>Blocks VWF</a:t>
            </a:r>
          </a:p>
          <a:p>
            <a:pPr lvl="1"/>
            <a:r>
              <a:rPr lang="en-US" altLang="en-US"/>
              <a:t>Cause false VDRL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>
            <a:extLst>
              <a:ext uri="{FF2B5EF4-FFF2-40B4-BE49-F238E27FC236}">
                <a16:creationId xmlns:a16="http://schemas.microsoft.com/office/drawing/2014/main" id="{EE78DDB4-EEC1-F0EC-79FA-557F63903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IP-3/DAG</a:t>
            </a:r>
          </a:p>
        </p:txBody>
      </p:sp>
      <p:sp>
        <p:nvSpPr>
          <p:cNvPr id="106499" name="Content Placeholder 2">
            <a:extLst>
              <a:ext uri="{FF2B5EF4-FFF2-40B4-BE49-F238E27FC236}">
                <a16:creationId xmlns:a16="http://schemas.microsoft.com/office/drawing/2014/main" id="{08DD6B5E-4A59-6D7E-43E0-F054441034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DAG made by removing the phosphate group and adding an OH-group to carbon 3</a:t>
            </a:r>
          </a:p>
          <a:p>
            <a:endParaRPr lang="en-US" altLang="en-US"/>
          </a:p>
          <a:p>
            <a:r>
              <a:rPr lang="en-US" altLang="en-US"/>
              <a:t>Second messenger for all hypothalamic hormones except CRP</a:t>
            </a:r>
          </a:p>
          <a:p>
            <a:r>
              <a:rPr lang="en-US" altLang="en-US"/>
              <a:t>Second messenger for all smooth muscle contraction cause by hormone or neurotransmitter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>
            <a:extLst>
              <a:ext uri="{FF2B5EF4-FFF2-40B4-BE49-F238E27FC236}">
                <a16:creationId xmlns:a16="http://schemas.microsoft.com/office/drawing/2014/main" id="{F2CEAA66-3F6B-FA9D-E14E-03339F9636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Triglycerides</a:t>
            </a:r>
          </a:p>
        </p:txBody>
      </p:sp>
      <p:sp>
        <p:nvSpPr>
          <p:cNvPr id="107523" name="Content Placeholder 2">
            <a:extLst>
              <a:ext uri="{FF2B5EF4-FFF2-40B4-BE49-F238E27FC236}">
                <a16:creationId xmlns:a16="http://schemas.microsoft.com/office/drawing/2014/main" id="{221C90F0-6207-F3CD-4B51-61FFF1467D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Made by removing the OH-group from DAG and adding another C-16 to carbon 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E04F286D-36A1-8BDE-764F-1D927AF497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Pancreatic Lipase</a:t>
            </a:r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B2B1C1C7-EFD1-647E-3123-F2FE801565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Helps digest dietary lipids</a:t>
            </a:r>
          </a:p>
          <a:p>
            <a:r>
              <a:rPr lang="en-US" altLang="en-US"/>
              <a:t>Inhibited by </a:t>
            </a:r>
            <a:r>
              <a:rPr lang="en-US" altLang="en-US" b="1">
                <a:solidFill>
                  <a:schemeClr val="bg1"/>
                </a:solidFill>
              </a:rPr>
              <a:t>Orlistat</a:t>
            </a:r>
          </a:p>
          <a:p>
            <a:pPr lvl="1"/>
            <a:r>
              <a:rPr lang="en-US" altLang="en-US"/>
              <a:t>Causes steatorrhea</a:t>
            </a:r>
          </a:p>
          <a:p>
            <a:pPr lvl="1"/>
            <a:r>
              <a:rPr lang="en-US" altLang="en-US"/>
              <a:t>Cause Low volume state</a:t>
            </a:r>
          </a:p>
          <a:p>
            <a:pPr lvl="1"/>
            <a:r>
              <a:rPr lang="en-US" altLang="en-US"/>
              <a:t>Loss of fat-soluble vitamins</a:t>
            </a:r>
          </a:p>
          <a:p>
            <a:pPr lvl="1"/>
            <a:r>
              <a:rPr lang="en-US" altLang="en-US"/>
              <a:t>Affects steroid hormones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8C18E74F-80D7-C585-08B4-999D995FB9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Lacteals</a:t>
            </a:r>
          </a:p>
        </p:txBody>
      </p:sp>
      <p:sp>
        <p:nvSpPr>
          <p:cNvPr id="109571" name="Content Placeholder 2">
            <a:extLst>
              <a:ext uri="{FF2B5EF4-FFF2-40B4-BE49-F238E27FC236}">
                <a16:creationId xmlns:a16="http://schemas.microsoft.com/office/drawing/2014/main" id="{0B1D1A4A-2647-8E6C-5838-4D3680B404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Lymphatic channels for lipid absorption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50C78786-7312-9534-9E32-154620239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Ezetimibe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BBBAC2A4-1D3D-890E-E51C-A1D1DB0BA7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Blocks lacteals and lipid absorption</a:t>
            </a:r>
          </a:p>
          <a:p>
            <a:r>
              <a:rPr lang="en-US" altLang="en-US"/>
              <a:t>Same side effects as Orlistat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443AA85-1F0A-FB35-745B-E9D8EC53C8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Triglyceride Transport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B424595F-852E-B89D-C28A-69205C8DE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1813" y="2133600"/>
            <a:ext cx="7316787" cy="4191000"/>
          </a:xfrm>
        </p:spPr>
        <p:txBody>
          <a:bodyPr/>
          <a:lstStyle/>
          <a:p>
            <a:pPr eaLnBrk="1" hangingPunct="1"/>
            <a:r>
              <a:rPr lang="en-US" altLang="en-US"/>
              <a:t>Chylomicrons</a:t>
            </a:r>
          </a:p>
          <a:p>
            <a:pPr eaLnBrk="1" hangingPunct="1"/>
            <a:r>
              <a:rPr lang="en-US" altLang="en-US"/>
              <a:t>VLDL</a:t>
            </a:r>
          </a:p>
          <a:p>
            <a:pPr eaLnBrk="1" hangingPunct="1"/>
            <a:r>
              <a:rPr lang="en-US" altLang="en-US"/>
              <a:t>IDL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Signs: </a:t>
            </a:r>
          </a:p>
          <a:p>
            <a:pPr lvl="1" eaLnBrk="1" hangingPunct="1"/>
            <a:r>
              <a:rPr lang="en-US" altLang="en-US" sz="2400"/>
              <a:t>Xanthelasma</a:t>
            </a:r>
          </a:p>
          <a:p>
            <a:pPr lvl="1" eaLnBrk="1" hangingPunct="1"/>
            <a:r>
              <a:rPr lang="en-US" altLang="en-US" sz="2400"/>
              <a:t>Pancreatitis 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1">
            <a:extLst>
              <a:ext uri="{FF2B5EF4-FFF2-40B4-BE49-F238E27FC236}">
                <a16:creationId xmlns:a16="http://schemas.microsoft.com/office/drawing/2014/main" id="{4D1C5093-2F1E-10D7-AE40-16617310B0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Chylomicrons</a:t>
            </a:r>
          </a:p>
        </p:txBody>
      </p:sp>
      <p:sp>
        <p:nvSpPr>
          <p:cNvPr id="113667" name="Content Placeholder 2">
            <a:extLst>
              <a:ext uri="{FF2B5EF4-FFF2-40B4-BE49-F238E27FC236}">
                <a16:creationId xmlns:a16="http://schemas.microsoft.com/office/drawing/2014/main" id="{EE204CD7-8C27-364A-CC29-26473F2754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Made from Apo B-48</a:t>
            </a:r>
          </a:p>
          <a:p>
            <a:r>
              <a:rPr lang="en-US" altLang="en-US"/>
              <a:t>Carries long and short chain fatty acids</a:t>
            </a:r>
          </a:p>
          <a:p>
            <a:r>
              <a:rPr lang="en-US" altLang="en-US"/>
              <a:t>Drops off 75% of triglycerides to endothelium</a:t>
            </a:r>
          </a:p>
          <a:p>
            <a:r>
              <a:rPr lang="en-US" altLang="en-US"/>
              <a:t>Drops off remaining 25% of triglycerides to liver</a:t>
            </a:r>
          </a:p>
          <a:p>
            <a:r>
              <a:rPr lang="en-US" altLang="en-US"/>
              <a:t>Gets Apo C-2 from HDL</a:t>
            </a:r>
          </a:p>
          <a:p>
            <a:r>
              <a:rPr lang="en-US" altLang="en-US"/>
              <a:t>Uses Apo C-2 to activate Lipoprotein Lipase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>
            <a:extLst>
              <a:ext uri="{FF2B5EF4-FFF2-40B4-BE49-F238E27FC236}">
                <a16:creationId xmlns:a16="http://schemas.microsoft.com/office/drawing/2014/main" id="{833436F3-344B-B0BF-F874-6150F97328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Medium Chain Triglycerides</a:t>
            </a:r>
          </a:p>
        </p:txBody>
      </p:sp>
      <p:sp>
        <p:nvSpPr>
          <p:cNvPr id="114691" name="Content Placeholder 2">
            <a:extLst>
              <a:ext uri="{FF2B5EF4-FFF2-40B4-BE49-F238E27FC236}">
                <a16:creationId xmlns:a16="http://schemas.microsoft.com/office/drawing/2014/main" id="{FA33AE04-4662-EFCC-97A8-F424777AD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Do NOT use the chylomicrons</a:t>
            </a:r>
          </a:p>
          <a:p>
            <a:r>
              <a:rPr lang="en-US" altLang="en-US"/>
              <a:t>Carried by Albumin to liver </a:t>
            </a:r>
          </a:p>
          <a:p>
            <a:r>
              <a:rPr lang="en-US" altLang="en-US"/>
              <a:t>Do NOT require lacteals</a:t>
            </a:r>
          </a:p>
          <a:p>
            <a:r>
              <a:rPr lang="en-US" altLang="en-US"/>
              <a:t>Can be absorbed even in inflammatory bowel disease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>
            <a:extLst>
              <a:ext uri="{FF2B5EF4-FFF2-40B4-BE49-F238E27FC236}">
                <a16:creationId xmlns:a16="http://schemas.microsoft.com/office/drawing/2014/main" id="{056F55EC-BA8A-DDBC-0A50-A11E80139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VLDL</a:t>
            </a:r>
          </a:p>
        </p:txBody>
      </p:sp>
      <p:sp>
        <p:nvSpPr>
          <p:cNvPr id="115715" name="Content Placeholder 2">
            <a:extLst>
              <a:ext uri="{FF2B5EF4-FFF2-40B4-BE49-F238E27FC236}">
                <a16:creationId xmlns:a16="http://schemas.microsoft.com/office/drawing/2014/main" id="{D5BD4B90-EF6D-3D2C-DCAD-1DBB806C80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Made in the liver</a:t>
            </a:r>
          </a:p>
          <a:p>
            <a:r>
              <a:rPr lang="en-US" altLang="en-US"/>
              <a:t>Has 95% long chain free fatty acids, 5% cholesterol</a:t>
            </a:r>
          </a:p>
          <a:p>
            <a:r>
              <a:rPr lang="en-US" altLang="en-US"/>
              <a:t>Gets Apo B100 from the liver</a:t>
            </a:r>
          </a:p>
          <a:p>
            <a:r>
              <a:rPr lang="en-US" altLang="en-US"/>
              <a:t>Gets Apo C-2 and Apo E from HDL</a:t>
            </a:r>
          </a:p>
          <a:p>
            <a:r>
              <a:rPr lang="en-US" altLang="en-US"/>
              <a:t>Goes to Adipose to drop off 50% of triglycerides</a:t>
            </a:r>
          </a:p>
          <a:p>
            <a:r>
              <a:rPr lang="en-US" altLang="en-US"/>
              <a:t>Uses Apo C-2 to activate Lipoprotein Lipase</a:t>
            </a:r>
          </a:p>
          <a:p>
            <a:r>
              <a:rPr lang="en-US" altLang="en-US"/>
              <a:t>Blocked by Niacin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itle 1">
            <a:extLst>
              <a:ext uri="{FF2B5EF4-FFF2-40B4-BE49-F238E27FC236}">
                <a16:creationId xmlns:a16="http://schemas.microsoft.com/office/drawing/2014/main" id="{56886B7D-BFF2-DE17-0901-7FBC6E54D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IDL</a:t>
            </a:r>
          </a:p>
        </p:txBody>
      </p:sp>
      <p:sp>
        <p:nvSpPr>
          <p:cNvPr id="116739" name="Content Placeholder 2">
            <a:extLst>
              <a:ext uri="{FF2B5EF4-FFF2-40B4-BE49-F238E27FC236}">
                <a16:creationId xmlns:a16="http://schemas.microsoft.com/office/drawing/2014/main" id="{130B4F49-2AD1-5A4B-FE76-C48ACD62B9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remnant of VLDL</a:t>
            </a:r>
          </a:p>
          <a:p>
            <a:r>
              <a:rPr lang="en-US" altLang="en-US"/>
              <a:t>Has Apo C-2, Apo E, and Apo B100</a:t>
            </a:r>
          </a:p>
          <a:p>
            <a:r>
              <a:rPr lang="en-US" altLang="en-US"/>
              <a:t>Uses ONLY Apo E to drop off triglycerides everywhere else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>
            <a:extLst>
              <a:ext uri="{FF2B5EF4-FFF2-40B4-BE49-F238E27FC236}">
                <a16:creationId xmlns:a16="http://schemas.microsoft.com/office/drawing/2014/main" id="{E0920F8C-A7AE-4334-AC2A-1D884F4AE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 Treat Hypertriglyceridemia</a:t>
            </a:r>
          </a:p>
        </p:txBody>
      </p:sp>
      <p:sp>
        <p:nvSpPr>
          <p:cNvPr id="117763" name="Content Placeholder 2">
            <a:extLst>
              <a:ext uri="{FF2B5EF4-FFF2-40B4-BE49-F238E27FC236}">
                <a16:creationId xmlns:a16="http://schemas.microsoft.com/office/drawing/2014/main" id="{DF2B74CC-D51B-2F57-7286-75C1C2599E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Fibrates: Enhance lipoprotein lipase activity</a:t>
            </a:r>
          </a:p>
          <a:p>
            <a:pPr lvl="1"/>
            <a:r>
              <a:rPr lang="en-US" altLang="en-US"/>
              <a:t>Gemfibrozil</a:t>
            </a:r>
          </a:p>
          <a:p>
            <a:pPr lvl="1"/>
            <a:r>
              <a:rPr lang="en-US" altLang="en-US"/>
              <a:t>Clofibrate</a:t>
            </a:r>
          </a:p>
          <a:p>
            <a:pPr lvl="1"/>
            <a:r>
              <a:rPr lang="en-US" altLang="en-US"/>
              <a:t>Fenofibrate</a:t>
            </a:r>
          </a:p>
          <a:p>
            <a:r>
              <a:rPr lang="en-US" altLang="en-US"/>
              <a:t>If that is not enough, then add:</a:t>
            </a:r>
          </a:p>
          <a:p>
            <a:pPr lvl="1"/>
            <a:r>
              <a:rPr lang="en-US" altLang="en-US"/>
              <a:t>Blocks VLDL production in liver</a:t>
            </a:r>
          </a:p>
          <a:p>
            <a:pPr lvl="1"/>
            <a:r>
              <a:rPr lang="en-US" altLang="en-US"/>
              <a:t>Niacin</a:t>
            </a:r>
          </a:p>
          <a:p>
            <a:pPr lvl="1"/>
            <a:r>
              <a:rPr lang="en-US" altLang="en-US"/>
              <a:t>Probucol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773E177-9F33-90F6-3940-3EF80B64FF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Sphingolipids</a:t>
            </a:r>
          </a:p>
        </p:txBody>
      </p:sp>
      <p:sp>
        <p:nvSpPr>
          <p:cNvPr id="118787" name="TextBox 2">
            <a:extLst>
              <a:ext uri="{FF2B5EF4-FFF2-40B4-BE49-F238E27FC236}">
                <a16:creationId xmlns:a16="http://schemas.microsoft.com/office/drawing/2014/main" id="{5F17016A-FF36-7CBA-B21C-893273A80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743200"/>
            <a:ext cx="59039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6000"/>
              <a:t>C</a:t>
            </a:r>
            <a:r>
              <a:rPr lang="en-US" altLang="en-US" sz="6000" baseline="-25000"/>
              <a:t>16</a:t>
            </a:r>
            <a:r>
              <a:rPr lang="en-US" altLang="en-US" sz="6000"/>
              <a:t>-SCoA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itle 1">
            <a:extLst>
              <a:ext uri="{FF2B5EF4-FFF2-40B4-BE49-F238E27FC236}">
                <a16:creationId xmlns:a16="http://schemas.microsoft.com/office/drawing/2014/main" id="{F4D662C1-266B-D3DB-2814-7B4F3D89C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505200"/>
            <a:ext cx="8305800" cy="1081088"/>
          </a:xfrm>
        </p:spPr>
        <p:txBody>
          <a:bodyPr/>
          <a:lstStyle/>
          <a:p>
            <a:pPr>
              <a:defRPr/>
            </a:pPr>
            <a:r>
              <a:rPr lang="en-US" altLang="en-US" sz="4000" b="1" dirty="0">
                <a:solidFill>
                  <a:schemeClr val="bg1"/>
                </a:solidFill>
                <a:latin typeface="+mn-lt"/>
              </a:rPr>
              <a:t>CDP = carrier for complex lipids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itle 1">
            <a:extLst>
              <a:ext uri="{FF2B5EF4-FFF2-40B4-BE49-F238E27FC236}">
                <a16:creationId xmlns:a16="http://schemas.microsoft.com/office/drawing/2014/main" id="{33B57877-752F-EA7F-1B92-E475C3127A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Sphingosine</a:t>
            </a:r>
          </a:p>
        </p:txBody>
      </p:sp>
      <p:sp>
        <p:nvSpPr>
          <p:cNvPr id="121859" name="Content Placeholder 2">
            <a:extLst>
              <a:ext uri="{FF2B5EF4-FFF2-40B4-BE49-F238E27FC236}">
                <a16:creationId xmlns:a16="http://schemas.microsoft.com/office/drawing/2014/main" id="{7150A0CC-A6B7-D834-5A0F-2EA821BB91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Made by adding CDP-serine to C-16SCoA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itle 1">
            <a:extLst>
              <a:ext uri="{FF2B5EF4-FFF2-40B4-BE49-F238E27FC236}">
                <a16:creationId xmlns:a16="http://schemas.microsoft.com/office/drawing/2014/main" id="{1C7CE185-98E2-3B53-9421-CC60B3FC06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Ceramide</a:t>
            </a:r>
          </a:p>
        </p:txBody>
      </p:sp>
      <p:sp>
        <p:nvSpPr>
          <p:cNvPr id="122883" name="Content Placeholder 2">
            <a:extLst>
              <a:ext uri="{FF2B5EF4-FFF2-40B4-BE49-F238E27FC236}">
                <a16:creationId xmlns:a16="http://schemas.microsoft.com/office/drawing/2014/main" id="{D650737E-BC54-FCA7-05D7-0372AFDB15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Made by adding C-16 to the N of serine on sphingosine</a:t>
            </a:r>
          </a:p>
          <a:p>
            <a:r>
              <a:rPr lang="en-US" altLang="en-US"/>
              <a:t>Becomes the backbone for the complex sphingolipids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">
            <a:extLst>
              <a:ext uri="{FF2B5EF4-FFF2-40B4-BE49-F238E27FC236}">
                <a16:creationId xmlns:a16="http://schemas.microsoft.com/office/drawing/2014/main" id="{5C2CEADE-27BD-DB74-6ED0-46129C99D6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Cerebroside</a:t>
            </a:r>
          </a:p>
        </p:txBody>
      </p:sp>
      <p:sp>
        <p:nvSpPr>
          <p:cNvPr id="123907" name="Content Placeholder 2">
            <a:extLst>
              <a:ext uri="{FF2B5EF4-FFF2-40B4-BE49-F238E27FC236}">
                <a16:creationId xmlns:a16="http://schemas.microsoft.com/office/drawing/2014/main" id="{57CCBECE-F655-B438-4F35-595F54D12D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Made by adding a UDP-sugar to ceramide</a:t>
            </a:r>
          </a:p>
          <a:p>
            <a:r>
              <a:rPr lang="en-US" altLang="en-US"/>
              <a:t>Found in Myelin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itle 1">
            <a:extLst>
              <a:ext uri="{FF2B5EF4-FFF2-40B4-BE49-F238E27FC236}">
                <a16:creationId xmlns:a16="http://schemas.microsoft.com/office/drawing/2014/main" id="{7F07DDD7-9192-34C2-3569-F06C1CDE60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Ganglioside</a:t>
            </a:r>
          </a:p>
        </p:txBody>
      </p:sp>
      <p:sp>
        <p:nvSpPr>
          <p:cNvPr id="124931" name="Content Placeholder 2">
            <a:extLst>
              <a:ext uri="{FF2B5EF4-FFF2-40B4-BE49-F238E27FC236}">
                <a16:creationId xmlns:a16="http://schemas.microsoft.com/office/drawing/2014/main" id="{56E5124A-14B2-68C1-4ECD-343CB04BE8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Made by adding a ‘gang’ of sugars to ceramide</a:t>
            </a:r>
          </a:p>
          <a:p>
            <a:r>
              <a:rPr lang="en-US" altLang="en-US"/>
              <a:t>Dolichol is the carrier for the sugars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F716A07D-B073-C973-17E5-7C890C117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Sphingomyelin</a:t>
            </a:r>
          </a:p>
        </p:txBody>
      </p:sp>
      <p:sp>
        <p:nvSpPr>
          <p:cNvPr id="125955" name="Content Placeholder 2">
            <a:extLst>
              <a:ext uri="{FF2B5EF4-FFF2-40B4-BE49-F238E27FC236}">
                <a16:creationId xmlns:a16="http://schemas.microsoft.com/office/drawing/2014/main" id="{1756EF9B-1295-C8A6-671F-FBB2ED3E97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Made by adding phosphorylcholine to ceramide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itle 1">
            <a:extLst>
              <a:ext uri="{FF2B5EF4-FFF2-40B4-BE49-F238E27FC236}">
                <a16:creationId xmlns:a16="http://schemas.microsoft.com/office/drawing/2014/main" id="{12243438-6981-1C0C-2FCA-5CCB82ED4E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BIG Picture</a:t>
            </a:r>
          </a:p>
        </p:txBody>
      </p:sp>
      <p:sp>
        <p:nvSpPr>
          <p:cNvPr id="126979" name="Content Placeholder 2">
            <a:extLst>
              <a:ext uri="{FF2B5EF4-FFF2-40B4-BE49-F238E27FC236}">
                <a16:creationId xmlns:a16="http://schemas.microsoft.com/office/drawing/2014/main" id="{67151AD8-E674-8FC4-6CEF-AD26EF943B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All the complex lipids are used mainly by neural tissue</a:t>
            </a:r>
          </a:p>
          <a:p>
            <a:r>
              <a:rPr lang="en-US" altLang="en-US" sz="2000"/>
              <a:t>Therefore, all the syndromes have severe intellectual deficiency, microcephaly, poor milestones attainment, floppy babies, etc.</a:t>
            </a:r>
          </a:p>
          <a:p>
            <a:r>
              <a:rPr lang="en-US" altLang="en-US" sz="2000"/>
              <a:t>These large molecules are all recycled after they are used</a:t>
            </a:r>
          </a:p>
          <a:p>
            <a:r>
              <a:rPr lang="en-US" altLang="en-US" sz="2000"/>
              <a:t>Lysosomes digest them back to their small parts and they are recycled</a:t>
            </a:r>
          </a:p>
          <a:p>
            <a:r>
              <a:rPr lang="en-US" altLang="en-US" sz="2000"/>
              <a:t>Severe low energy state if not able to recycle due to deficiency of enzyme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itle 1">
            <a:extLst>
              <a:ext uri="{FF2B5EF4-FFF2-40B4-BE49-F238E27FC236}">
                <a16:creationId xmlns:a16="http://schemas.microsoft.com/office/drawing/2014/main" id="{8150CC05-8D60-7812-E472-B90A4ED1B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Lysosomal Storage Diseases</a:t>
            </a:r>
          </a:p>
        </p:txBody>
      </p:sp>
      <p:sp>
        <p:nvSpPr>
          <p:cNvPr id="128003" name="Content Placeholder 2">
            <a:extLst>
              <a:ext uri="{FF2B5EF4-FFF2-40B4-BE49-F238E27FC236}">
                <a16:creationId xmlns:a16="http://schemas.microsoft.com/office/drawing/2014/main" id="{962E4C66-B7CB-75CF-6FB4-981B725CE1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Enzyme deficiencies</a:t>
            </a:r>
          </a:p>
          <a:p>
            <a:r>
              <a:rPr lang="en-US" altLang="en-US"/>
              <a:t>All have lysosomal inclusion bodies</a:t>
            </a:r>
          </a:p>
          <a:p>
            <a:r>
              <a:rPr lang="en-US" altLang="en-US"/>
              <a:t>All are low energy states</a:t>
            </a:r>
          </a:p>
          <a:p>
            <a:r>
              <a:rPr lang="en-US" altLang="en-US"/>
              <a:t>They die from (1)respiratory failure and (2) heart failure</a:t>
            </a:r>
          </a:p>
          <a:p>
            <a:r>
              <a:rPr lang="en-US" altLang="en-US"/>
              <a:t>Mannose 6 phosphate label is missing from the particular enzyme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B2C9362-21F3-95A8-2CBC-B81A43EA5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Lysosomal Storage Diseases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F15DA1CC-56D7-60CE-5282-5054E27DB5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Gaucher: glucocerebrosidase</a:t>
            </a:r>
          </a:p>
          <a:p>
            <a:pPr eaLnBrk="1" hangingPunct="1"/>
            <a:r>
              <a:rPr lang="en-US" altLang="en-US" sz="2000"/>
              <a:t>Fabry’s: alpha galactosidase</a:t>
            </a:r>
          </a:p>
          <a:p>
            <a:pPr eaLnBrk="1" hangingPunct="1"/>
            <a:r>
              <a:rPr lang="en-US" altLang="en-US" sz="2000"/>
              <a:t>Krabbe’s: beta galactosylceramidase</a:t>
            </a:r>
          </a:p>
          <a:p>
            <a:pPr eaLnBrk="1" hangingPunct="1"/>
            <a:r>
              <a:rPr lang="en-US" altLang="en-US" sz="2000"/>
              <a:t>Tay Sachs: hexosaminidase A</a:t>
            </a:r>
          </a:p>
          <a:p>
            <a:pPr eaLnBrk="1" hangingPunct="1"/>
            <a:r>
              <a:rPr lang="en-US" altLang="en-US" sz="2000"/>
              <a:t>Sandhoff’s: hexosaminidase A &amp; B</a:t>
            </a:r>
          </a:p>
          <a:p>
            <a:pPr eaLnBrk="1" hangingPunct="1"/>
            <a:r>
              <a:rPr lang="en-US" altLang="en-US" sz="2000"/>
              <a:t>Nieman Pick: sphingomyelinase</a:t>
            </a:r>
          </a:p>
          <a:p>
            <a:pPr eaLnBrk="1" hangingPunct="1"/>
            <a:r>
              <a:rPr lang="en-US" altLang="en-US" sz="2000"/>
              <a:t>Metachromatic leukodystrophy: arylsulfatase </a:t>
            </a:r>
          </a:p>
          <a:p>
            <a:pPr eaLnBrk="1" hangingPunct="1"/>
            <a:r>
              <a:rPr lang="en-US" altLang="en-US" sz="2000"/>
              <a:t>Hurler’s: Iduronidase</a:t>
            </a:r>
          </a:p>
          <a:p>
            <a:pPr eaLnBrk="1" hangingPunct="1"/>
            <a:r>
              <a:rPr lang="en-US" altLang="en-US" sz="2000"/>
              <a:t>Hunter’s: Iduronidase sulphatase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itle 1">
            <a:extLst>
              <a:ext uri="{FF2B5EF4-FFF2-40B4-BE49-F238E27FC236}">
                <a16:creationId xmlns:a16="http://schemas.microsoft.com/office/drawing/2014/main" id="{C2B22AC1-2AA8-DBD9-870B-2436BA823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X-Linked</a:t>
            </a:r>
          </a:p>
        </p:txBody>
      </p:sp>
      <p:sp>
        <p:nvSpPr>
          <p:cNvPr id="131075" name="Content Placeholder 2">
            <a:extLst>
              <a:ext uri="{FF2B5EF4-FFF2-40B4-BE49-F238E27FC236}">
                <a16:creationId xmlns:a16="http://schemas.microsoft.com/office/drawing/2014/main" id="{298AD41D-7D34-551A-C1D4-8E9666D1A4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Fabry’s</a:t>
            </a:r>
          </a:p>
          <a:p>
            <a:r>
              <a:rPr lang="en-US" altLang="en-US"/>
              <a:t>Hunter’s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itle 1">
            <a:extLst>
              <a:ext uri="{FF2B5EF4-FFF2-40B4-BE49-F238E27FC236}">
                <a16:creationId xmlns:a16="http://schemas.microsoft.com/office/drawing/2014/main" id="{6F1FBDDE-24CC-BACA-C196-BD87118BC8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Gargoyle-Like Features</a:t>
            </a:r>
          </a:p>
        </p:txBody>
      </p:sp>
      <p:sp>
        <p:nvSpPr>
          <p:cNvPr id="132099" name="Content Placeholder 2">
            <a:extLst>
              <a:ext uri="{FF2B5EF4-FFF2-40B4-BE49-F238E27FC236}">
                <a16:creationId xmlns:a16="http://schemas.microsoft.com/office/drawing/2014/main" id="{9D5CF5F3-776B-810D-66E6-EB700B5B0A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Gaucher’s</a:t>
            </a:r>
          </a:p>
          <a:p>
            <a:r>
              <a:rPr lang="en-US" altLang="en-US"/>
              <a:t>Hurler’s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itle 1">
            <a:extLst>
              <a:ext uri="{FF2B5EF4-FFF2-40B4-BE49-F238E27FC236}">
                <a16:creationId xmlns:a16="http://schemas.microsoft.com/office/drawing/2014/main" id="{995C6A01-2B98-C431-DB00-F6FBBDA07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Jewish Descent</a:t>
            </a:r>
          </a:p>
        </p:txBody>
      </p:sp>
      <p:sp>
        <p:nvSpPr>
          <p:cNvPr id="133123" name="Content Placeholder 2">
            <a:extLst>
              <a:ext uri="{FF2B5EF4-FFF2-40B4-BE49-F238E27FC236}">
                <a16:creationId xmlns:a16="http://schemas.microsoft.com/office/drawing/2014/main" id="{6F71BDC3-6413-E0B0-393A-BF4739B061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Gaucher’s</a:t>
            </a:r>
          </a:p>
          <a:p>
            <a:r>
              <a:rPr lang="en-US" altLang="en-US"/>
              <a:t>Tay Sack’s</a:t>
            </a:r>
          </a:p>
          <a:p>
            <a:r>
              <a:rPr lang="en-US" altLang="en-US"/>
              <a:t>Nieman-Pick’s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itle 1">
            <a:extLst>
              <a:ext uri="{FF2B5EF4-FFF2-40B4-BE49-F238E27FC236}">
                <a16:creationId xmlns:a16="http://schemas.microsoft.com/office/drawing/2014/main" id="{D52872FD-0C46-AD81-17E4-280DD6028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Cherry Red Macula</a:t>
            </a:r>
          </a:p>
        </p:txBody>
      </p:sp>
      <p:sp>
        <p:nvSpPr>
          <p:cNvPr id="134147" name="Content Placeholder 2">
            <a:extLst>
              <a:ext uri="{FF2B5EF4-FFF2-40B4-BE49-F238E27FC236}">
                <a16:creationId xmlns:a16="http://schemas.microsoft.com/office/drawing/2014/main" id="{8B5251B2-436E-E4A7-6F21-BDE0A4C2D2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Tay Sack’s</a:t>
            </a:r>
          </a:p>
          <a:p>
            <a:r>
              <a:rPr lang="en-US" altLang="en-US"/>
              <a:t>Sandhoff’s</a:t>
            </a:r>
          </a:p>
          <a:p>
            <a:r>
              <a:rPr lang="en-US" altLang="en-US"/>
              <a:t>Nieman-Pick’s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itle 1">
            <a:extLst>
              <a:ext uri="{FF2B5EF4-FFF2-40B4-BE49-F238E27FC236}">
                <a16:creationId xmlns:a16="http://schemas.microsoft.com/office/drawing/2014/main" id="{F6AFC212-0043-4827-3D95-08D1820616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Have Cataracts</a:t>
            </a:r>
          </a:p>
        </p:txBody>
      </p:sp>
      <p:sp>
        <p:nvSpPr>
          <p:cNvPr id="135171" name="Content Placeholder 2">
            <a:extLst>
              <a:ext uri="{FF2B5EF4-FFF2-40B4-BE49-F238E27FC236}">
                <a16:creationId xmlns:a16="http://schemas.microsoft.com/office/drawing/2014/main" id="{81E5900E-A60B-56EB-F48D-73DF91CBAF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Fabry’s</a:t>
            </a:r>
          </a:p>
          <a:p>
            <a:r>
              <a:rPr lang="en-US" altLang="en-US"/>
              <a:t>Hurler’s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itle 1">
            <a:extLst>
              <a:ext uri="{FF2B5EF4-FFF2-40B4-BE49-F238E27FC236}">
                <a16:creationId xmlns:a16="http://schemas.microsoft.com/office/drawing/2014/main" id="{774D54A8-E8C5-B9D6-47A3-CC625B1F64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Gaucher’s</a:t>
            </a:r>
          </a:p>
        </p:txBody>
      </p:sp>
      <p:sp>
        <p:nvSpPr>
          <p:cNvPr id="136195" name="Content Placeholder 2">
            <a:extLst>
              <a:ext uri="{FF2B5EF4-FFF2-40B4-BE49-F238E27FC236}">
                <a16:creationId xmlns:a16="http://schemas.microsoft.com/office/drawing/2014/main" id="{74C75C95-0DC4-93AE-F4A5-116B7038DD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Erlenmeyer flask legs</a:t>
            </a:r>
          </a:p>
          <a:p>
            <a:r>
              <a:rPr lang="en-US" altLang="en-US"/>
              <a:t>Gaucher’s cells: macrophages that look like crinkled up paper</a:t>
            </a:r>
          </a:p>
          <a:p>
            <a:r>
              <a:rPr lang="en-US" altLang="en-US"/>
              <a:t>May wipe out the entire bone marrow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BFA52B9E-FD37-5BCC-CD6C-85466BC039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Krabbe’s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A8A55422-10F4-36AE-4C88-B937AB2ECA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Has Globoid bodies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itle 1">
            <a:extLst>
              <a:ext uri="{FF2B5EF4-FFF2-40B4-BE49-F238E27FC236}">
                <a16:creationId xmlns:a16="http://schemas.microsoft.com/office/drawing/2014/main" id="{0BEC07CF-3CC4-A2B1-A7B3-A7B0D88F8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Tay</a:t>
            </a:r>
            <a:r>
              <a:rPr lang="en-US" altLang="en-US" sz="8000">
                <a:latin typeface="Impact" panose="020B0806030902050204" pitchFamily="34" charset="0"/>
              </a:rPr>
              <a:t> </a:t>
            </a:r>
            <a:r>
              <a:rPr lang="en-US" altLang="en-US"/>
              <a:t>Sachs</a:t>
            </a:r>
            <a:r>
              <a:rPr lang="en-US" altLang="en-US" sz="8000">
                <a:latin typeface="Impact" panose="020B0806030902050204" pitchFamily="34" charset="0"/>
              </a:rPr>
              <a:t> </a:t>
            </a:r>
          </a:p>
        </p:txBody>
      </p:sp>
      <p:sp>
        <p:nvSpPr>
          <p:cNvPr id="138243" name="Content Placeholder 2">
            <a:extLst>
              <a:ext uri="{FF2B5EF4-FFF2-40B4-BE49-F238E27FC236}">
                <a16:creationId xmlns:a16="http://schemas.microsoft.com/office/drawing/2014/main" id="{85B903B5-22BD-073D-3E30-977441C730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Very similar to Nieman-Picks but without hepatosplenomegaly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itle 1">
            <a:extLst>
              <a:ext uri="{FF2B5EF4-FFF2-40B4-BE49-F238E27FC236}">
                <a16:creationId xmlns:a16="http://schemas.microsoft.com/office/drawing/2014/main" id="{2FDD717D-19AD-5BEE-5A6A-DEB018E6A7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Nieman-Picks</a:t>
            </a:r>
          </a:p>
        </p:txBody>
      </p:sp>
      <p:sp>
        <p:nvSpPr>
          <p:cNvPr id="139267" name="Content Placeholder 2">
            <a:extLst>
              <a:ext uri="{FF2B5EF4-FFF2-40B4-BE49-F238E27FC236}">
                <a16:creationId xmlns:a16="http://schemas.microsoft.com/office/drawing/2014/main" id="{7E6A64E8-E83D-85DC-DBBE-3D1C6215EE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Just like Tay Sachs but has hepatosplenomegaly</a:t>
            </a:r>
          </a:p>
          <a:p>
            <a:r>
              <a:rPr lang="en-US" altLang="en-US"/>
              <a:t>Has Zebra bodies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itle 1">
            <a:extLst>
              <a:ext uri="{FF2B5EF4-FFF2-40B4-BE49-F238E27FC236}">
                <a16:creationId xmlns:a16="http://schemas.microsoft.com/office/drawing/2014/main" id="{ED3139F0-E598-4329-0BCD-F926B8A43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Metachromatic Leukodystrophy</a:t>
            </a:r>
          </a:p>
        </p:txBody>
      </p:sp>
      <p:sp>
        <p:nvSpPr>
          <p:cNvPr id="140291" name="Content Placeholder 2">
            <a:extLst>
              <a:ext uri="{FF2B5EF4-FFF2-40B4-BE49-F238E27FC236}">
                <a16:creationId xmlns:a16="http://schemas.microsoft.com/office/drawing/2014/main" id="{01D4E2DE-1405-0FC5-208C-FAAB3B2EE9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Arylsulfatase deficiency</a:t>
            </a:r>
          </a:p>
          <a:p>
            <a:r>
              <a:rPr lang="en-US" altLang="en-US"/>
              <a:t>A multiple sclerosis equivalent but in a 5- to 10-year-old child</a:t>
            </a:r>
          </a:p>
          <a:p>
            <a:r>
              <a:rPr lang="en-US" altLang="en-US"/>
              <a:t>First use MRI, then LP to diagnose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1DF05D8-01F8-DA01-ECD0-9AFD8B550EF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09588" y="2733675"/>
            <a:ext cx="6070600" cy="1373188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The Final Anabolic Process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362" name="TextBox 8">
            <a:extLst>
              <a:ext uri="{FF2B5EF4-FFF2-40B4-BE49-F238E27FC236}">
                <a16:creationId xmlns:a16="http://schemas.microsoft.com/office/drawing/2014/main" id="{CB2AEAC3-E26F-A529-4D22-96AD7BDC7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9700"/>
            <a:ext cx="6858000" cy="585788"/>
          </a:xfrm>
          <a:prstGeom prst="rect">
            <a:avLst/>
          </a:prstGeo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chemeClr val="bg1"/>
                </a:solidFill>
              </a:rPr>
              <a:t>Cholesterol Synthesis </a:t>
            </a:r>
          </a:p>
        </p:txBody>
      </p:sp>
      <p:sp>
        <p:nvSpPr>
          <p:cNvPr id="24580" name="Text Box 28">
            <a:extLst>
              <a:ext uri="{FF2B5EF4-FFF2-40B4-BE49-F238E27FC236}">
                <a16:creationId xmlns:a16="http://schemas.microsoft.com/office/drawing/2014/main" id="{8D0EDE7F-6AA2-0C63-B1CD-E3A144570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657600"/>
            <a:ext cx="3581400" cy="457200"/>
          </a:xfrm>
          <a:prstGeom prst="rect">
            <a:avLst/>
          </a:prstGeom>
          <a:solidFill>
            <a:schemeClr val="bg2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alt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Figure 6.13 Cholesterol Synthesis </a:t>
            </a:r>
          </a:p>
        </p:txBody>
      </p:sp>
      <p:pic>
        <p:nvPicPr>
          <p:cNvPr id="143364" name="Picture 10" descr="Diagram&#10;&#10;Description automatically generated">
            <a:extLst>
              <a:ext uri="{FF2B5EF4-FFF2-40B4-BE49-F238E27FC236}">
                <a16:creationId xmlns:a16="http://schemas.microsoft.com/office/drawing/2014/main" id="{3A42C657-1EF7-20F5-3F15-E3679435D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200"/>
            <a:ext cx="3854450" cy="580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itle 1">
            <a:extLst>
              <a:ext uri="{FF2B5EF4-FFF2-40B4-BE49-F238E27FC236}">
                <a16:creationId xmlns:a16="http://schemas.microsoft.com/office/drawing/2014/main" id="{A770AF57-EF61-0799-72FC-0B1F4EAC5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HMG CoA Reductase</a:t>
            </a:r>
          </a:p>
        </p:txBody>
      </p:sp>
      <p:sp>
        <p:nvSpPr>
          <p:cNvPr id="144387" name="Content Placeholder 2">
            <a:extLst>
              <a:ext uri="{FF2B5EF4-FFF2-40B4-BE49-F238E27FC236}">
                <a16:creationId xmlns:a16="http://schemas.microsoft.com/office/drawing/2014/main" id="{81530017-6A88-1D81-91DB-2568E5BFF6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Rate limiting enzyme for cholesterol synthesis</a:t>
            </a:r>
          </a:p>
          <a:p>
            <a:r>
              <a:rPr lang="en-US" altLang="en-US"/>
              <a:t>Insulin increases activity</a:t>
            </a:r>
          </a:p>
          <a:p>
            <a:r>
              <a:rPr lang="en-US" altLang="en-US"/>
              <a:t>Most active by 8pm each evening</a:t>
            </a:r>
          </a:p>
          <a:p>
            <a:r>
              <a:rPr lang="en-US" altLang="en-US"/>
              <a:t>Statins should be taken after dinner</a:t>
            </a:r>
          </a:p>
          <a:p>
            <a:r>
              <a:rPr lang="en-US" altLang="en-US"/>
              <a:t>Allosteric activator: HMG CoA</a:t>
            </a:r>
          </a:p>
          <a:p>
            <a:r>
              <a:rPr lang="en-US" altLang="en-US"/>
              <a:t>Allosteric inhibitor: dietary cholesterol</a:t>
            </a:r>
          </a:p>
          <a:p>
            <a:r>
              <a:rPr lang="en-US" altLang="en-US"/>
              <a:t>Highest concentration seen in American Indians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itle 1">
            <a:extLst>
              <a:ext uri="{FF2B5EF4-FFF2-40B4-BE49-F238E27FC236}">
                <a16:creationId xmlns:a16="http://schemas.microsoft.com/office/drawing/2014/main" id="{06FF2C90-B027-04F9-E99F-8D21C3DC8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17488"/>
            <a:ext cx="6896100" cy="1081087"/>
          </a:xfrm>
        </p:spPr>
        <p:txBody>
          <a:bodyPr/>
          <a:lstStyle/>
          <a:p>
            <a:r>
              <a:rPr lang="en-US" altLang="en-US">
                <a:solidFill>
                  <a:srgbClr val="EE7444"/>
                </a:solidFill>
              </a:rPr>
              <a:t>Gallstones</a:t>
            </a:r>
          </a:p>
        </p:txBody>
      </p:sp>
      <p:pic>
        <p:nvPicPr>
          <p:cNvPr id="145411" name="Picture 4" descr="Diagram&#10;&#10;Description automatically generated">
            <a:extLst>
              <a:ext uri="{FF2B5EF4-FFF2-40B4-BE49-F238E27FC236}">
                <a16:creationId xmlns:a16="http://schemas.microsoft.com/office/drawing/2014/main" id="{2DF828DC-E3C4-05FC-D82E-09BA2D0CE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143000"/>
            <a:ext cx="5943600" cy="549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itle 1">
            <a:extLst>
              <a:ext uri="{FF2B5EF4-FFF2-40B4-BE49-F238E27FC236}">
                <a16:creationId xmlns:a16="http://schemas.microsoft.com/office/drawing/2014/main" id="{64AA3D11-0E88-FE63-5723-41D6CDEAA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Gallstone Presentation:</a:t>
            </a:r>
          </a:p>
        </p:txBody>
      </p:sp>
      <p:sp>
        <p:nvSpPr>
          <p:cNvPr id="146435" name="Content Placeholder 2">
            <a:extLst>
              <a:ext uri="{FF2B5EF4-FFF2-40B4-BE49-F238E27FC236}">
                <a16:creationId xmlns:a16="http://schemas.microsoft.com/office/drawing/2014/main" id="{16D77E79-D1D8-A7AD-4483-022D85A625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RUQ pain after a fatty meal</a:t>
            </a:r>
          </a:p>
          <a:p>
            <a:r>
              <a:rPr lang="en-US" altLang="en-US"/>
              <a:t>RUQ colic</a:t>
            </a:r>
          </a:p>
          <a:p>
            <a:r>
              <a:rPr lang="en-US" altLang="en-US"/>
              <a:t>Positive Murphy’s Sign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Title 1">
            <a:extLst>
              <a:ext uri="{FF2B5EF4-FFF2-40B4-BE49-F238E27FC236}">
                <a16:creationId xmlns:a16="http://schemas.microsoft.com/office/drawing/2014/main" id="{B297BC64-B9A8-19FF-A5A3-CEA4C5B9B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Location of Gallstones</a:t>
            </a:r>
          </a:p>
        </p:txBody>
      </p:sp>
      <p:sp>
        <p:nvSpPr>
          <p:cNvPr id="147459" name="Content Placeholder 2">
            <a:extLst>
              <a:ext uri="{FF2B5EF4-FFF2-40B4-BE49-F238E27FC236}">
                <a16:creationId xmlns:a16="http://schemas.microsoft.com/office/drawing/2014/main" id="{4300FED7-5CE5-42F0-6E40-5E583D4452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Cystic duct: 90%</a:t>
            </a:r>
          </a:p>
          <a:p>
            <a:r>
              <a:rPr lang="en-US" altLang="en-US"/>
              <a:t>Common Bile Duct: 9%</a:t>
            </a:r>
          </a:p>
          <a:p>
            <a:pPr lvl="1"/>
            <a:r>
              <a:rPr lang="en-US" altLang="en-US"/>
              <a:t>High alkaline phosphatase</a:t>
            </a:r>
          </a:p>
          <a:p>
            <a:pPr lvl="1"/>
            <a:r>
              <a:rPr lang="en-US" altLang="en-US"/>
              <a:t>Increased Temp and increased WBCs</a:t>
            </a:r>
          </a:p>
          <a:p>
            <a:pPr lvl="1"/>
            <a:r>
              <a:rPr lang="en-US" altLang="en-US"/>
              <a:t>Gallstone pancreatitis</a:t>
            </a:r>
          </a:p>
          <a:p>
            <a:r>
              <a:rPr lang="en-US" altLang="en-US"/>
              <a:t>Ileocecal valve: Gallstone ileus</a:t>
            </a:r>
          </a:p>
          <a:p>
            <a:pPr lvl="1"/>
            <a:r>
              <a:rPr lang="en-US" altLang="en-US"/>
              <a:t>Gallstone eroded through the back of the gallbladder</a:t>
            </a:r>
          </a:p>
          <a:p>
            <a:pPr lvl="1"/>
            <a:r>
              <a:rPr lang="en-US" altLang="en-US"/>
              <a:t>Fistula between gallbladder and duodenum</a:t>
            </a:r>
          </a:p>
          <a:p>
            <a:pPr lvl="1"/>
            <a:r>
              <a:rPr lang="en-US" altLang="en-US"/>
              <a:t>Pneumobilia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itle 1">
            <a:extLst>
              <a:ext uri="{FF2B5EF4-FFF2-40B4-BE49-F238E27FC236}">
                <a16:creationId xmlns:a16="http://schemas.microsoft.com/office/drawing/2014/main" id="{BC04A53B-A980-5AD5-9140-947FC0392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Gallstone Terminology:</a:t>
            </a:r>
          </a:p>
        </p:txBody>
      </p:sp>
      <p:sp>
        <p:nvSpPr>
          <p:cNvPr id="148483" name="Content Placeholder 2">
            <a:extLst>
              <a:ext uri="{FF2B5EF4-FFF2-40B4-BE49-F238E27FC236}">
                <a16:creationId xmlns:a16="http://schemas.microsoft.com/office/drawing/2014/main" id="{422D1281-3E2C-9DF8-1EE4-8EAC7F7103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bg1"/>
                </a:solidFill>
              </a:rPr>
              <a:t>Cholelithiasis</a:t>
            </a:r>
            <a:r>
              <a:rPr lang="en-US" altLang="en-US"/>
              <a:t>: You have gallstones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Cholecystitis</a:t>
            </a:r>
            <a:r>
              <a:rPr lang="en-US" altLang="en-US"/>
              <a:t>: Inflammation of the gallbladder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Choledocholithiasis</a:t>
            </a:r>
            <a:r>
              <a:rPr lang="en-US" altLang="en-US"/>
              <a:t>: Gallstones in the biliary tract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Cholangitis</a:t>
            </a:r>
            <a:r>
              <a:rPr lang="en-US" altLang="en-US"/>
              <a:t>: Infection of the biliary tree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itle 1">
            <a:extLst>
              <a:ext uri="{FF2B5EF4-FFF2-40B4-BE49-F238E27FC236}">
                <a16:creationId xmlns:a16="http://schemas.microsoft.com/office/drawing/2014/main" id="{16D108CF-7018-0AB1-4365-5294378DAC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Cholecystitis</a:t>
            </a:r>
          </a:p>
        </p:txBody>
      </p:sp>
      <p:sp>
        <p:nvSpPr>
          <p:cNvPr id="149507" name="Content Placeholder 2">
            <a:extLst>
              <a:ext uri="{FF2B5EF4-FFF2-40B4-BE49-F238E27FC236}">
                <a16:creationId xmlns:a16="http://schemas.microsoft.com/office/drawing/2014/main" id="{8FA1040E-1A2E-CD92-7250-A5E30525CF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Inflammation of the gallbladder</a:t>
            </a:r>
          </a:p>
          <a:p>
            <a:r>
              <a:rPr lang="en-US" altLang="en-US"/>
              <a:t>Management:</a:t>
            </a:r>
          </a:p>
          <a:p>
            <a:pPr lvl="1"/>
            <a:r>
              <a:rPr lang="en-US" altLang="en-US"/>
              <a:t>NPO</a:t>
            </a:r>
          </a:p>
          <a:p>
            <a:pPr lvl="1"/>
            <a:r>
              <a:rPr lang="en-US" altLang="en-US"/>
              <a:t>IV Normal Saline</a:t>
            </a:r>
          </a:p>
          <a:p>
            <a:pPr lvl="1"/>
            <a:r>
              <a:rPr lang="en-US" altLang="en-US"/>
              <a:t>Nasogastric tube </a:t>
            </a:r>
          </a:p>
          <a:p>
            <a:pPr lvl="1"/>
            <a:r>
              <a:rPr lang="en-US" altLang="en-US"/>
              <a:t>Meperidine for pain</a:t>
            </a:r>
          </a:p>
          <a:p>
            <a:pPr lvl="1"/>
            <a:r>
              <a:rPr lang="en-US" altLang="en-US"/>
              <a:t>IV antibiotics for 48 to 72 hours</a:t>
            </a:r>
          </a:p>
          <a:p>
            <a:pPr lvl="1"/>
            <a:r>
              <a:rPr lang="en-US" altLang="en-US"/>
              <a:t>Ultrasound</a:t>
            </a:r>
          </a:p>
          <a:p>
            <a:pPr lvl="1"/>
            <a:r>
              <a:rPr lang="en-US" altLang="en-US"/>
              <a:t>Laparoscopic Cholecystectomy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Title 1">
            <a:extLst>
              <a:ext uri="{FF2B5EF4-FFF2-40B4-BE49-F238E27FC236}">
                <a16:creationId xmlns:a16="http://schemas.microsoft.com/office/drawing/2014/main" id="{2DBEF1CD-8291-85F7-6BE3-669792C1A8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52475"/>
            <a:ext cx="7199313" cy="1081088"/>
          </a:xfrm>
        </p:spPr>
        <p:txBody>
          <a:bodyPr/>
          <a:lstStyle/>
          <a:p>
            <a:r>
              <a:rPr lang="en-US" altLang="en-US"/>
              <a:t>Cholelithiasis/Choledocholithiasis</a:t>
            </a:r>
          </a:p>
        </p:txBody>
      </p:sp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829DABA8-288E-FAB3-7C20-51A94C6236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ERCP for CBD stones</a:t>
            </a:r>
          </a:p>
          <a:p>
            <a:r>
              <a:rPr lang="en-US" altLang="en-US"/>
              <a:t>Asymptomatic gallstones should be electively taken out in next two years</a:t>
            </a:r>
          </a:p>
          <a:p>
            <a:r>
              <a:rPr lang="en-US" altLang="en-US"/>
              <a:t>MRCP can be done when ERCP is not possible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itle 1">
            <a:extLst>
              <a:ext uri="{FF2B5EF4-FFF2-40B4-BE49-F238E27FC236}">
                <a16:creationId xmlns:a16="http://schemas.microsoft.com/office/drawing/2014/main" id="{9F4AA6EA-F053-C260-87C2-A0C9CFC4B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Gallstone Ileus</a:t>
            </a:r>
          </a:p>
        </p:txBody>
      </p:sp>
      <p:sp>
        <p:nvSpPr>
          <p:cNvPr id="151555" name="Content Placeholder 2">
            <a:extLst>
              <a:ext uri="{FF2B5EF4-FFF2-40B4-BE49-F238E27FC236}">
                <a16:creationId xmlns:a16="http://schemas.microsoft.com/office/drawing/2014/main" id="{737D1EC2-544A-CBED-79CE-4FF7CC522D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Remove gallstone from ileum</a:t>
            </a:r>
          </a:p>
          <a:p>
            <a:r>
              <a:rPr lang="en-US" altLang="en-US"/>
              <a:t>Remove fistula from duodenum</a:t>
            </a:r>
          </a:p>
          <a:p>
            <a:r>
              <a:rPr lang="en-US" altLang="en-US"/>
              <a:t>Cholecystectomy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itle 1">
            <a:extLst>
              <a:ext uri="{FF2B5EF4-FFF2-40B4-BE49-F238E27FC236}">
                <a16:creationId xmlns:a16="http://schemas.microsoft.com/office/drawing/2014/main" id="{C59D6B29-CC11-5F81-42EE-E595C2E6DD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Evaluation of Gallstone Disease</a:t>
            </a:r>
          </a:p>
        </p:txBody>
      </p:sp>
      <p:sp>
        <p:nvSpPr>
          <p:cNvPr id="152579" name="Content Placeholder 2">
            <a:extLst>
              <a:ext uri="{FF2B5EF4-FFF2-40B4-BE49-F238E27FC236}">
                <a16:creationId xmlns:a16="http://schemas.microsoft.com/office/drawing/2014/main" id="{8D7E2332-7513-3E20-4DC9-56DB172B52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Ultrasound: first diagnostic test</a:t>
            </a:r>
          </a:p>
          <a:p>
            <a:r>
              <a:rPr lang="en-US" altLang="en-US"/>
              <a:t>HIDA Scan: done if ultrasound is negative</a:t>
            </a:r>
          </a:p>
          <a:p>
            <a:r>
              <a:rPr lang="en-US" altLang="en-US"/>
              <a:t>ERCP: done for choledocholithiasis</a:t>
            </a:r>
          </a:p>
          <a:p>
            <a:r>
              <a:rPr lang="en-US" altLang="en-US"/>
              <a:t>MRCP: done if ERCP cannot be done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itle 1">
            <a:extLst>
              <a:ext uri="{FF2B5EF4-FFF2-40B4-BE49-F238E27FC236}">
                <a16:creationId xmlns:a16="http://schemas.microsoft.com/office/drawing/2014/main" id="{3EC59129-00E7-21DD-34E9-D57D83C90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Evidence of High Cholesterol</a:t>
            </a:r>
          </a:p>
        </p:txBody>
      </p:sp>
      <p:sp>
        <p:nvSpPr>
          <p:cNvPr id="153603" name="Content Placeholder 2">
            <a:extLst>
              <a:ext uri="{FF2B5EF4-FFF2-40B4-BE49-F238E27FC236}">
                <a16:creationId xmlns:a16="http://schemas.microsoft.com/office/drawing/2014/main" id="{6E48B043-B865-3CA7-6B6E-0AA35FE888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Xanthomas: fatty pads on extensor tendons</a:t>
            </a:r>
          </a:p>
          <a:p>
            <a:r>
              <a:rPr lang="en-US" altLang="en-US"/>
              <a:t>Early coronary artery disease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Title 1">
            <a:extLst>
              <a:ext uri="{FF2B5EF4-FFF2-40B4-BE49-F238E27FC236}">
                <a16:creationId xmlns:a16="http://schemas.microsoft.com/office/drawing/2014/main" id="{9CE210D6-9AEB-0978-EDF9-92974B2AF1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Cholesterol Screening</a:t>
            </a:r>
          </a:p>
        </p:txBody>
      </p:sp>
      <p:sp>
        <p:nvSpPr>
          <p:cNvPr id="154627" name="Content Placeholder 2">
            <a:extLst>
              <a:ext uri="{FF2B5EF4-FFF2-40B4-BE49-F238E27FC236}">
                <a16:creationId xmlns:a16="http://schemas.microsoft.com/office/drawing/2014/main" id="{6A3F6C63-6701-4128-63DB-F0AAA08BDB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Done at age 35 to 40 in adults</a:t>
            </a:r>
          </a:p>
          <a:p>
            <a:r>
              <a:rPr lang="en-US" altLang="en-US" sz="2000"/>
              <a:t>Done at age 5 in children who are obese or who have a family h/o obesity or high cholesterol</a:t>
            </a:r>
          </a:p>
          <a:p>
            <a:r>
              <a:rPr lang="en-US" altLang="en-US" sz="2000"/>
              <a:t>Get total cholesterol first; if high, then fractionate it</a:t>
            </a:r>
          </a:p>
          <a:p>
            <a:r>
              <a:rPr lang="en-US" altLang="en-US" sz="2000"/>
              <a:t>Under 200: Follow annually</a:t>
            </a:r>
          </a:p>
          <a:p>
            <a:r>
              <a:rPr lang="en-US" altLang="en-US" sz="2000"/>
              <a:t>Between 200 and 240: diet and exercise for 3 to 6 months</a:t>
            </a:r>
          </a:p>
          <a:p>
            <a:pPr lvl="1"/>
            <a:r>
              <a:rPr lang="en-US" altLang="en-US" sz="1800"/>
              <a:t>Treat with meds if two or more risk factors</a:t>
            </a:r>
          </a:p>
          <a:p>
            <a:r>
              <a:rPr lang="en-US" altLang="en-US" sz="2000"/>
              <a:t>Above 240: treat everyone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itle 1">
            <a:extLst>
              <a:ext uri="{FF2B5EF4-FFF2-40B4-BE49-F238E27FC236}">
                <a16:creationId xmlns:a16="http://schemas.microsoft.com/office/drawing/2014/main" id="{14109064-ABE8-83EB-480D-CBCF76ABBA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LDL Cholesterol</a:t>
            </a:r>
          </a:p>
        </p:txBody>
      </p:sp>
      <p:sp>
        <p:nvSpPr>
          <p:cNvPr id="155651" name="Content Placeholder 2">
            <a:extLst>
              <a:ext uri="{FF2B5EF4-FFF2-40B4-BE49-F238E27FC236}">
                <a16:creationId xmlns:a16="http://schemas.microsoft.com/office/drawing/2014/main" id="{29567659-BAFA-5478-257F-B872CA0989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Baseline:</a:t>
            </a:r>
          </a:p>
          <a:p>
            <a:pPr lvl="1"/>
            <a:r>
              <a:rPr lang="en-US" altLang="en-US"/>
              <a:t>Under 70 for diabetic</a:t>
            </a:r>
          </a:p>
          <a:p>
            <a:pPr lvl="1"/>
            <a:r>
              <a:rPr lang="en-US" altLang="en-US"/>
              <a:t>Under 100 for general population</a:t>
            </a:r>
          </a:p>
          <a:p>
            <a:r>
              <a:rPr lang="en-US" altLang="en-US"/>
              <a:t>Between 100 and 130: diet and exercise for 3 to 6 months</a:t>
            </a:r>
          </a:p>
          <a:p>
            <a:pPr lvl="1"/>
            <a:r>
              <a:rPr lang="en-US" altLang="en-US"/>
              <a:t>Treat with meds if two or more risk factors</a:t>
            </a:r>
          </a:p>
          <a:p>
            <a:r>
              <a:rPr lang="en-US" altLang="en-US"/>
              <a:t>Above 130: Treat everyone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itle 1">
            <a:extLst>
              <a:ext uri="{FF2B5EF4-FFF2-40B4-BE49-F238E27FC236}">
                <a16:creationId xmlns:a16="http://schemas.microsoft.com/office/drawing/2014/main" id="{F156A694-6D76-F845-661D-835CF2EDC9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HDL Cholesterol</a:t>
            </a:r>
          </a:p>
        </p:txBody>
      </p:sp>
      <p:sp>
        <p:nvSpPr>
          <p:cNvPr id="156675" name="Content Placeholder 2">
            <a:extLst>
              <a:ext uri="{FF2B5EF4-FFF2-40B4-BE49-F238E27FC236}">
                <a16:creationId xmlns:a16="http://schemas.microsoft.com/office/drawing/2014/main" id="{71B8D620-E01F-E8D3-637D-6068CCB13B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Good cholesterol</a:t>
            </a:r>
          </a:p>
          <a:p>
            <a:r>
              <a:rPr lang="en-US" altLang="en-US"/>
              <a:t>Independent risk factor for CHD</a:t>
            </a:r>
          </a:p>
          <a:p>
            <a:r>
              <a:rPr lang="en-US" altLang="en-US"/>
              <a:t>Keep above 45</a:t>
            </a:r>
          </a:p>
          <a:p>
            <a:pPr lvl="1"/>
            <a:r>
              <a:rPr lang="en-US" altLang="en-US"/>
              <a:t>Diet and exercise</a:t>
            </a:r>
          </a:p>
          <a:p>
            <a:pPr lvl="1"/>
            <a:r>
              <a:rPr lang="en-US" altLang="en-US"/>
              <a:t>Weight loss</a:t>
            </a:r>
          </a:p>
          <a:p>
            <a:pPr lvl="1"/>
            <a:r>
              <a:rPr lang="en-US" altLang="en-US"/>
              <a:t>Moderate alcohol</a:t>
            </a:r>
          </a:p>
          <a:p>
            <a:pPr lvl="1"/>
            <a:r>
              <a:rPr lang="en-US" altLang="en-US"/>
              <a:t>Estrogen</a:t>
            </a:r>
          </a:p>
          <a:p>
            <a:pPr lvl="1"/>
            <a:r>
              <a:rPr lang="en-US" altLang="en-US"/>
              <a:t>Drug therapy: Niacin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itle 1">
            <a:extLst>
              <a:ext uri="{FF2B5EF4-FFF2-40B4-BE49-F238E27FC236}">
                <a16:creationId xmlns:a16="http://schemas.microsoft.com/office/drawing/2014/main" id="{E48F463D-BF99-23A6-128B-7E50452154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Treatment of High Cholesterol:</a:t>
            </a:r>
          </a:p>
        </p:txBody>
      </p:sp>
      <p:sp>
        <p:nvSpPr>
          <p:cNvPr id="157699" name="Content Placeholder 2">
            <a:extLst>
              <a:ext uri="{FF2B5EF4-FFF2-40B4-BE49-F238E27FC236}">
                <a16:creationId xmlns:a16="http://schemas.microsoft.com/office/drawing/2014/main" id="{9A00D51D-4E2B-BA20-C871-1CC19A5C47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Statins:</a:t>
            </a:r>
          </a:p>
          <a:p>
            <a:pPr lvl="1"/>
            <a:r>
              <a:rPr lang="en-US" altLang="en-US"/>
              <a:t>Pravastatin</a:t>
            </a:r>
          </a:p>
          <a:p>
            <a:pPr lvl="1"/>
            <a:r>
              <a:rPr lang="en-US" altLang="en-US"/>
              <a:t>Lovastatin</a:t>
            </a:r>
          </a:p>
          <a:p>
            <a:pPr lvl="1"/>
            <a:r>
              <a:rPr lang="en-US" altLang="en-US"/>
              <a:t>Simvastatin</a:t>
            </a:r>
          </a:p>
          <a:p>
            <a:pPr lvl="1"/>
            <a:r>
              <a:rPr lang="en-US" altLang="en-US"/>
              <a:t>Atorvastatin</a:t>
            </a:r>
          </a:p>
          <a:p>
            <a:pPr lvl="1"/>
            <a:r>
              <a:rPr lang="en-US" altLang="en-US"/>
              <a:t>Cerivastatin</a:t>
            </a:r>
          </a:p>
          <a:p>
            <a:pPr lvl="1"/>
            <a:r>
              <a:rPr lang="en-US" altLang="en-US"/>
              <a:t>Valdestatin</a:t>
            </a:r>
          </a:p>
          <a:p>
            <a:pPr lvl="1"/>
            <a:r>
              <a:rPr lang="en-US" altLang="en-US"/>
              <a:t>Rosuvastatin</a:t>
            </a:r>
          </a:p>
          <a:p>
            <a:pPr lvl="1"/>
            <a:r>
              <a:rPr lang="en-US" altLang="en-US"/>
              <a:t>Add CoQ if liver enzymes exceed 3X normal or if CPK exceeds 10X normal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Title 1">
            <a:extLst>
              <a:ext uri="{FF2B5EF4-FFF2-40B4-BE49-F238E27FC236}">
                <a16:creationId xmlns:a16="http://schemas.microsoft.com/office/drawing/2014/main" id="{2BADFC66-D30D-53FD-2E43-B31A0881F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Bile Acid Binders</a:t>
            </a:r>
          </a:p>
        </p:txBody>
      </p:sp>
      <p:sp>
        <p:nvSpPr>
          <p:cNvPr id="158723" name="Content Placeholder 2">
            <a:extLst>
              <a:ext uri="{FF2B5EF4-FFF2-40B4-BE49-F238E27FC236}">
                <a16:creationId xmlns:a16="http://schemas.microsoft.com/office/drawing/2014/main" id="{0F12F518-DDA3-E456-8F22-58B63901B9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Cholestyramine</a:t>
            </a:r>
          </a:p>
          <a:p>
            <a:r>
              <a:rPr lang="en-US" altLang="en-US"/>
              <a:t>Colestipol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itle 1">
            <a:extLst>
              <a:ext uri="{FF2B5EF4-FFF2-40B4-BE49-F238E27FC236}">
                <a16:creationId xmlns:a16="http://schemas.microsoft.com/office/drawing/2014/main" id="{D528A7DD-1717-9718-D485-78D69C1284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PSK-9 Blockers</a:t>
            </a:r>
          </a:p>
        </p:txBody>
      </p:sp>
      <p:sp>
        <p:nvSpPr>
          <p:cNvPr id="159747" name="Content Placeholder 2">
            <a:extLst>
              <a:ext uri="{FF2B5EF4-FFF2-40B4-BE49-F238E27FC236}">
                <a16:creationId xmlns:a16="http://schemas.microsoft.com/office/drawing/2014/main" id="{70F1C9A5-9142-A4D4-5B52-596C0A47AE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Evolocumab</a:t>
            </a:r>
          </a:p>
          <a:p>
            <a:r>
              <a:rPr lang="en-US" altLang="en-US"/>
              <a:t>These drugs stop the recycling of LDL receptors so that they stay out longer to pull LDL into cells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Title 1">
            <a:extLst>
              <a:ext uri="{FF2B5EF4-FFF2-40B4-BE49-F238E27FC236}">
                <a16:creationId xmlns:a16="http://schemas.microsoft.com/office/drawing/2014/main" id="{80BB32F5-6C6B-1C81-4A80-E2C1A1D1A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Urea Cycle</a:t>
            </a:r>
          </a:p>
        </p:txBody>
      </p:sp>
      <p:sp>
        <p:nvSpPr>
          <p:cNvPr id="160771" name="Content Placeholder 2">
            <a:extLst>
              <a:ext uri="{FF2B5EF4-FFF2-40B4-BE49-F238E27FC236}">
                <a16:creationId xmlns:a16="http://schemas.microsoft.com/office/drawing/2014/main" id="{76E1EF51-DEDC-BF6A-D927-0C6A976AA5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Anabolic and Catabolic</a:t>
            </a:r>
          </a:p>
          <a:p>
            <a:r>
              <a:rPr lang="en-US" altLang="en-US"/>
              <a:t>90% occurs in liver</a:t>
            </a:r>
          </a:p>
          <a:p>
            <a:r>
              <a:rPr lang="en-US" altLang="en-US"/>
              <a:t>10% occurs in renal collecting duct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TextBox 8">
            <a:extLst>
              <a:ext uri="{FF2B5EF4-FFF2-40B4-BE49-F238E27FC236}">
                <a16:creationId xmlns:a16="http://schemas.microsoft.com/office/drawing/2014/main" id="{0CF63A4C-E9F4-FDA9-F740-1E81CD4C3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9700"/>
            <a:ext cx="6858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rgbClr val="EE7444"/>
                </a:solidFill>
              </a:rPr>
              <a:t>Urea Cycle</a:t>
            </a:r>
          </a:p>
        </p:txBody>
      </p:sp>
      <p:sp>
        <p:nvSpPr>
          <p:cNvPr id="24580" name="Text Box 28">
            <a:extLst>
              <a:ext uri="{FF2B5EF4-FFF2-40B4-BE49-F238E27FC236}">
                <a16:creationId xmlns:a16="http://schemas.microsoft.com/office/drawing/2014/main" id="{4EF64593-22CB-24A3-C942-6CA694479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6384925"/>
            <a:ext cx="2590800" cy="319088"/>
          </a:xfrm>
          <a:prstGeom prst="rect">
            <a:avLst/>
          </a:prstGeom>
          <a:solidFill>
            <a:schemeClr val="bg2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alt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Figure 6.15 Urea Cycle </a:t>
            </a:r>
          </a:p>
        </p:txBody>
      </p:sp>
      <p:pic>
        <p:nvPicPr>
          <p:cNvPr id="161796" name="Picture 2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14B11B1F-ACC5-07CB-C1E0-7FCE20297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739775"/>
            <a:ext cx="5791200" cy="592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Title 1">
            <a:extLst>
              <a:ext uri="{FF2B5EF4-FFF2-40B4-BE49-F238E27FC236}">
                <a16:creationId xmlns:a16="http://schemas.microsoft.com/office/drawing/2014/main" id="{F8FE444D-F2FF-E81A-485D-CF82B6E4F4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Renal Collecting Duct 10%</a:t>
            </a:r>
          </a:p>
        </p:txBody>
      </p:sp>
      <p:sp>
        <p:nvSpPr>
          <p:cNvPr id="162819" name="Content Placeholder 2">
            <a:extLst>
              <a:ext uri="{FF2B5EF4-FFF2-40B4-BE49-F238E27FC236}">
                <a16:creationId xmlns:a16="http://schemas.microsoft.com/office/drawing/2014/main" id="{6309A9AF-CDAE-747E-7665-2B2D0C6A64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Linear with renal plasma flow, BUN clearance, secretion rate, PAH clearance</a:t>
            </a:r>
          </a:p>
          <a:p>
            <a:r>
              <a:rPr lang="en-US" altLang="en-US"/>
              <a:t>Inversely related to serum BUN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itle 1">
            <a:extLst>
              <a:ext uri="{FF2B5EF4-FFF2-40B4-BE49-F238E27FC236}">
                <a16:creationId xmlns:a16="http://schemas.microsoft.com/office/drawing/2014/main" id="{A4B1EC9F-18BA-AE45-BA7E-C57E34AECF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GGT</a:t>
            </a:r>
          </a:p>
        </p:txBody>
      </p:sp>
      <p:sp>
        <p:nvSpPr>
          <p:cNvPr id="163843" name="Content Placeholder 2">
            <a:extLst>
              <a:ext uri="{FF2B5EF4-FFF2-40B4-BE49-F238E27FC236}">
                <a16:creationId xmlns:a16="http://schemas.microsoft.com/office/drawing/2014/main" id="{777413D8-6877-EC48-CDA1-E40C00657A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Does 90% of transamination</a:t>
            </a:r>
          </a:p>
          <a:p>
            <a:r>
              <a:rPr lang="en-US" altLang="en-US"/>
              <a:t>Located in mitochondria</a:t>
            </a:r>
          </a:p>
          <a:p>
            <a:r>
              <a:rPr lang="en-US" altLang="en-US"/>
              <a:t>Amino acid + alpha ketoglutarate = glutamate + carbons</a:t>
            </a:r>
          </a:p>
          <a:p>
            <a:r>
              <a:rPr lang="en-US" altLang="en-US"/>
              <a:t>Glutamate holds 90% of urea groups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Title 1">
            <a:extLst>
              <a:ext uri="{FF2B5EF4-FFF2-40B4-BE49-F238E27FC236}">
                <a16:creationId xmlns:a16="http://schemas.microsoft.com/office/drawing/2014/main" id="{EFAAD18F-373B-6ECB-F06D-70FC48EF8B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Glutamate Dehydrogenase</a:t>
            </a:r>
          </a:p>
        </p:txBody>
      </p:sp>
      <p:sp>
        <p:nvSpPr>
          <p:cNvPr id="164867" name="Content Placeholder 2">
            <a:extLst>
              <a:ext uri="{FF2B5EF4-FFF2-40B4-BE49-F238E27FC236}">
                <a16:creationId xmlns:a16="http://schemas.microsoft.com/office/drawing/2014/main" id="{5B5220AF-B296-899F-A7F0-DD2A8ADF67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Glutamate + NADH = alpha Ketoglutarate + NH4</a:t>
            </a:r>
          </a:p>
          <a:p>
            <a:r>
              <a:rPr lang="en-US" altLang="en-US"/>
              <a:t>Delivers the ammonium ion into the urea cycle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itle 1">
            <a:extLst>
              <a:ext uri="{FF2B5EF4-FFF2-40B4-BE49-F238E27FC236}">
                <a16:creationId xmlns:a16="http://schemas.microsoft.com/office/drawing/2014/main" id="{274E2810-2944-939F-06D0-08EB471BE0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Citrulline</a:t>
            </a:r>
          </a:p>
        </p:txBody>
      </p:sp>
      <p:sp>
        <p:nvSpPr>
          <p:cNvPr id="165891" name="Content Placeholder 2">
            <a:extLst>
              <a:ext uri="{FF2B5EF4-FFF2-40B4-BE49-F238E27FC236}">
                <a16:creationId xmlns:a16="http://schemas.microsoft.com/office/drawing/2014/main" id="{3174F5E1-43AD-B88E-D5A5-0861DA610C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Cyclical Citrullinated peptides (CCP) is now the best marker for rheumatoid arthritis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itle 1">
            <a:extLst>
              <a:ext uri="{FF2B5EF4-FFF2-40B4-BE49-F238E27FC236}">
                <a16:creationId xmlns:a16="http://schemas.microsoft.com/office/drawing/2014/main" id="{B1AEE916-70FC-1C0A-C56B-5580DDF7ED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Rapid Growth Periods</a:t>
            </a:r>
          </a:p>
        </p:txBody>
      </p:sp>
      <p:sp>
        <p:nvSpPr>
          <p:cNvPr id="166915" name="Content Placeholder 2">
            <a:extLst>
              <a:ext uri="{FF2B5EF4-FFF2-40B4-BE49-F238E27FC236}">
                <a16:creationId xmlns:a16="http://schemas.microsoft.com/office/drawing/2014/main" id="{C2FF6524-CC3C-BB36-C8E7-A167DEE7B4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 to 2 years of age</a:t>
            </a:r>
          </a:p>
          <a:p>
            <a:r>
              <a:rPr lang="en-US" altLang="en-US"/>
              <a:t>4 to 7 years of age</a:t>
            </a:r>
          </a:p>
          <a:p>
            <a:r>
              <a:rPr lang="en-US" altLang="en-US"/>
              <a:t>Puberty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itle 1">
            <a:extLst>
              <a:ext uri="{FF2B5EF4-FFF2-40B4-BE49-F238E27FC236}">
                <a16:creationId xmlns:a16="http://schemas.microsoft.com/office/drawing/2014/main" id="{9E479BBD-3E6F-051F-E3FC-A25976198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L-Arginine</a:t>
            </a:r>
          </a:p>
        </p:txBody>
      </p:sp>
      <p:sp>
        <p:nvSpPr>
          <p:cNvPr id="167939" name="Content Placeholder 2">
            <a:extLst>
              <a:ext uri="{FF2B5EF4-FFF2-40B4-BE49-F238E27FC236}">
                <a16:creationId xmlns:a16="http://schemas.microsoft.com/office/drawing/2014/main" id="{5566924C-3C70-DAF9-084D-EDC0432834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Not always essential</a:t>
            </a:r>
          </a:p>
          <a:p>
            <a:r>
              <a:rPr lang="en-US" altLang="en-US"/>
              <a:t>Essential only during the rapid growth periods</a:t>
            </a:r>
          </a:p>
          <a:p>
            <a:r>
              <a:rPr lang="en-US" altLang="en-US"/>
              <a:t>Used to make Nitric Oxide (NO) which is most potent vasodilator</a:t>
            </a:r>
          </a:p>
          <a:p>
            <a:r>
              <a:rPr lang="en-US" altLang="en-US"/>
              <a:t>Blacks have the lowest concentration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Title 1">
            <a:extLst>
              <a:ext uri="{FF2B5EF4-FFF2-40B4-BE49-F238E27FC236}">
                <a16:creationId xmlns:a16="http://schemas.microsoft.com/office/drawing/2014/main" id="{25CCB650-D26C-D236-4AA8-97323F6E4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Urea</a:t>
            </a:r>
          </a:p>
        </p:txBody>
      </p:sp>
      <p:sp>
        <p:nvSpPr>
          <p:cNvPr id="168963" name="Content Placeholder 2">
            <a:extLst>
              <a:ext uri="{FF2B5EF4-FFF2-40B4-BE49-F238E27FC236}">
                <a16:creationId xmlns:a16="http://schemas.microsoft.com/office/drawing/2014/main" id="{05BF8162-EFED-E463-E570-49633042E3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One Nitrogen from ammonium</a:t>
            </a:r>
          </a:p>
          <a:p>
            <a:r>
              <a:rPr lang="en-US" altLang="en-US"/>
              <a:t>One nitrogen from aspartate</a:t>
            </a:r>
          </a:p>
          <a:p>
            <a:r>
              <a:rPr lang="en-US" altLang="en-US"/>
              <a:t>The ketone group from Carbon dioxide</a:t>
            </a:r>
          </a:p>
          <a:p>
            <a:r>
              <a:rPr lang="en-US" altLang="en-US"/>
              <a:t>Broken down by urease positive bacteria in GI</a:t>
            </a:r>
          </a:p>
          <a:p>
            <a:r>
              <a:rPr lang="en-US" altLang="en-US"/>
              <a:t>Secreted into GI and excreted with feces</a:t>
            </a:r>
          </a:p>
          <a:p>
            <a:r>
              <a:rPr lang="en-US" altLang="en-US"/>
              <a:t>NH3 can be reabsorbed if broken off or it can be turned into NH4 with hydrogen</a:t>
            </a:r>
          </a:p>
          <a:p>
            <a:r>
              <a:rPr lang="en-US" altLang="en-US"/>
              <a:t>Carbon dioxide is what creates flatus</a:t>
            </a:r>
          </a:p>
        </p:txBody>
      </p:sp>
      <p:sp>
        <p:nvSpPr>
          <p:cNvPr id="168964" name="TextBox 2">
            <a:extLst>
              <a:ext uri="{FF2B5EF4-FFF2-40B4-BE49-F238E27FC236}">
                <a16:creationId xmlns:a16="http://schemas.microsoft.com/office/drawing/2014/main" id="{C90A8795-40C9-4278-A2D1-34FF02F95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251075"/>
            <a:ext cx="1752600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O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NH</a:t>
            </a:r>
            <a:r>
              <a:rPr lang="en-US" altLang="en-US" sz="1800" baseline="-25000"/>
              <a:t>2</a:t>
            </a:r>
            <a:r>
              <a:rPr lang="en-US" altLang="en-US" sz="1800"/>
              <a:t> –C –NH</a:t>
            </a:r>
            <a:r>
              <a:rPr lang="en-US" altLang="en-US" sz="1800" baseline="-25000"/>
              <a:t>2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Urea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EBA161-32DF-EDB9-D3A9-1BCF5A8E0D5C}"/>
              </a:ext>
            </a:extLst>
          </p:cNvPr>
          <p:cNvCxnSpPr>
            <a:cxnSpLocks/>
          </p:cNvCxnSpPr>
          <p:nvPr/>
        </p:nvCxnSpPr>
        <p:spPr>
          <a:xfrm>
            <a:off x="7851775" y="2568575"/>
            <a:ext cx="0" cy="231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39BC69-62DE-8E98-FCFE-DA08D246D660}"/>
              </a:ext>
            </a:extLst>
          </p:cNvPr>
          <p:cNvCxnSpPr/>
          <p:nvPr/>
        </p:nvCxnSpPr>
        <p:spPr>
          <a:xfrm>
            <a:off x="7900988" y="2568575"/>
            <a:ext cx="0" cy="231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itle 1">
            <a:extLst>
              <a:ext uri="{FF2B5EF4-FFF2-40B4-BE49-F238E27FC236}">
                <a16:creationId xmlns:a16="http://schemas.microsoft.com/office/drawing/2014/main" id="{15D24E5C-908C-6205-B083-8308E9991F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Liver Failure</a:t>
            </a:r>
          </a:p>
        </p:txBody>
      </p:sp>
      <p:sp>
        <p:nvSpPr>
          <p:cNvPr id="169987" name="Content Placeholder 2">
            <a:extLst>
              <a:ext uri="{FF2B5EF4-FFF2-40B4-BE49-F238E27FC236}">
                <a16:creationId xmlns:a16="http://schemas.microsoft.com/office/drawing/2014/main" id="{ED9D0B7D-A019-DA21-2462-A098C32A6B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First limit protein intake (source of urea)</a:t>
            </a:r>
          </a:p>
          <a:p>
            <a:r>
              <a:rPr lang="en-US" altLang="en-US"/>
              <a:t>Give neomycin to get rid of urease positive bacteria in GI tract</a:t>
            </a:r>
          </a:p>
          <a:p>
            <a:r>
              <a:rPr lang="en-US" altLang="en-US"/>
              <a:t>Give lactulose to purge GI of ammonium, which then pulls urea out of blood and brain</a:t>
            </a:r>
          </a:p>
          <a:p>
            <a:r>
              <a:rPr lang="en-US" altLang="en-US"/>
              <a:t>Avoid drugs that are metabolized in liver</a:t>
            </a:r>
          </a:p>
          <a:p>
            <a:r>
              <a:rPr lang="en-US" altLang="en-US"/>
              <a:t>Avoid long-acting drugs</a:t>
            </a:r>
          </a:p>
          <a:p>
            <a:r>
              <a:rPr lang="en-US" altLang="en-US"/>
              <a:t>Avoid drugs that block P450 system</a:t>
            </a:r>
          </a:p>
          <a:p>
            <a:r>
              <a:rPr lang="en-US" altLang="en-US"/>
              <a:t>Avoid any drug that enhances GABA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Title 1">
            <a:extLst>
              <a:ext uri="{FF2B5EF4-FFF2-40B4-BE49-F238E27FC236}">
                <a16:creationId xmlns:a16="http://schemas.microsoft.com/office/drawing/2014/main" id="{88EF6EA1-BFF9-E6B7-838E-3F382576F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Liver Transplant:</a:t>
            </a:r>
          </a:p>
        </p:txBody>
      </p:sp>
      <p:sp>
        <p:nvSpPr>
          <p:cNvPr id="171011" name="Content Placeholder 2">
            <a:extLst>
              <a:ext uri="{FF2B5EF4-FFF2-40B4-BE49-F238E27FC236}">
                <a16:creationId xmlns:a16="http://schemas.microsoft.com/office/drawing/2014/main" id="{1390CC70-F909-CE55-BE7D-891AD32456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only thing that can extend the life of someone with liver failure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Title 1">
            <a:extLst>
              <a:ext uri="{FF2B5EF4-FFF2-40B4-BE49-F238E27FC236}">
                <a16:creationId xmlns:a16="http://schemas.microsoft.com/office/drawing/2014/main" id="{DAE2D458-169C-FCA3-505D-BFDE72532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Glutamine</a:t>
            </a:r>
          </a:p>
        </p:txBody>
      </p:sp>
      <p:sp>
        <p:nvSpPr>
          <p:cNvPr id="172035" name="Content Placeholder 2">
            <a:extLst>
              <a:ext uri="{FF2B5EF4-FFF2-40B4-BE49-F238E27FC236}">
                <a16:creationId xmlns:a16="http://schemas.microsoft.com/office/drawing/2014/main" id="{653BAFD5-5513-357F-5D68-9B932AF781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Made by adding one more urea group to glutamate</a:t>
            </a:r>
          </a:p>
          <a:p>
            <a:r>
              <a:rPr lang="en-US" altLang="en-US"/>
              <a:t>Sent to the kidney, who has </a:t>
            </a:r>
            <a:r>
              <a:rPr lang="en-US" altLang="en-US" b="1">
                <a:solidFill>
                  <a:schemeClr val="bg1"/>
                </a:solidFill>
              </a:rPr>
              <a:t>glutaminase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itle 1">
            <a:extLst>
              <a:ext uri="{FF2B5EF4-FFF2-40B4-BE49-F238E27FC236}">
                <a16:creationId xmlns:a16="http://schemas.microsoft.com/office/drawing/2014/main" id="{6F3DAFE3-C4D8-1431-A09D-D182457369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Hepatorenal Syndrome</a:t>
            </a:r>
          </a:p>
        </p:txBody>
      </p:sp>
      <p:sp>
        <p:nvSpPr>
          <p:cNvPr id="173059" name="Content Placeholder 2">
            <a:extLst>
              <a:ext uri="{FF2B5EF4-FFF2-40B4-BE49-F238E27FC236}">
                <a16:creationId xmlns:a16="http://schemas.microsoft.com/office/drawing/2014/main" id="{F753B652-DCB4-B9D8-BD68-F862EF2969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Too much GABA</a:t>
            </a:r>
          </a:p>
          <a:p>
            <a:r>
              <a:rPr lang="en-US" altLang="en-US"/>
              <a:t>Caused by anything that cause too much acidosis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315912E-E8F2-54DC-1A3B-E1A70A6B55B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09588" y="2733675"/>
            <a:ext cx="6070600" cy="1373188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Nucleotides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A583346-D5EE-9354-52A7-D29CF3C41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+mn-lt"/>
              </a:rPr>
              <a:t>Nucleotides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3D04634A-5A34-3460-C54C-D11F6F789B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RNA</a:t>
            </a:r>
          </a:p>
          <a:p>
            <a:pPr eaLnBrk="1" hangingPunct="1"/>
            <a:r>
              <a:rPr lang="en-US" altLang="en-US"/>
              <a:t>DNA</a:t>
            </a:r>
          </a:p>
          <a:p>
            <a:pPr eaLnBrk="1" hangingPunct="1"/>
            <a:r>
              <a:rPr lang="en-US" altLang="en-US"/>
              <a:t>Energy</a:t>
            </a:r>
          </a:p>
          <a:p>
            <a:pPr eaLnBrk="1" hangingPunct="1"/>
            <a:r>
              <a:rPr lang="en-US" altLang="en-US"/>
              <a:t>Carriers (UDP &amp; CDP)</a:t>
            </a:r>
          </a:p>
          <a:p>
            <a:pPr eaLnBrk="1" hangingPunct="1"/>
            <a:r>
              <a:rPr lang="en-US" altLang="en-US"/>
              <a:t>Methyl Group Carrier (S-AM)</a:t>
            </a:r>
          </a:p>
          <a:p>
            <a:pPr eaLnBrk="1" hangingPunct="1"/>
            <a:r>
              <a:rPr lang="en-US" altLang="en-US"/>
              <a:t>Second Messengers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Title 1">
            <a:extLst>
              <a:ext uri="{FF2B5EF4-FFF2-40B4-BE49-F238E27FC236}">
                <a16:creationId xmlns:a16="http://schemas.microsoft.com/office/drawing/2014/main" id="{95CE439F-46EB-82C9-E2E4-0B3D6CC23D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UDP Vs Dolichol</a:t>
            </a:r>
          </a:p>
        </p:txBody>
      </p:sp>
      <p:sp>
        <p:nvSpPr>
          <p:cNvPr id="178179" name="Content Placeholder 3">
            <a:extLst>
              <a:ext uri="{FF2B5EF4-FFF2-40B4-BE49-F238E27FC236}">
                <a16:creationId xmlns:a16="http://schemas.microsoft.com/office/drawing/2014/main" id="{B80F6183-4E66-963A-C634-8CE6A8A1E7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UDP: One sugar</a:t>
            </a:r>
          </a:p>
          <a:p>
            <a:r>
              <a:rPr lang="en-US" altLang="en-US"/>
              <a:t>Dolichol: Multiple sugars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8990334-1FAB-0012-C419-408A52FB3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Purines</a:t>
            </a:r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ABCC7937-E202-4AB5-6408-2EA6DE8123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Adenine</a:t>
            </a:r>
          </a:p>
          <a:p>
            <a:pPr eaLnBrk="1" hangingPunct="1"/>
            <a:r>
              <a:rPr lang="en-US" altLang="en-US"/>
              <a:t>Guanine 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AEE140E6-7820-E922-E014-1ACEA7BE6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+mn-lt"/>
              </a:rPr>
              <a:t>Diseases Related to UV Light</a:t>
            </a:r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57195EF3-5A3A-F4F9-0873-186E7C898F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Ecthyma or Ichthyosis</a:t>
            </a:r>
          </a:p>
          <a:p>
            <a:pPr eaLnBrk="1" hangingPunct="1"/>
            <a:r>
              <a:rPr lang="en-US" altLang="en-US"/>
              <a:t>Xeroderma Pigmentosa</a:t>
            </a:r>
          </a:p>
          <a:p>
            <a:pPr eaLnBrk="1" hangingPunct="1"/>
            <a:r>
              <a:rPr lang="en-US" altLang="en-US"/>
              <a:t>Ataxia Telangiectasia</a:t>
            </a:r>
          </a:p>
          <a:p>
            <a:pPr eaLnBrk="1" hangingPunct="1"/>
            <a:r>
              <a:rPr lang="en-US" altLang="en-US"/>
              <a:t>Lynch Syndrome (HNPCC)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FEF4B62-7C1A-4CC2-C6E3-245F7FB57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PYRIMIDINES</a:t>
            </a:r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CE927CD2-0DE1-F329-E97B-E04E46764B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Thymidine</a:t>
            </a:r>
          </a:p>
          <a:p>
            <a:pPr eaLnBrk="1" hangingPunct="1"/>
            <a:r>
              <a:rPr lang="en-US" altLang="en-US"/>
              <a:t>Cytidine</a:t>
            </a:r>
          </a:p>
          <a:p>
            <a:pPr eaLnBrk="1" hangingPunct="1"/>
            <a:r>
              <a:rPr lang="en-US" altLang="en-US"/>
              <a:t>Uracil 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A6F863-4688-933D-7A6D-4DE38E783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Nucleotides</a:t>
            </a:r>
          </a:p>
        </p:txBody>
      </p:sp>
      <p:sp>
        <p:nvSpPr>
          <p:cNvPr id="185347" name="TextBox 3">
            <a:extLst>
              <a:ext uri="{FF2B5EF4-FFF2-40B4-BE49-F238E27FC236}">
                <a16:creationId xmlns:a16="http://schemas.microsoft.com/office/drawing/2014/main" id="{C474854B-5D76-5DEC-1369-03FF757C2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716213"/>
            <a:ext cx="14478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800"/>
              <a:t>A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800"/>
              <a:t>G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800"/>
              <a:t>A</a:t>
            </a:r>
          </a:p>
        </p:txBody>
      </p:sp>
      <p:sp>
        <p:nvSpPr>
          <p:cNvPr id="185348" name="TextBox 7">
            <a:extLst>
              <a:ext uri="{FF2B5EF4-FFF2-40B4-BE49-F238E27FC236}">
                <a16:creationId xmlns:a16="http://schemas.microsoft.com/office/drawing/2014/main" id="{F6E2D8FE-E314-FEC0-02BB-C2A91CBB0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716213"/>
            <a:ext cx="14478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800"/>
              <a:t>T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800"/>
              <a:t>C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800"/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ACBBD2-8081-3415-41BF-C4F1D6455E13}"/>
              </a:ext>
            </a:extLst>
          </p:cNvPr>
          <p:cNvCxnSpPr/>
          <p:nvPr/>
        </p:nvCxnSpPr>
        <p:spPr>
          <a:xfrm>
            <a:off x="3495675" y="2971800"/>
            <a:ext cx="16764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3C4AD4-0A77-37B0-CA3F-715275B134B0}"/>
              </a:ext>
            </a:extLst>
          </p:cNvPr>
          <p:cNvCxnSpPr/>
          <p:nvPr/>
        </p:nvCxnSpPr>
        <p:spPr>
          <a:xfrm>
            <a:off x="3495675" y="4648200"/>
            <a:ext cx="16764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04E7F4-66BA-AE85-C166-8544D9E60848}"/>
              </a:ext>
            </a:extLst>
          </p:cNvPr>
          <p:cNvCxnSpPr/>
          <p:nvPr/>
        </p:nvCxnSpPr>
        <p:spPr>
          <a:xfrm>
            <a:off x="3505200" y="4800600"/>
            <a:ext cx="16764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2744A3-6AB4-1FEC-418D-15DBC96E0B2E}"/>
              </a:ext>
            </a:extLst>
          </p:cNvPr>
          <p:cNvCxnSpPr/>
          <p:nvPr/>
        </p:nvCxnSpPr>
        <p:spPr>
          <a:xfrm>
            <a:off x="3505200" y="3200400"/>
            <a:ext cx="16764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B89E32-6B83-B8EA-F996-C96101D64B30}"/>
              </a:ext>
            </a:extLst>
          </p:cNvPr>
          <p:cNvCxnSpPr/>
          <p:nvPr/>
        </p:nvCxnSpPr>
        <p:spPr>
          <a:xfrm>
            <a:off x="3505200" y="3733800"/>
            <a:ext cx="16764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6D14AD-78CF-AD35-F391-93E73D872D9D}"/>
              </a:ext>
            </a:extLst>
          </p:cNvPr>
          <p:cNvCxnSpPr/>
          <p:nvPr/>
        </p:nvCxnSpPr>
        <p:spPr>
          <a:xfrm>
            <a:off x="3505200" y="3870325"/>
            <a:ext cx="16764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8A0912-E407-BF5C-C465-A16F14922EE1}"/>
              </a:ext>
            </a:extLst>
          </p:cNvPr>
          <p:cNvCxnSpPr/>
          <p:nvPr/>
        </p:nvCxnSpPr>
        <p:spPr>
          <a:xfrm>
            <a:off x="3505200" y="4038600"/>
            <a:ext cx="16764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Title 1">
            <a:extLst>
              <a:ext uri="{FF2B5EF4-FFF2-40B4-BE49-F238E27FC236}">
                <a16:creationId xmlns:a16="http://schemas.microsoft.com/office/drawing/2014/main" id="{75611884-64C1-D00F-D149-3A7E4CF2DF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Found Only in DNA</a:t>
            </a:r>
          </a:p>
        </p:txBody>
      </p:sp>
      <p:sp>
        <p:nvSpPr>
          <p:cNvPr id="187395" name="Content Placeholder 2">
            <a:extLst>
              <a:ext uri="{FF2B5EF4-FFF2-40B4-BE49-F238E27FC236}">
                <a16:creationId xmlns:a16="http://schemas.microsoft.com/office/drawing/2014/main" id="{E10AB2BC-6FC4-99C7-B44E-14FB0088BE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Thymidine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Title 1">
            <a:extLst>
              <a:ext uri="{FF2B5EF4-FFF2-40B4-BE49-F238E27FC236}">
                <a16:creationId xmlns:a16="http://schemas.microsoft.com/office/drawing/2014/main" id="{EC9609B3-1966-B124-5205-ADC900E408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Found Only in RNA</a:t>
            </a:r>
          </a:p>
        </p:txBody>
      </p:sp>
      <p:sp>
        <p:nvSpPr>
          <p:cNvPr id="188419" name="Content Placeholder 2">
            <a:extLst>
              <a:ext uri="{FF2B5EF4-FFF2-40B4-BE49-F238E27FC236}">
                <a16:creationId xmlns:a16="http://schemas.microsoft.com/office/drawing/2014/main" id="{F623EB48-92BF-99CB-EF45-E8444E82E3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Uracil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Title 1">
            <a:extLst>
              <a:ext uri="{FF2B5EF4-FFF2-40B4-BE49-F238E27FC236}">
                <a16:creationId xmlns:a16="http://schemas.microsoft.com/office/drawing/2014/main" id="{56D08BCA-D2C8-A0A1-03FF-F84121D86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 Silence DNA</a:t>
            </a:r>
          </a:p>
        </p:txBody>
      </p:sp>
      <p:sp>
        <p:nvSpPr>
          <p:cNvPr id="189443" name="Content Placeholder 2">
            <a:extLst>
              <a:ext uri="{FF2B5EF4-FFF2-40B4-BE49-F238E27FC236}">
                <a16:creationId xmlns:a16="http://schemas.microsoft.com/office/drawing/2014/main" id="{00EB6354-85E5-B0B5-C075-F26770F8FA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Methylation</a:t>
            </a:r>
          </a:p>
          <a:p>
            <a:r>
              <a:rPr lang="en-US" altLang="en-US"/>
              <a:t>Add G and C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itle 1">
            <a:extLst>
              <a:ext uri="{FF2B5EF4-FFF2-40B4-BE49-F238E27FC236}">
                <a16:creationId xmlns:a16="http://schemas.microsoft.com/office/drawing/2014/main" id="{4CEB679B-FFC8-464A-F0EA-DBB1A15828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 Loosen Up DNA</a:t>
            </a:r>
          </a:p>
        </p:txBody>
      </p:sp>
      <p:sp>
        <p:nvSpPr>
          <p:cNvPr id="190467" name="Content Placeholder 2">
            <a:extLst>
              <a:ext uri="{FF2B5EF4-FFF2-40B4-BE49-F238E27FC236}">
                <a16:creationId xmlns:a16="http://schemas.microsoft.com/office/drawing/2014/main" id="{E742EF6D-C39C-3611-145B-2ACF1E9963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813" y="2362200"/>
            <a:ext cx="6888162" cy="3598863"/>
          </a:xfrm>
        </p:spPr>
        <p:txBody>
          <a:bodyPr/>
          <a:lstStyle/>
          <a:p>
            <a:r>
              <a:rPr lang="en-US" altLang="en-US"/>
              <a:t>Acetylation of Histones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Title 1">
            <a:extLst>
              <a:ext uri="{FF2B5EF4-FFF2-40B4-BE49-F238E27FC236}">
                <a16:creationId xmlns:a16="http://schemas.microsoft.com/office/drawing/2014/main" id="{CB938BF3-A97D-A8C9-4B9E-A5E8CB3353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Proofreading DNA</a:t>
            </a:r>
          </a:p>
        </p:txBody>
      </p:sp>
      <p:sp>
        <p:nvSpPr>
          <p:cNvPr id="191491" name="Content Placeholder 2">
            <a:extLst>
              <a:ext uri="{FF2B5EF4-FFF2-40B4-BE49-F238E27FC236}">
                <a16:creationId xmlns:a16="http://schemas.microsoft.com/office/drawing/2014/main" id="{405F5F76-BAD5-EC29-56EB-51DB5D4F27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Thymidine Dimers</a:t>
            </a:r>
          </a:p>
          <a:p>
            <a:pPr lvl="1"/>
            <a:r>
              <a:rPr lang="en-US" altLang="en-US"/>
              <a:t>UV-light Endonuclease</a:t>
            </a:r>
          </a:p>
          <a:p>
            <a:pPr lvl="1"/>
            <a:r>
              <a:rPr lang="en-US" altLang="en-US"/>
              <a:t>Ichthyosis</a:t>
            </a:r>
          </a:p>
          <a:p>
            <a:pPr lvl="1"/>
            <a:r>
              <a:rPr lang="en-US" altLang="en-US"/>
              <a:t>Xeroderma Pigmentosa</a:t>
            </a:r>
          </a:p>
          <a:p>
            <a:r>
              <a:rPr lang="en-US" altLang="en-US"/>
              <a:t>Free Radical damage</a:t>
            </a:r>
          </a:p>
          <a:p>
            <a:pPr lvl="1"/>
            <a:r>
              <a:rPr lang="en-US" altLang="en-US"/>
              <a:t>Ataxia Telangiectasia</a:t>
            </a:r>
          </a:p>
          <a:p>
            <a:r>
              <a:rPr lang="en-US" altLang="en-US"/>
              <a:t>Mismatch Repair</a:t>
            </a:r>
          </a:p>
          <a:p>
            <a:pPr lvl="1"/>
            <a:r>
              <a:rPr lang="en-US" altLang="en-US"/>
              <a:t>Lynch Syndrome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ABEF149-8961-BF11-FE25-2DEE8B5C5E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BLOTS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62B4AE16-3982-ACB4-7D79-7CFC41833B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Southern blot: DNA</a:t>
            </a:r>
          </a:p>
          <a:p>
            <a:pPr eaLnBrk="1" hangingPunct="1"/>
            <a:r>
              <a:rPr lang="en-US" altLang="en-US"/>
              <a:t>Northern blot: RNA</a:t>
            </a:r>
          </a:p>
          <a:p>
            <a:pPr eaLnBrk="1" hangingPunct="1"/>
            <a:r>
              <a:rPr lang="en-US" altLang="en-US"/>
              <a:t>Western blot: PROTEIN</a:t>
            </a:r>
          </a:p>
          <a:p>
            <a:pPr eaLnBrk="1" hangingPunct="1"/>
            <a:r>
              <a:rPr lang="en-US" altLang="en-US"/>
              <a:t>PCR: amplifies DNA or RNA</a:t>
            </a:r>
          </a:p>
          <a:p>
            <a:pPr eaLnBrk="1" hangingPunct="1"/>
            <a:r>
              <a:rPr lang="en-US" altLang="en-US"/>
              <a:t>ELIZA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175FCAC2-08EB-4873-ACDB-E401BAF85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Nucleotides Continued</a:t>
            </a:r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C9E5A325-1DF6-A123-DCC6-8C8BC7CCE7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362200"/>
            <a:ext cx="6888163" cy="3598863"/>
          </a:xfrm>
        </p:spPr>
        <p:txBody>
          <a:bodyPr/>
          <a:lstStyle/>
          <a:p>
            <a:pPr eaLnBrk="1" hangingPunct="1"/>
            <a:r>
              <a:rPr lang="en-US" altLang="en-US"/>
              <a:t>Euchromatin:</a:t>
            </a:r>
          </a:p>
          <a:p>
            <a:pPr lvl="1" eaLnBrk="1" hangingPunct="1"/>
            <a:r>
              <a:rPr lang="en-US" altLang="en-US" sz="2400"/>
              <a:t>Loose DNA</a:t>
            </a:r>
          </a:p>
          <a:p>
            <a:pPr lvl="1" eaLnBrk="1" hangingPunct="1"/>
            <a:r>
              <a:rPr lang="en-US" altLang="en-US" sz="2400"/>
              <a:t>More As and Ts</a:t>
            </a:r>
          </a:p>
          <a:p>
            <a:pPr eaLnBrk="1" hangingPunct="1"/>
            <a:r>
              <a:rPr lang="en-US" altLang="en-US"/>
              <a:t>Heterochromatin:</a:t>
            </a:r>
          </a:p>
          <a:p>
            <a:pPr lvl="1" eaLnBrk="1" hangingPunct="1"/>
            <a:r>
              <a:rPr lang="en-US" altLang="en-US" sz="2400"/>
              <a:t>Tight DNA</a:t>
            </a:r>
          </a:p>
          <a:p>
            <a:pPr lvl="1" eaLnBrk="1" hangingPunct="1"/>
            <a:r>
              <a:rPr lang="en-US" altLang="en-US" sz="2400"/>
              <a:t>More Gs and Cs</a:t>
            </a:r>
          </a:p>
          <a:p>
            <a:pPr eaLnBrk="1" hangingPunct="1"/>
            <a:r>
              <a:rPr lang="en-US" altLang="en-US"/>
              <a:t>Purines</a:t>
            </a:r>
          </a:p>
          <a:p>
            <a:pPr eaLnBrk="1" hangingPunct="1"/>
            <a:r>
              <a:rPr lang="en-US" altLang="en-US"/>
              <a:t>Pyrimidines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FD6004E3-799C-F87C-08BB-B4C778ED6F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7213" y="725488"/>
            <a:ext cx="6896100" cy="1081087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Purines</a:t>
            </a:r>
          </a:p>
        </p:txBody>
      </p:sp>
      <p:sp>
        <p:nvSpPr>
          <p:cNvPr id="196611" name="TextBox 2">
            <a:extLst>
              <a:ext uri="{FF2B5EF4-FFF2-40B4-BE49-F238E27FC236}">
                <a16:creationId xmlns:a16="http://schemas.microsoft.com/office/drawing/2014/main" id="{3A705664-748B-5D8B-EC14-908EA14DB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163763"/>
            <a:ext cx="7467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Ribose 5 Phosphate + ATP       PRPP + GIN?        G  Phosphoribosylamine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FF5104-AC33-6309-F3AA-0352F852A886}"/>
              </a:ext>
            </a:extLst>
          </p:cNvPr>
          <p:cNvCxnSpPr>
            <a:cxnSpLocks/>
          </p:cNvCxnSpPr>
          <p:nvPr/>
        </p:nvCxnSpPr>
        <p:spPr>
          <a:xfrm>
            <a:off x="3559175" y="2349500"/>
            <a:ext cx="304800" cy="0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0A3D9B-6819-A603-9453-916E5E9B8E9B}"/>
              </a:ext>
            </a:extLst>
          </p:cNvPr>
          <p:cNvCxnSpPr>
            <a:cxnSpLocks/>
          </p:cNvCxnSpPr>
          <p:nvPr/>
        </p:nvCxnSpPr>
        <p:spPr>
          <a:xfrm flipH="1">
            <a:off x="1517650" y="3963988"/>
            <a:ext cx="3048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1EB5CA-7B16-68D6-B683-7C9424717429}"/>
              </a:ext>
            </a:extLst>
          </p:cNvPr>
          <p:cNvCxnSpPr>
            <a:cxnSpLocks/>
          </p:cNvCxnSpPr>
          <p:nvPr/>
        </p:nvCxnSpPr>
        <p:spPr>
          <a:xfrm flipH="1">
            <a:off x="2514600" y="3935413"/>
            <a:ext cx="306388" cy="381000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7E862C-9315-E0A8-AD1C-44234B5DB65D}"/>
              </a:ext>
            </a:extLst>
          </p:cNvPr>
          <p:cNvCxnSpPr>
            <a:cxnSpLocks/>
          </p:cNvCxnSpPr>
          <p:nvPr/>
        </p:nvCxnSpPr>
        <p:spPr>
          <a:xfrm>
            <a:off x="2286000" y="4686300"/>
            <a:ext cx="0" cy="228600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77FFF9-86F0-68B6-2FB5-1E58371B0682}"/>
              </a:ext>
            </a:extLst>
          </p:cNvPr>
          <p:cNvCxnSpPr>
            <a:cxnSpLocks/>
          </p:cNvCxnSpPr>
          <p:nvPr/>
        </p:nvCxnSpPr>
        <p:spPr>
          <a:xfrm>
            <a:off x="5334000" y="2349500"/>
            <a:ext cx="304800" cy="0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617" name="TextBox 13">
            <a:extLst>
              <a:ext uri="{FF2B5EF4-FFF2-40B4-BE49-F238E27FC236}">
                <a16:creationId xmlns:a16="http://schemas.microsoft.com/office/drawing/2014/main" id="{87D1BA11-2D2F-AACE-E96F-33F42E2BA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1963" y="2455863"/>
            <a:ext cx="1311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7030A0"/>
                </a:solidFill>
              </a:rPr>
              <a:t>PRPP Synthetase</a:t>
            </a:r>
          </a:p>
        </p:txBody>
      </p:sp>
      <p:sp>
        <p:nvSpPr>
          <p:cNvPr id="196618" name="TextBox 15">
            <a:extLst>
              <a:ext uri="{FF2B5EF4-FFF2-40B4-BE49-F238E27FC236}">
                <a16:creationId xmlns:a16="http://schemas.microsoft.com/office/drawing/2014/main" id="{6D9256CD-7B9F-95D9-BC6D-70DE6AF2F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638" y="2390775"/>
            <a:ext cx="13112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+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PPi</a:t>
            </a:r>
          </a:p>
        </p:txBody>
      </p:sp>
      <p:sp>
        <p:nvSpPr>
          <p:cNvPr id="196619" name="TextBox 16">
            <a:extLst>
              <a:ext uri="{FF2B5EF4-FFF2-40B4-BE49-F238E27FC236}">
                <a16:creationId xmlns:a16="http://schemas.microsoft.com/office/drawing/2014/main" id="{7E4277EB-8449-3F4E-0DE8-227BF6E3A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2455863"/>
            <a:ext cx="1143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000" u="sng">
                <a:solidFill>
                  <a:srgbClr val="CC0000"/>
                </a:solidFill>
              </a:rPr>
              <a:t>Energy Needed</a:t>
            </a:r>
            <a:r>
              <a:rPr lang="en-US" altLang="en-US" sz="1000">
                <a:solidFill>
                  <a:srgbClr val="CC0000"/>
                </a:solidFill>
              </a:rPr>
              <a:t>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CC0000"/>
                </a:solidFill>
              </a:rPr>
              <a:t>2ATP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CC0000"/>
                </a:solidFill>
              </a:rPr>
              <a:t>4ATP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CC0000"/>
                </a:solidFill>
              </a:rPr>
              <a:t>Glycine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CC0000"/>
                </a:solidFill>
              </a:rPr>
              <a:t>Aspartate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CC0000"/>
                </a:solidFill>
              </a:rPr>
              <a:t>Glutamine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CC0000"/>
                </a:solidFill>
              </a:rPr>
              <a:t>CO2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000">
                <a:solidFill>
                  <a:srgbClr val="CC0000"/>
                </a:solidFill>
              </a:rPr>
              <a:t>THF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9EC112-6985-60F0-D50C-13F05F2DC8F8}"/>
              </a:ext>
            </a:extLst>
          </p:cNvPr>
          <p:cNvSpPr txBox="1"/>
          <p:nvPr/>
        </p:nvSpPr>
        <p:spPr>
          <a:xfrm>
            <a:off x="525463" y="3746500"/>
            <a:ext cx="5045075" cy="203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Pi + GDP 	GTP 		ATP		  AMP + PPi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spc="500" dirty="0">
                <a:solidFill>
                  <a:srgbClr val="CC0000"/>
                </a:solidFill>
              </a:rPr>
              <a:t>			AMP		GMP</a:t>
            </a:r>
          </a:p>
          <a:p>
            <a:pPr>
              <a:defRPr/>
            </a:pPr>
            <a:r>
              <a:rPr lang="en-US" spc="500" dirty="0">
                <a:solidFill>
                  <a:schemeClr val="bg1"/>
                </a:solidFill>
              </a:rPr>
              <a:t>   				ATP		ATP</a:t>
            </a:r>
          </a:p>
          <a:p>
            <a:pPr>
              <a:defRPr/>
            </a:pPr>
            <a:r>
              <a:rPr lang="en-US" spc="500" dirty="0">
                <a:solidFill>
                  <a:srgbClr val="CC0000"/>
                </a:solidFill>
              </a:rPr>
              <a:t>			ADP		GDP</a:t>
            </a:r>
          </a:p>
          <a:p>
            <a:pPr>
              <a:defRPr/>
            </a:pPr>
            <a:r>
              <a:rPr lang="en-US" spc="500" dirty="0">
                <a:solidFill>
                  <a:schemeClr val="bg1"/>
                </a:solidFill>
              </a:rPr>
              <a:t>   				ATP		ATP</a:t>
            </a:r>
          </a:p>
          <a:p>
            <a:pPr>
              <a:defRPr/>
            </a:pPr>
            <a:r>
              <a:rPr lang="en-US" spc="500" dirty="0">
                <a:solidFill>
                  <a:srgbClr val="CC0000"/>
                </a:solidFill>
              </a:rPr>
              <a:t>			ATP		GTP	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F63B9DB-C586-DFEA-5E5F-2D01E79BEDA2}"/>
              </a:ext>
            </a:extLst>
          </p:cNvPr>
          <p:cNvCxnSpPr>
            <a:cxnSpLocks/>
          </p:cNvCxnSpPr>
          <p:nvPr/>
        </p:nvCxnSpPr>
        <p:spPr>
          <a:xfrm>
            <a:off x="3883025" y="3963988"/>
            <a:ext cx="3048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622" name="TextBox 19">
            <a:extLst>
              <a:ext uri="{FF2B5EF4-FFF2-40B4-BE49-F238E27FC236}">
                <a16:creationId xmlns:a16="http://schemas.microsoft.com/office/drawing/2014/main" id="{95C72A8B-C9F4-57C4-1590-AB09CAA99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438" y="3482975"/>
            <a:ext cx="114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IMP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017269-CB58-E399-EF19-FFEBA50D048F}"/>
              </a:ext>
            </a:extLst>
          </p:cNvPr>
          <p:cNvCxnSpPr>
            <a:cxnSpLocks/>
          </p:cNvCxnSpPr>
          <p:nvPr/>
        </p:nvCxnSpPr>
        <p:spPr>
          <a:xfrm>
            <a:off x="3048000" y="3935413"/>
            <a:ext cx="331788" cy="381000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B69A989-AFD5-0470-2251-A576F3B9699F}"/>
              </a:ext>
            </a:extLst>
          </p:cNvPr>
          <p:cNvCxnSpPr>
            <a:cxnSpLocks/>
          </p:cNvCxnSpPr>
          <p:nvPr/>
        </p:nvCxnSpPr>
        <p:spPr>
          <a:xfrm>
            <a:off x="3657600" y="4686300"/>
            <a:ext cx="0" cy="228600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D978438-80DE-526C-10C7-2F27B0A55B67}"/>
              </a:ext>
            </a:extLst>
          </p:cNvPr>
          <p:cNvCxnSpPr>
            <a:cxnSpLocks/>
          </p:cNvCxnSpPr>
          <p:nvPr/>
        </p:nvCxnSpPr>
        <p:spPr>
          <a:xfrm>
            <a:off x="3657600" y="5194300"/>
            <a:ext cx="0" cy="228600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8D8A62-2A64-FBCB-98E9-E232FD02B219}"/>
              </a:ext>
            </a:extLst>
          </p:cNvPr>
          <p:cNvCxnSpPr>
            <a:cxnSpLocks/>
          </p:cNvCxnSpPr>
          <p:nvPr/>
        </p:nvCxnSpPr>
        <p:spPr>
          <a:xfrm>
            <a:off x="2286000" y="5194300"/>
            <a:ext cx="0" cy="228600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10F76CD-A92C-4C11-0CB0-3B52208695E0}"/>
              </a:ext>
            </a:extLst>
          </p:cNvPr>
          <p:cNvSpPr txBox="1"/>
          <p:nvPr/>
        </p:nvSpPr>
        <p:spPr>
          <a:xfrm>
            <a:off x="6059488" y="3352800"/>
            <a:ext cx="2917825" cy="2492375"/>
          </a:xfrm>
          <a:prstGeom prst="rect">
            <a:avLst/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200" u="sng" dirty="0">
                <a:solidFill>
                  <a:srgbClr val="7030A0"/>
                </a:solidFill>
              </a:rPr>
              <a:t>Salvage Pathway</a:t>
            </a:r>
          </a:p>
          <a:p>
            <a:pPr algn="ctr">
              <a:defRPr/>
            </a:pPr>
            <a:r>
              <a:rPr lang="en-US" sz="1200" dirty="0"/>
              <a:t>   </a:t>
            </a:r>
            <a:r>
              <a:rPr lang="en-US" sz="1200" dirty="0">
                <a:solidFill>
                  <a:srgbClr val="C00000"/>
                </a:solidFill>
              </a:rPr>
              <a:t>PRRP</a:t>
            </a:r>
          </a:p>
          <a:p>
            <a:pPr>
              <a:defRPr/>
            </a:pPr>
            <a:r>
              <a:rPr lang="en-US" sz="1200" dirty="0">
                <a:solidFill>
                  <a:srgbClr val="7030A0"/>
                </a:solidFill>
              </a:rPr>
              <a:t>Hypoxanthine		IMP + PPi</a:t>
            </a:r>
          </a:p>
          <a:p>
            <a:pPr>
              <a:defRPr/>
            </a:pPr>
            <a:r>
              <a:rPr lang="en-US" sz="1200" dirty="0"/>
              <a:t>	   	</a:t>
            </a:r>
            <a:r>
              <a:rPr lang="en-US" sz="1200" dirty="0">
                <a:solidFill>
                  <a:srgbClr val="0070C0"/>
                </a:solidFill>
              </a:rPr>
              <a:t>HGPRT</a:t>
            </a:r>
          </a:p>
          <a:p>
            <a:pPr>
              <a:defRPr/>
            </a:pPr>
            <a:r>
              <a:rPr lang="en-US" sz="1200" dirty="0"/>
              <a:t>		     </a:t>
            </a:r>
            <a:r>
              <a:rPr lang="en-US" sz="1200" dirty="0">
                <a:solidFill>
                  <a:srgbClr val="CC0000"/>
                </a:solidFill>
              </a:rPr>
              <a:t>PRPP</a:t>
            </a:r>
          </a:p>
          <a:p>
            <a:pPr>
              <a:defRPr/>
            </a:pPr>
            <a:r>
              <a:rPr lang="en-US" sz="1200" dirty="0">
                <a:solidFill>
                  <a:srgbClr val="7030A0"/>
                </a:solidFill>
              </a:rPr>
              <a:t>	   Guanine 	       GMP + PPi</a:t>
            </a:r>
          </a:p>
          <a:p>
            <a:pPr>
              <a:defRPr/>
            </a:pPr>
            <a:r>
              <a:rPr lang="en-US" sz="1200" dirty="0"/>
              <a:t>		     </a:t>
            </a:r>
            <a:r>
              <a:rPr lang="en-US" sz="1200" dirty="0">
                <a:solidFill>
                  <a:srgbClr val="CC0000"/>
                </a:solidFill>
              </a:rPr>
              <a:t>PRPP</a:t>
            </a:r>
          </a:p>
          <a:p>
            <a:pPr>
              <a:defRPr/>
            </a:pPr>
            <a:r>
              <a:rPr lang="en-US" sz="1200" dirty="0">
                <a:solidFill>
                  <a:srgbClr val="7030A0"/>
                </a:solidFill>
              </a:rPr>
              <a:t>	   Adenine	       AMP + PPi</a:t>
            </a:r>
          </a:p>
          <a:p>
            <a:pPr>
              <a:defRPr/>
            </a:pPr>
            <a:r>
              <a:rPr lang="en-US" sz="1200" dirty="0"/>
              <a:t>		     </a:t>
            </a:r>
            <a:r>
              <a:rPr lang="en-US" sz="1200" dirty="0">
                <a:solidFill>
                  <a:srgbClr val="0070C0"/>
                </a:solidFill>
              </a:rPr>
              <a:t>APRT</a:t>
            </a:r>
          </a:p>
          <a:p>
            <a:pPr>
              <a:defRPr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sz="1200" dirty="0">
                <a:solidFill>
                  <a:schemeClr val="bg1"/>
                </a:solidFill>
              </a:rPr>
              <a:t>Xanthine Oxidase </a:t>
            </a:r>
          </a:p>
          <a:p>
            <a:pPr>
              <a:defRPr/>
            </a:pP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C0000"/>
                </a:solidFill>
              </a:rPr>
              <a:t>Uric Acid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0A2D578-AB7E-9965-76B3-F1C29CC9989B}"/>
              </a:ext>
            </a:extLst>
          </p:cNvPr>
          <p:cNvCxnSpPr>
            <a:cxnSpLocks/>
          </p:cNvCxnSpPr>
          <p:nvPr/>
        </p:nvCxnSpPr>
        <p:spPr>
          <a:xfrm>
            <a:off x="7316788" y="3852863"/>
            <a:ext cx="457200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row: Left-Right-Up 46">
            <a:extLst>
              <a:ext uri="{FF2B5EF4-FFF2-40B4-BE49-F238E27FC236}">
                <a16:creationId xmlns:a16="http://schemas.microsoft.com/office/drawing/2014/main" id="{FCE86F33-D29E-531A-0AE2-6CEB19C7A6F8}"/>
              </a:ext>
            </a:extLst>
          </p:cNvPr>
          <p:cNvSpPr/>
          <p:nvPr/>
        </p:nvSpPr>
        <p:spPr>
          <a:xfrm rot="16200000">
            <a:off x="7558881" y="3936207"/>
            <a:ext cx="346075" cy="227012"/>
          </a:xfrm>
          <a:prstGeom prst="leftRightUpArrow">
            <a:avLst/>
          </a:prstGeom>
          <a:ln w="0" cmpd="sng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504D911-9D2A-7349-8D25-AD5B3772B24B}"/>
              </a:ext>
            </a:extLst>
          </p:cNvPr>
          <p:cNvCxnSpPr>
            <a:cxnSpLocks/>
          </p:cNvCxnSpPr>
          <p:nvPr/>
        </p:nvCxnSpPr>
        <p:spPr>
          <a:xfrm>
            <a:off x="7339013" y="4419600"/>
            <a:ext cx="457200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1D4BBB2-5741-EAA5-645B-1D414C146CD1}"/>
              </a:ext>
            </a:extLst>
          </p:cNvPr>
          <p:cNvCxnSpPr>
            <a:cxnSpLocks/>
          </p:cNvCxnSpPr>
          <p:nvPr/>
        </p:nvCxnSpPr>
        <p:spPr>
          <a:xfrm>
            <a:off x="7351713" y="4772025"/>
            <a:ext cx="457200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6632" name="Graphic 57" descr="Line arrow: Counter-clockwise curve with solid fill">
            <a:extLst>
              <a:ext uri="{FF2B5EF4-FFF2-40B4-BE49-F238E27FC236}">
                <a16:creationId xmlns:a16="http://schemas.microsoft.com/office/drawing/2014/main" id="{244438CD-861E-7444-4526-92483295E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295863">
            <a:off x="5851525" y="3822700"/>
            <a:ext cx="3714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6633" name="Graphic 59" descr="Line arrow: Counter-clockwise curve with solid fill">
            <a:extLst>
              <a:ext uri="{FF2B5EF4-FFF2-40B4-BE49-F238E27FC236}">
                <a16:creationId xmlns:a16="http://schemas.microsoft.com/office/drawing/2014/main" id="{02F47C30-FE94-914C-33EB-1099ECFF9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295863">
            <a:off x="6446838" y="4352925"/>
            <a:ext cx="3714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6634" name="Graphic 60" descr="Line arrow: Counter-clockwise curve with solid fill">
            <a:extLst>
              <a:ext uri="{FF2B5EF4-FFF2-40B4-BE49-F238E27FC236}">
                <a16:creationId xmlns:a16="http://schemas.microsoft.com/office/drawing/2014/main" id="{1AAE757D-B114-220C-E4DB-D16F79BE9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295863">
            <a:off x="6446838" y="4729163"/>
            <a:ext cx="3714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Title 1">
            <a:extLst>
              <a:ext uri="{FF2B5EF4-FFF2-40B4-BE49-F238E27FC236}">
                <a16:creationId xmlns:a16="http://schemas.microsoft.com/office/drawing/2014/main" id="{50D361B4-FEFE-9B1C-92CD-552B7DC354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 Make a Purine Ring</a:t>
            </a:r>
          </a:p>
        </p:txBody>
      </p:sp>
      <p:sp>
        <p:nvSpPr>
          <p:cNvPr id="198659" name="Content Placeholder 2">
            <a:extLst>
              <a:ext uri="{FF2B5EF4-FFF2-40B4-BE49-F238E27FC236}">
                <a16:creationId xmlns:a16="http://schemas.microsoft.com/office/drawing/2014/main" id="{14B06265-AB38-E899-4723-FA9EDC2B14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9 or 10 ATPs</a:t>
            </a:r>
          </a:p>
          <a:p>
            <a:r>
              <a:rPr lang="en-US" altLang="en-US"/>
              <a:t>Glycine</a:t>
            </a:r>
          </a:p>
          <a:p>
            <a:r>
              <a:rPr lang="en-US" altLang="en-US"/>
              <a:t>Glutamine</a:t>
            </a:r>
          </a:p>
          <a:p>
            <a:r>
              <a:rPr lang="en-US" altLang="en-US"/>
              <a:t>Aspartate</a:t>
            </a:r>
          </a:p>
          <a:p>
            <a:r>
              <a:rPr lang="en-US" altLang="en-US"/>
              <a:t>CO2</a:t>
            </a:r>
          </a:p>
          <a:p>
            <a:r>
              <a:rPr lang="en-US" altLang="en-US"/>
              <a:t>THF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Title 1">
            <a:extLst>
              <a:ext uri="{FF2B5EF4-FFF2-40B4-BE49-F238E27FC236}">
                <a16:creationId xmlns:a16="http://schemas.microsoft.com/office/drawing/2014/main" id="{84A22F05-C527-7F83-A5B3-FCF54C207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HGPRT</a:t>
            </a:r>
          </a:p>
        </p:txBody>
      </p:sp>
      <p:sp>
        <p:nvSpPr>
          <p:cNvPr id="199683" name="Content Placeholder 2">
            <a:extLst>
              <a:ext uri="{FF2B5EF4-FFF2-40B4-BE49-F238E27FC236}">
                <a16:creationId xmlns:a16="http://schemas.microsoft.com/office/drawing/2014/main" id="{1326D1DF-29AC-9F70-4778-847187F765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Rate limiting enzyme for Hypoxanthine and Guanine</a:t>
            </a:r>
          </a:p>
          <a:p>
            <a:r>
              <a:rPr lang="en-US" altLang="en-US"/>
              <a:t>Partial Deficiency: Gout in a child</a:t>
            </a:r>
          </a:p>
          <a:p>
            <a:r>
              <a:rPr lang="en-US" altLang="en-US"/>
              <a:t>Complete Deficiency: Lesch-Nyhan Syndrome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Title 1">
            <a:extLst>
              <a:ext uri="{FF2B5EF4-FFF2-40B4-BE49-F238E27FC236}">
                <a16:creationId xmlns:a16="http://schemas.microsoft.com/office/drawing/2014/main" id="{938F6C21-B915-C436-15D1-35B7B7B1D6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Gout</a:t>
            </a:r>
          </a:p>
        </p:txBody>
      </p:sp>
      <p:sp>
        <p:nvSpPr>
          <p:cNvPr id="200707" name="Content Placeholder 2">
            <a:extLst>
              <a:ext uri="{FF2B5EF4-FFF2-40B4-BE49-F238E27FC236}">
                <a16:creationId xmlns:a16="http://schemas.microsoft.com/office/drawing/2014/main" id="{F387F78B-19AF-A988-C271-F61D08B2EF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Most Effective: Colchicine</a:t>
            </a:r>
          </a:p>
          <a:p>
            <a:r>
              <a:rPr lang="en-US" altLang="en-US"/>
              <a:t>First Line: Indomethacin</a:t>
            </a:r>
          </a:p>
          <a:p>
            <a:r>
              <a:rPr lang="en-US" altLang="en-US"/>
              <a:t>In Renal Failure: Inject joints with steroids</a:t>
            </a:r>
          </a:p>
          <a:p>
            <a:r>
              <a:rPr lang="en-US" altLang="en-US"/>
              <a:t>Chronic or Recurrent: Allopurinol or Febuxostat</a:t>
            </a:r>
          </a:p>
          <a:p>
            <a:r>
              <a:rPr lang="en-US" altLang="en-US"/>
              <a:t>To Break up crystals: Rasburicase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>
            <a:extLst>
              <a:ext uri="{FF2B5EF4-FFF2-40B4-BE49-F238E27FC236}">
                <a16:creationId xmlns:a16="http://schemas.microsoft.com/office/drawing/2014/main" id="{0B16150F-E72B-0339-16BC-561A39DE1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CC0000"/>
                </a:solidFill>
              </a:rPr>
              <a:t>Pyrimidines</a:t>
            </a:r>
          </a:p>
        </p:txBody>
      </p:sp>
      <p:sp>
        <p:nvSpPr>
          <p:cNvPr id="201731" name="TextBox 2">
            <a:extLst>
              <a:ext uri="{FF2B5EF4-FFF2-40B4-BE49-F238E27FC236}">
                <a16:creationId xmlns:a16="http://schemas.microsoft.com/office/drawing/2014/main" id="{97652AD7-8833-7626-1533-9E45F280B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066925"/>
            <a:ext cx="28956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NH</a:t>
            </a:r>
            <a:r>
              <a:rPr lang="en-US" altLang="en-US" sz="1200">
                <a:solidFill>
                  <a:srgbClr val="CC0000"/>
                </a:solidFill>
              </a:rPr>
              <a:t>4</a:t>
            </a:r>
            <a:r>
              <a:rPr lang="en-US" altLang="en-US" sz="1400">
                <a:solidFill>
                  <a:srgbClr val="CC0000"/>
                </a:solidFill>
              </a:rPr>
              <a:t> </a:t>
            </a:r>
            <a:r>
              <a:rPr lang="en-US" altLang="en-US" sz="1800">
                <a:solidFill>
                  <a:srgbClr val="CC0000"/>
                </a:solidFill>
              </a:rPr>
              <a:t> +  CO2  + 2ATP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/>
              <a:t>		  </a:t>
            </a:r>
            <a:r>
              <a:rPr lang="en-US" altLang="en-US" sz="1800">
                <a:solidFill>
                  <a:srgbClr val="7030A0"/>
                </a:solidFill>
              </a:rPr>
              <a:t>CPS-11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</a:rPr>
              <a:t>Carbamoyl Phosphate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</a:rPr>
              <a:t>			     + PRPP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</a:rPr>
              <a:t>Orotic Acid</a:t>
            </a: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FC1F9ED5-0053-1F3F-BBB8-06E3E0F723D5}"/>
              </a:ext>
            </a:extLst>
          </p:cNvPr>
          <p:cNvSpPr/>
          <p:nvPr/>
        </p:nvSpPr>
        <p:spPr>
          <a:xfrm>
            <a:off x="1866900" y="4953000"/>
            <a:ext cx="838200" cy="685800"/>
          </a:xfrm>
          <a:prstGeom prst="hexagon">
            <a:avLst/>
          </a:prstGeom>
          <a:noFill/>
          <a:ln w="34925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37E734-15C4-3F1D-8EC2-3BC6E7C83BD8}"/>
              </a:ext>
            </a:extLst>
          </p:cNvPr>
          <p:cNvCxnSpPr>
            <a:cxnSpLocks/>
          </p:cNvCxnSpPr>
          <p:nvPr/>
        </p:nvCxnSpPr>
        <p:spPr>
          <a:xfrm>
            <a:off x="2286000" y="2438400"/>
            <a:ext cx="0" cy="7620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60F121-8892-83AE-B72F-6B6F63D8F2F9}"/>
              </a:ext>
            </a:extLst>
          </p:cNvPr>
          <p:cNvCxnSpPr>
            <a:cxnSpLocks/>
          </p:cNvCxnSpPr>
          <p:nvPr/>
        </p:nvCxnSpPr>
        <p:spPr>
          <a:xfrm>
            <a:off x="2286000" y="3733800"/>
            <a:ext cx="0" cy="457200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49B27E-251C-360C-FA0D-5526814FD3B4}"/>
              </a:ext>
            </a:extLst>
          </p:cNvPr>
          <p:cNvCxnSpPr>
            <a:cxnSpLocks/>
          </p:cNvCxnSpPr>
          <p:nvPr/>
        </p:nvCxnSpPr>
        <p:spPr>
          <a:xfrm>
            <a:off x="2286000" y="4419600"/>
            <a:ext cx="0" cy="457200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736" name="TextBox 6">
            <a:extLst>
              <a:ext uri="{FF2B5EF4-FFF2-40B4-BE49-F238E27FC236}">
                <a16:creationId xmlns:a16="http://schemas.microsoft.com/office/drawing/2014/main" id="{6C575DB7-E233-17A4-465B-624B1807B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3995738"/>
            <a:ext cx="22098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</a:rPr>
              <a:t>TMP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</a:rPr>
              <a:t>  THF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</a:rPr>
              <a:t>UMP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</a:rPr>
              <a:t>  GLN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</a:rPr>
              <a:t> 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</a:rPr>
              <a:t>CMP</a:t>
            </a:r>
            <a:endParaRPr lang="en-US" altLang="en-US" sz="180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1DA4F4-B7BB-59A8-BF8D-D30A716C6147}"/>
              </a:ext>
            </a:extLst>
          </p:cNvPr>
          <p:cNvCxnSpPr>
            <a:cxnSpLocks/>
          </p:cNvCxnSpPr>
          <p:nvPr/>
        </p:nvCxnSpPr>
        <p:spPr>
          <a:xfrm>
            <a:off x="3595688" y="5294313"/>
            <a:ext cx="595312" cy="1587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6163CA-4829-57EB-B74C-D010EB313F1B}"/>
              </a:ext>
            </a:extLst>
          </p:cNvPr>
          <p:cNvCxnSpPr>
            <a:cxnSpLocks/>
          </p:cNvCxnSpPr>
          <p:nvPr/>
        </p:nvCxnSpPr>
        <p:spPr>
          <a:xfrm>
            <a:off x="4040188" y="5464175"/>
            <a:ext cx="400050" cy="641350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B4E5A8-E4BB-4A5E-E50D-DC2C5964CC8E}"/>
              </a:ext>
            </a:extLst>
          </p:cNvPr>
          <p:cNvCxnSpPr>
            <a:cxnSpLocks/>
          </p:cNvCxnSpPr>
          <p:nvPr/>
        </p:nvCxnSpPr>
        <p:spPr>
          <a:xfrm flipV="1">
            <a:off x="4040188" y="4360863"/>
            <a:ext cx="488950" cy="631825"/>
          </a:xfrm>
          <a:prstGeom prst="straightConnector1">
            <a:avLst/>
          </a:prstGeom>
          <a:ln w="3810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Title 1">
            <a:extLst>
              <a:ext uri="{FF2B5EF4-FFF2-40B4-BE49-F238E27FC236}">
                <a16:creationId xmlns:a16="http://schemas.microsoft.com/office/drawing/2014/main" id="{98E2EFC5-F55F-1307-73E2-CA948A5CDA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52475"/>
            <a:ext cx="6888163" cy="1081088"/>
          </a:xfrm>
        </p:spPr>
        <p:txBody>
          <a:bodyPr/>
          <a:lstStyle/>
          <a:p>
            <a:r>
              <a:rPr lang="en-US" altLang="en-US"/>
              <a:t>Carbamoyl Phosphate Synthetase</a:t>
            </a:r>
          </a:p>
        </p:txBody>
      </p:sp>
      <p:sp>
        <p:nvSpPr>
          <p:cNvPr id="106499" name="Content Placeholder 2">
            <a:extLst>
              <a:ext uri="{FF2B5EF4-FFF2-40B4-BE49-F238E27FC236}">
                <a16:creationId xmlns:a16="http://schemas.microsoft.com/office/drawing/2014/main" id="{B8C77C66-37E6-CD48-E176-223D5715BD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400" y="2336800"/>
            <a:ext cx="3357563" cy="35988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+mj-lt"/>
              </a:rPr>
              <a:t>CPS-1</a:t>
            </a:r>
          </a:p>
          <a:p>
            <a:pPr lvl="1">
              <a:defRPr/>
            </a:pPr>
            <a:r>
              <a:rPr lang="en-US" altLang="en-US" dirty="0"/>
              <a:t>Urea Cycle</a:t>
            </a:r>
          </a:p>
          <a:p>
            <a:pPr lvl="1">
              <a:defRPr/>
            </a:pPr>
            <a:r>
              <a:rPr lang="en-US" altLang="en-US" dirty="0"/>
              <a:t>Located in mitochondria</a:t>
            </a:r>
          </a:p>
        </p:txBody>
      </p:sp>
      <p:sp>
        <p:nvSpPr>
          <p:cNvPr id="106500" name="Content Placeholder 3">
            <a:extLst>
              <a:ext uri="{FF2B5EF4-FFF2-40B4-BE49-F238E27FC236}">
                <a16:creationId xmlns:a16="http://schemas.microsoft.com/office/drawing/2014/main" id="{724AAD49-4851-23A7-2AB5-DF664A049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60825" y="2336800"/>
            <a:ext cx="3360738" cy="35988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+mj-lt"/>
              </a:rPr>
              <a:t>CPS-11</a:t>
            </a:r>
          </a:p>
          <a:p>
            <a:pPr lvl="1">
              <a:defRPr/>
            </a:pPr>
            <a:r>
              <a:rPr lang="en-US" altLang="en-US" dirty="0"/>
              <a:t>Pyrimidine synthesis</a:t>
            </a:r>
          </a:p>
          <a:p>
            <a:pPr lvl="1">
              <a:defRPr/>
            </a:pPr>
            <a:r>
              <a:rPr lang="en-US" altLang="en-US" dirty="0"/>
              <a:t>Located in cytoplasm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3F667175-D0C6-43BA-8048-393A47AA8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EE7444"/>
                </a:solidFill>
              </a:rPr>
              <a:t>Ribonucleotide Reductase</a:t>
            </a:r>
          </a:p>
        </p:txBody>
      </p:sp>
      <p:pic>
        <p:nvPicPr>
          <p:cNvPr id="204803" name="Picture 1">
            <a:extLst>
              <a:ext uri="{FF2B5EF4-FFF2-40B4-BE49-F238E27FC236}">
                <a16:creationId xmlns:a16="http://schemas.microsoft.com/office/drawing/2014/main" id="{02366278-821F-4E62-62BB-5A2E10E70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13" y="2286000"/>
            <a:ext cx="6784975" cy="235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4" name="Text Box 28">
            <a:extLst>
              <a:ext uri="{FF2B5EF4-FFF2-40B4-BE49-F238E27FC236}">
                <a16:creationId xmlns:a16="http://schemas.microsoft.com/office/drawing/2014/main" id="{E3DBF4B5-B7E6-D8E4-414A-591BAEF25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900" y="4937125"/>
            <a:ext cx="4648200" cy="319088"/>
          </a:xfrm>
          <a:prstGeom prst="rect">
            <a:avLst/>
          </a:prstGeom>
          <a:solidFill>
            <a:schemeClr val="bg2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en-US" sz="1600">
                <a:solidFill>
                  <a:srgbClr val="FFFFFF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Figure 6.19 Ribonucleotide Reductase Function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94FF22D-A39C-D7D8-EAD5-4FE20F7123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SCID</a:t>
            </a:r>
          </a:p>
        </p:txBody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E7523DB3-9C49-A214-1A87-AABE84BC07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Adenosine deaminase def</a:t>
            </a:r>
          </a:p>
          <a:p>
            <a:pPr eaLnBrk="1" hangingPunct="1"/>
            <a:r>
              <a:rPr lang="en-US" altLang="en-US"/>
              <a:t>Unable to make DNA</a:t>
            </a:r>
          </a:p>
          <a:p>
            <a:pPr eaLnBrk="1" hangingPunct="1"/>
            <a:r>
              <a:rPr lang="en-US" altLang="en-US"/>
              <a:t>Affects all rapidly dividing cells, especially bone marrow</a:t>
            </a:r>
          </a:p>
          <a:p>
            <a:pPr eaLnBrk="1" hangingPunct="1"/>
            <a:r>
              <a:rPr lang="en-US" altLang="en-US"/>
              <a:t>Bone marrow transplant is now current therapy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Title 1">
            <a:extLst>
              <a:ext uri="{FF2B5EF4-FFF2-40B4-BE49-F238E27FC236}">
                <a16:creationId xmlns:a16="http://schemas.microsoft.com/office/drawing/2014/main" id="{3CCB0D1A-47DC-EE9C-6E3E-E46E3CAE1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52475"/>
            <a:ext cx="6888163" cy="1081088"/>
          </a:xfrm>
        </p:spPr>
        <p:txBody>
          <a:bodyPr/>
          <a:lstStyle/>
          <a:p>
            <a:r>
              <a:rPr lang="en-US" altLang="en-US"/>
              <a:t>SCID Update</a:t>
            </a:r>
          </a:p>
        </p:txBody>
      </p:sp>
      <p:sp>
        <p:nvSpPr>
          <p:cNvPr id="208899" name="Content Placeholder 2">
            <a:extLst>
              <a:ext uri="{FF2B5EF4-FFF2-40B4-BE49-F238E27FC236}">
                <a16:creationId xmlns:a16="http://schemas.microsoft.com/office/drawing/2014/main" id="{03375D92-7D06-B4F7-8185-FEC35C9A12A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33400" y="2336800"/>
            <a:ext cx="3357563" cy="3598863"/>
          </a:xfrm>
        </p:spPr>
        <p:txBody>
          <a:bodyPr/>
          <a:lstStyle/>
          <a:p>
            <a:r>
              <a:rPr lang="en-US" altLang="en-US"/>
              <a:t>Two thirds of cases</a:t>
            </a:r>
          </a:p>
          <a:p>
            <a:r>
              <a:rPr lang="en-US" altLang="en-US"/>
              <a:t>X-linked recessive</a:t>
            </a:r>
          </a:p>
          <a:p>
            <a:r>
              <a:rPr lang="en-US" altLang="en-US"/>
              <a:t>IL-2 and IL-7 receptor is defective</a:t>
            </a:r>
          </a:p>
        </p:txBody>
      </p:sp>
      <p:sp>
        <p:nvSpPr>
          <p:cNvPr id="208900" name="Content Placeholder 3">
            <a:extLst>
              <a:ext uri="{FF2B5EF4-FFF2-40B4-BE49-F238E27FC236}">
                <a16:creationId xmlns:a16="http://schemas.microsoft.com/office/drawing/2014/main" id="{93DD90CB-BFBA-7221-EE68-D64E89B6D75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060825" y="2336800"/>
            <a:ext cx="3360738" cy="3598863"/>
          </a:xfrm>
        </p:spPr>
        <p:txBody>
          <a:bodyPr/>
          <a:lstStyle/>
          <a:p>
            <a:r>
              <a:rPr lang="en-US" altLang="en-US"/>
              <a:t>One third of cases</a:t>
            </a:r>
          </a:p>
          <a:p>
            <a:r>
              <a:rPr lang="en-US" altLang="en-US"/>
              <a:t>Enzyme is deficient</a:t>
            </a:r>
          </a:p>
          <a:p>
            <a:r>
              <a:rPr lang="en-US" altLang="en-US"/>
              <a:t>Autosomal recessive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AD5EE93-9AE0-1610-AF33-1BD85BB108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DNA Helix</a:t>
            </a:r>
          </a:p>
        </p:txBody>
      </p:sp>
      <p:sp>
        <p:nvSpPr>
          <p:cNvPr id="209923" name="TextBox 1">
            <a:extLst>
              <a:ext uri="{FF2B5EF4-FFF2-40B4-BE49-F238E27FC236}">
                <a16:creationId xmlns:a16="http://schemas.microsoft.com/office/drawing/2014/main" id="{F6BCA6B9-3113-9B55-66F3-A82AAE135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743200"/>
            <a:ext cx="25908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6000"/>
              <a:t>A </a:t>
            </a:r>
            <a:r>
              <a:rPr lang="en-US" altLang="en-US" sz="3600"/>
              <a:t>Form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000"/>
              <a:t>(Right-handed helix)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000"/>
              <a:t>11 bp/turn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/>
          </a:p>
        </p:txBody>
      </p:sp>
      <p:sp>
        <p:nvSpPr>
          <p:cNvPr id="209924" name="TextBox 8">
            <a:extLst>
              <a:ext uri="{FF2B5EF4-FFF2-40B4-BE49-F238E27FC236}">
                <a16:creationId xmlns:a16="http://schemas.microsoft.com/office/drawing/2014/main" id="{57CEE661-9C0D-A42D-5182-2F0B7F085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743200"/>
            <a:ext cx="2667000" cy="268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6000"/>
              <a:t>B </a:t>
            </a:r>
            <a:r>
              <a:rPr lang="en-US" altLang="en-US" sz="3600"/>
              <a:t>Form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000"/>
              <a:t>(Right-handed helix)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000"/>
              <a:t>10 bp/turn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36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/>
          </a:p>
        </p:txBody>
      </p:sp>
      <p:sp>
        <p:nvSpPr>
          <p:cNvPr id="209925" name="TextBox 9">
            <a:extLst>
              <a:ext uri="{FF2B5EF4-FFF2-40B4-BE49-F238E27FC236}">
                <a16:creationId xmlns:a16="http://schemas.microsoft.com/office/drawing/2014/main" id="{A9D3FA0F-8204-4E01-F6E8-324F44570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743200"/>
            <a:ext cx="25908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6000"/>
              <a:t>z </a:t>
            </a:r>
            <a:r>
              <a:rPr lang="en-US" altLang="en-US" sz="3600"/>
              <a:t>Form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000"/>
              <a:t>(Left-handed helix)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000"/>
              <a:t>12 bp/turn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051E9A8A-5312-8235-CDA5-77ED8B52A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HISTONES</a:t>
            </a: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9B91B48F-AC10-4AAB-2A89-45745983C0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Help bind DNA helix</a:t>
            </a:r>
          </a:p>
          <a:p>
            <a:pPr eaLnBrk="1" hangingPunct="1"/>
            <a:r>
              <a:rPr lang="en-US" altLang="en-US"/>
              <a:t>H-1</a:t>
            </a:r>
          </a:p>
          <a:p>
            <a:pPr eaLnBrk="1" hangingPunct="1"/>
            <a:r>
              <a:rPr lang="en-US" altLang="en-US"/>
              <a:t>H-2a</a:t>
            </a:r>
          </a:p>
          <a:p>
            <a:pPr eaLnBrk="1" hangingPunct="1"/>
            <a:r>
              <a:rPr lang="en-US" altLang="en-US"/>
              <a:t>H-2b</a:t>
            </a:r>
          </a:p>
          <a:p>
            <a:pPr eaLnBrk="1" hangingPunct="1"/>
            <a:r>
              <a:rPr lang="en-US" altLang="en-US"/>
              <a:t>H-3</a:t>
            </a:r>
          </a:p>
          <a:p>
            <a:pPr eaLnBrk="1" hangingPunct="1"/>
            <a:r>
              <a:rPr lang="en-US" altLang="en-US"/>
              <a:t>H-4</a:t>
            </a:r>
          </a:p>
          <a:p>
            <a:pPr eaLnBrk="1" hangingPunct="1"/>
            <a:r>
              <a:rPr lang="en-US" altLang="en-US"/>
              <a:t>Basic 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Title 1">
            <a:extLst>
              <a:ext uri="{FF2B5EF4-FFF2-40B4-BE49-F238E27FC236}">
                <a16:creationId xmlns:a16="http://schemas.microsoft.com/office/drawing/2014/main" id="{9F4228DE-3DD4-DACA-1B11-A032B136D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Nucleosome</a:t>
            </a:r>
          </a:p>
        </p:txBody>
      </p:sp>
      <p:sp>
        <p:nvSpPr>
          <p:cNvPr id="214019" name="Content Placeholder 2">
            <a:extLst>
              <a:ext uri="{FF2B5EF4-FFF2-40B4-BE49-F238E27FC236}">
                <a16:creationId xmlns:a16="http://schemas.microsoft.com/office/drawing/2014/main" id="{99AEE57C-A9AC-2418-54FE-F991C171EA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An octamer</a:t>
            </a:r>
          </a:p>
          <a:p>
            <a:r>
              <a:rPr lang="en-US" altLang="en-US"/>
              <a:t>Two of each:</a:t>
            </a:r>
          </a:p>
          <a:p>
            <a:pPr lvl="1"/>
            <a:r>
              <a:rPr lang="en-US" altLang="en-US"/>
              <a:t>H-2a</a:t>
            </a:r>
          </a:p>
          <a:p>
            <a:pPr lvl="1"/>
            <a:r>
              <a:rPr lang="en-US" altLang="en-US"/>
              <a:t>H-2b</a:t>
            </a:r>
          </a:p>
          <a:p>
            <a:pPr lvl="1"/>
            <a:r>
              <a:rPr lang="en-US" altLang="en-US"/>
              <a:t>H-3</a:t>
            </a:r>
          </a:p>
          <a:p>
            <a:pPr lvl="1"/>
            <a:r>
              <a:rPr lang="en-US" altLang="en-US"/>
              <a:t>H-4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itle 1">
            <a:extLst>
              <a:ext uri="{FF2B5EF4-FFF2-40B4-BE49-F238E27FC236}">
                <a16:creationId xmlns:a16="http://schemas.microsoft.com/office/drawing/2014/main" id="{122E07AC-0A8D-AA3F-F098-8C8D374B5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H-1: The </a:t>
            </a:r>
            <a:r>
              <a:rPr lang="en-US" altLang="en-US">
                <a:solidFill>
                  <a:srgbClr val="FF0000"/>
                </a:solidFill>
              </a:rPr>
              <a:t>Linker</a:t>
            </a:r>
            <a:r>
              <a:rPr lang="en-US" altLang="en-US"/>
              <a:t> protein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3D15F3B-437C-EE4A-20E4-C1D0D3FDE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Anti-Histone Antibody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2B3E59F3-2B55-BEFB-AB1A-C40DC8C35A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2362200"/>
            <a:ext cx="6888163" cy="35988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FF0000"/>
                </a:solidFill>
              </a:rPr>
              <a:t>H</a:t>
            </a:r>
            <a:r>
              <a:rPr lang="en-US" altLang="en-US"/>
              <a:t>ydralazine                 Drug-Induced Lupus</a:t>
            </a:r>
          </a:p>
          <a:p>
            <a:pPr eaLnBrk="1" hangingPunct="1"/>
            <a:r>
              <a:rPr lang="en-US" altLang="en-US" sz="3200" b="1">
                <a:solidFill>
                  <a:srgbClr val="FF0000"/>
                </a:solidFill>
              </a:rPr>
              <a:t>I</a:t>
            </a:r>
            <a:r>
              <a:rPr lang="en-US" altLang="en-US"/>
              <a:t>NH</a:t>
            </a:r>
          </a:p>
          <a:p>
            <a:pPr eaLnBrk="1" hangingPunct="1"/>
            <a:r>
              <a:rPr lang="en-US" altLang="en-US" sz="3200" b="1">
                <a:solidFill>
                  <a:srgbClr val="FF0000"/>
                </a:solidFill>
              </a:rPr>
              <a:t>P</a:t>
            </a:r>
            <a:r>
              <a:rPr lang="en-US" altLang="en-US"/>
              <a:t>rocainamide</a:t>
            </a:r>
          </a:p>
          <a:p>
            <a:pPr eaLnBrk="1" hangingPunct="1"/>
            <a:r>
              <a:rPr lang="en-US" altLang="en-US" sz="3200" b="1">
                <a:solidFill>
                  <a:srgbClr val="FF0000"/>
                </a:solidFill>
              </a:rPr>
              <a:t>P</a:t>
            </a:r>
            <a:r>
              <a:rPr lang="en-US" altLang="en-US"/>
              <a:t>enicillamine</a:t>
            </a:r>
          </a:p>
          <a:p>
            <a:pPr eaLnBrk="1" hangingPunct="1"/>
            <a:r>
              <a:rPr lang="en-US" altLang="en-US" sz="3200" b="1">
                <a:solidFill>
                  <a:srgbClr val="FF0000"/>
                </a:solidFill>
              </a:rPr>
              <a:t>P</a:t>
            </a:r>
            <a:r>
              <a:rPr lang="en-US" altLang="en-US"/>
              <a:t>henytoin </a:t>
            </a:r>
          </a:p>
          <a:p>
            <a:pPr eaLnBrk="1" hangingPunct="1"/>
            <a:r>
              <a:rPr lang="en-US" altLang="en-US" sz="3200" b="1">
                <a:solidFill>
                  <a:srgbClr val="FF0000"/>
                </a:solidFill>
              </a:rPr>
              <a:t>E</a:t>
            </a:r>
            <a:r>
              <a:rPr lang="en-US" altLang="en-US"/>
              <a:t>thosuximide 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Title 1">
            <a:extLst>
              <a:ext uri="{FF2B5EF4-FFF2-40B4-BE49-F238E27FC236}">
                <a16:creationId xmlns:a16="http://schemas.microsoft.com/office/drawing/2014/main" id="{33D75CE3-5479-63D5-6BDA-DE8359D51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SLE</a:t>
            </a:r>
          </a:p>
        </p:txBody>
      </p:sp>
      <p:sp>
        <p:nvSpPr>
          <p:cNvPr id="218115" name="Content Placeholder 2">
            <a:extLst>
              <a:ext uri="{FF2B5EF4-FFF2-40B4-BE49-F238E27FC236}">
                <a16:creationId xmlns:a16="http://schemas.microsoft.com/office/drawing/2014/main" id="{27B374A3-2BF7-2D00-F530-73EE55DB90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DsDNA antibodies</a:t>
            </a:r>
          </a:p>
          <a:p>
            <a:pPr lvl="1"/>
            <a:r>
              <a:rPr lang="en-US" altLang="en-US"/>
              <a:t>Most diagnostic</a:t>
            </a:r>
          </a:p>
          <a:p>
            <a:pPr lvl="1"/>
            <a:r>
              <a:rPr lang="en-US" altLang="en-US"/>
              <a:t>Most nephrotoxic: Tx is Mycophenolate</a:t>
            </a:r>
          </a:p>
          <a:p>
            <a:r>
              <a:rPr lang="en-US" altLang="en-US"/>
              <a:t>Anti-SM</a:t>
            </a:r>
          </a:p>
          <a:p>
            <a:r>
              <a:rPr lang="en-US" altLang="en-US"/>
              <a:t>Anti-Cardiolipin</a:t>
            </a:r>
          </a:p>
          <a:p>
            <a:pPr lvl="1"/>
            <a:r>
              <a:rPr lang="en-US" altLang="en-US"/>
              <a:t>Stimulates intrinsic clotting cycle</a:t>
            </a:r>
          </a:p>
          <a:p>
            <a:pPr lvl="1"/>
            <a:r>
              <a:rPr lang="en-US" altLang="en-US"/>
              <a:t>Multiple spontaneous abortions</a:t>
            </a:r>
          </a:p>
          <a:p>
            <a:pPr lvl="1"/>
            <a:r>
              <a:rPr lang="en-US" altLang="en-US"/>
              <a:t>Blocks VWF</a:t>
            </a:r>
          </a:p>
          <a:p>
            <a:pPr lvl="1"/>
            <a:r>
              <a:rPr lang="en-US" altLang="en-US"/>
              <a:t>False positive VDRL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Title 1">
            <a:extLst>
              <a:ext uri="{FF2B5EF4-FFF2-40B4-BE49-F238E27FC236}">
                <a16:creationId xmlns:a16="http://schemas.microsoft.com/office/drawing/2014/main" id="{7A5049EA-0A82-94C7-1DAC-599024C47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Drug Induced Lupus: Differences</a:t>
            </a:r>
          </a:p>
        </p:txBody>
      </p:sp>
      <p:sp>
        <p:nvSpPr>
          <p:cNvPr id="219139" name="Content Placeholder 2">
            <a:extLst>
              <a:ext uri="{FF2B5EF4-FFF2-40B4-BE49-F238E27FC236}">
                <a16:creationId xmlns:a16="http://schemas.microsoft.com/office/drawing/2014/main" id="{7E3F1942-80A3-E418-3A74-920A1B17EB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/>
              <a:t>1. Reversible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/>
              <a:t>2. Different markers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/>
              <a:t>3. No renal involvement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4">
            <a:extLst>
              <a:ext uri="{FF2B5EF4-FFF2-40B4-BE49-F238E27FC236}">
                <a16:creationId xmlns:a16="http://schemas.microsoft.com/office/drawing/2014/main" id="{452DF9C9-4509-D6E7-341F-DEDE26DB9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2870200"/>
            <a:ext cx="6889750" cy="109061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>Section Three: Cellular Cycle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TextBox 8">
            <a:extLst>
              <a:ext uri="{FF2B5EF4-FFF2-40B4-BE49-F238E27FC236}">
                <a16:creationId xmlns:a16="http://schemas.microsoft.com/office/drawing/2014/main" id="{56C6A64C-75DC-2C56-F996-81337EB4D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9700"/>
            <a:ext cx="6858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rgbClr val="EE7444"/>
                </a:solidFill>
              </a:rPr>
              <a:t>Cellular Cycle</a:t>
            </a:r>
          </a:p>
        </p:txBody>
      </p:sp>
      <p:sp>
        <p:nvSpPr>
          <p:cNvPr id="24580" name="Text Box 28">
            <a:extLst>
              <a:ext uri="{FF2B5EF4-FFF2-40B4-BE49-F238E27FC236}">
                <a16:creationId xmlns:a16="http://schemas.microsoft.com/office/drawing/2014/main" id="{BC8FAC32-8250-EFDF-BA68-36C7D638F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037263"/>
            <a:ext cx="2895600" cy="395287"/>
          </a:xfrm>
          <a:prstGeom prst="rect">
            <a:avLst/>
          </a:prstGeom>
          <a:solidFill>
            <a:schemeClr val="bg2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alt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Figure 6.20 Cellular Cycle</a:t>
            </a:r>
          </a:p>
        </p:txBody>
      </p:sp>
      <p:pic>
        <p:nvPicPr>
          <p:cNvPr id="221188" name="Picture 2">
            <a:extLst>
              <a:ext uri="{FF2B5EF4-FFF2-40B4-BE49-F238E27FC236}">
                <a16:creationId xmlns:a16="http://schemas.microsoft.com/office/drawing/2014/main" id="{86144590-376F-F6A9-F759-1B2BA8903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8" y="1066800"/>
            <a:ext cx="5762625" cy="482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Title 1">
            <a:extLst>
              <a:ext uri="{FF2B5EF4-FFF2-40B4-BE49-F238E27FC236}">
                <a16:creationId xmlns:a16="http://schemas.microsoft.com/office/drawing/2014/main" id="{34924437-D9CA-5B54-3C93-B3B552961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Rb-gene</a:t>
            </a:r>
          </a:p>
        </p:txBody>
      </p:sp>
      <p:sp>
        <p:nvSpPr>
          <p:cNvPr id="222211" name="Content Placeholder 2">
            <a:extLst>
              <a:ext uri="{FF2B5EF4-FFF2-40B4-BE49-F238E27FC236}">
                <a16:creationId xmlns:a16="http://schemas.microsoft.com/office/drawing/2014/main" id="{1D08069A-5302-791E-D91A-2755B94988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repressor</a:t>
            </a:r>
          </a:p>
          <a:p>
            <a:r>
              <a:rPr lang="en-US" altLang="en-US"/>
              <a:t>Proofreads genes before DNA synthesis</a:t>
            </a:r>
          </a:p>
          <a:p>
            <a:r>
              <a:rPr lang="en-US" altLang="en-US"/>
              <a:t>Associated with retinoblastoma and Ewing’s osteosarcoma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Title 1">
            <a:extLst>
              <a:ext uri="{FF2B5EF4-FFF2-40B4-BE49-F238E27FC236}">
                <a16:creationId xmlns:a16="http://schemas.microsoft.com/office/drawing/2014/main" id="{A6A54AC6-B51E-375D-0CAB-87DB7B3E80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Centrioles</a:t>
            </a:r>
          </a:p>
        </p:txBody>
      </p:sp>
      <p:sp>
        <p:nvSpPr>
          <p:cNvPr id="223235" name="Subtitle 2">
            <a:extLst>
              <a:ext uri="{FF2B5EF4-FFF2-40B4-BE49-F238E27FC236}">
                <a16:creationId xmlns:a16="http://schemas.microsoft.com/office/drawing/2014/main" id="{B73F4125-8126-A65B-C13B-0AC680D46D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ONLY proteins made during the S-phase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Title 1">
            <a:extLst>
              <a:ext uri="{FF2B5EF4-FFF2-40B4-BE49-F238E27FC236}">
                <a16:creationId xmlns:a16="http://schemas.microsoft.com/office/drawing/2014/main" id="{8EBF0A2F-E704-F8F1-B277-30A0145563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Apoptosis</a:t>
            </a:r>
          </a:p>
        </p:txBody>
      </p:sp>
      <p:sp>
        <p:nvSpPr>
          <p:cNvPr id="224259" name="Content Placeholder 2">
            <a:extLst>
              <a:ext uri="{FF2B5EF4-FFF2-40B4-BE49-F238E27FC236}">
                <a16:creationId xmlns:a16="http://schemas.microsoft.com/office/drawing/2014/main" id="{763351F7-9899-9B92-240B-6CC8ADBF63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bg1"/>
                </a:solidFill>
              </a:rPr>
              <a:t>P-53</a:t>
            </a:r>
            <a:r>
              <a:rPr lang="en-US" altLang="en-US"/>
              <a:t>: The gene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D-Cyclins</a:t>
            </a:r>
            <a:r>
              <a:rPr lang="en-US" altLang="en-US"/>
              <a:t>: The proteins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Phosphatidylserine</a:t>
            </a:r>
            <a:r>
              <a:rPr lang="en-US" altLang="en-US"/>
              <a:t>: The label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Caspaces</a:t>
            </a:r>
            <a:r>
              <a:rPr lang="en-US" altLang="en-US"/>
              <a:t>: Bind the label and digest the cell</a:t>
            </a:r>
          </a:p>
          <a:p>
            <a:endParaRPr lang="en-US" altLang="en-US"/>
          </a:p>
          <a:p>
            <a:r>
              <a:rPr lang="en-US" altLang="en-US"/>
              <a:t>Ubiquitin: The label for proteins</a:t>
            </a:r>
          </a:p>
          <a:p>
            <a:r>
              <a:rPr lang="en-US" altLang="en-US"/>
              <a:t>Ubiquitin Ligase: Places the label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Title 1">
            <a:extLst>
              <a:ext uri="{FF2B5EF4-FFF2-40B4-BE49-F238E27FC236}">
                <a16:creationId xmlns:a16="http://schemas.microsoft.com/office/drawing/2014/main" id="{3ABCAB4D-D49F-CE7E-3CD5-58BBD4D4D9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Mitosis</a:t>
            </a:r>
          </a:p>
        </p:txBody>
      </p:sp>
      <p:sp>
        <p:nvSpPr>
          <p:cNvPr id="225283" name="Content Placeholder 2">
            <a:extLst>
              <a:ext uri="{FF2B5EF4-FFF2-40B4-BE49-F238E27FC236}">
                <a16:creationId xmlns:a16="http://schemas.microsoft.com/office/drawing/2014/main" id="{1E82BBBE-5908-7060-236F-CAE9D0560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Interphase</a:t>
            </a:r>
          </a:p>
          <a:p>
            <a:r>
              <a:rPr lang="en-US" altLang="en-US"/>
              <a:t>Prophase</a:t>
            </a:r>
          </a:p>
          <a:p>
            <a:r>
              <a:rPr lang="en-US" altLang="en-US"/>
              <a:t>Metaphase</a:t>
            </a:r>
          </a:p>
          <a:p>
            <a:pPr lvl="1"/>
            <a:r>
              <a:rPr lang="en-US" altLang="en-US"/>
              <a:t>Microtubules are made</a:t>
            </a:r>
          </a:p>
          <a:p>
            <a:r>
              <a:rPr lang="en-US" altLang="en-US"/>
              <a:t>Anaphase</a:t>
            </a:r>
          </a:p>
          <a:p>
            <a:pPr lvl="1"/>
            <a:r>
              <a:rPr lang="en-US" altLang="en-US"/>
              <a:t>Nondisjunction</a:t>
            </a:r>
          </a:p>
          <a:p>
            <a:r>
              <a:rPr lang="en-US" altLang="en-US"/>
              <a:t>Telophase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Title 1">
            <a:extLst>
              <a:ext uri="{FF2B5EF4-FFF2-40B4-BE49-F238E27FC236}">
                <a16:creationId xmlns:a16="http://schemas.microsoft.com/office/drawing/2014/main" id="{7C4B97FA-3243-50E3-CE97-1A481A57CF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DNA Replication</a:t>
            </a:r>
          </a:p>
        </p:txBody>
      </p:sp>
      <p:sp>
        <p:nvSpPr>
          <p:cNvPr id="226307" name="Content Placeholder 2">
            <a:extLst>
              <a:ext uri="{FF2B5EF4-FFF2-40B4-BE49-F238E27FC236}">
                <a16:creationId xmlns:a16="http://schemas.microsoft.com/office/drawing/2014/main" id="{4B372390-817D-401E-5A1C-B6A5DEA771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DNA-A Protein</a:t>
            </a:r>
          </a:p>
          <a:p>
            <a:r>
              <a:rPr lang="en-US" altLang="en-US"/>
              <a:t>SSB Proteins</a:t>
            </a:r>
          </a:p>
          <a:p>
            <a:r>
              <a:rPr lang="en-US" altLang="en-US"/>
              <a:t>Helicase</a:t>
            </a:r>
          </a:p>
          <a:p>
            <a:r>
              <a:rPr lang="en-US" altLang="en-US"/>
              <a:t>Primase</a:t>
            </a:r>
          </a:p>
          <a:p>
            <a:r>
              <a:rPr lang="en-US" altLang="en-US"/>
              <a:t>DNA Polymerase 3</a:t>
            </a:r>
          </a:p>
          <a:p>
            <a:pPr lvl="1"/>
            <a:r>
              <a:rPr lang="en-US" altLang="en-US"/>
              <a:t>5-3 Polymerase/3-5 Exonuclease</a:t>
            </a:r>
          </a:p>
          <a:p>
            <a:r>
              <a:rPr lang="en-US" altLang="en-US"/>
              <a:t>DNA Polymerase 1</a:t>
            </a:r>
          </a:p>
          <a:p>
            <a:pPr lvl="1"/>
            <a:r>
              <a:rPr lang="en-US" altLang="en-US"/>
              <a:t>5-3 Exonuclease/5-3 Polymerase/3-5 Exonuclease</a:t>
            </a:r>
          </a:p>
          <a:p>
            <a:r>
              <a:rPr lang="en-US" altLang="en-US"/>
              <a:t>DNA Ligase</a:t>
            </a:r>
          </a:p>
          <a:p>
            <a:r>
              <a:rPr lang="en-US" altLang="en-US"/>
              <a:t>Topoisomerase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TextBox 8">
            <a:extLst>
              <a:ext uri="{FF2B5EF4-FFF2-40B4-BE49-F238E27FC236}">
                <a16:creationId xmlns:a16="http://schemas.microsoft.com/office/drawing/2014/main" id="{AEA33BDD-D798-3EC8-3FAD-10702D149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9700"/>
            <a:ext cx="6858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rgbClr val="EE7444"/>
                </a:solidFill>
              </a:rPr>
              <a:t>DNA Replication</a:t>
            </a:r>
          </a:p>
        </p:txBody>
      </p:sp>
      <p:pic>
        <p:nvPicPr>
          <p:cNvPr id="227331" name="Picture 4" descr="Diagram&#10;&#10;Description automatically generated">
            <a:extLst>
              <a:ext uri="{FF2B5EF4-FFF2-40B4-BE49-F238E27FC236}">
                <a16:creationId xmlns:a16="http://schemas.microsoft.com/office/drawing/2014/main" id="{BC7B5EB6-BED8-306E-09B1-0851005DF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600200"/>
            <a:ext cx="7416800" cy="390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7332" name="TextBox 1">
            <a:extLst>
              <a:ext uri="{FF2B5EF4-FFF2-40B4-BE49-F238E27FC236}">
                <a16:creationId xmlns:a16="http://schemas.microsoft.com/office/drawing/2014/main" id="{B9BC1E9A-F4A6-BE34-C799-0C95D4BD9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486525"/>
            <a:ext cx="72390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100">
                <a:solidFill>
                  <a:schemeClr val="bg1"/>
                </a:solidFill>
              </a:rPr>
              <a:t>Image Source: https://www.news-medical.net/life-sciences/DNA-Replication-and-Repair.aspx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Title 1">
            <a:extLst>
              <a:ext uri="{FF2B5EF4-FFF2-40B4-BE49-F238E27FC236}">
                <a16:creationId xmlns:a16="http://schemas.microsoft.com/office/drawing/2014/main" id="{D3395665-6DA5-A60D-86FE-7A0EB4B4A2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What if you had fewer than 8 bases left on the 5’-3’ lagging strand ?</a:t>
            </a:r>
          </a:p>
        </p:txBody>
      </p:sp>
      <p:sp>
        <p:nvSpPr>
          <p:cNvPr id="228355" name="Content Placeholder 2">
            <a:extLst>
              <a:ext uri="{FF2B5EF4-FFF2-40B4-BE49-F238E27FC236}">
                <a16:creationId xmlns:a16="http://schemas.microsoft.com/office/drawing/2014/main" id="{1FA60146-82B4-16C5-C8FB-ED9221FC01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/>
              <a:t>Telomerases</a:t>
            </a:r>
            <a:r>
              <a:rPr lang="en-US" altLang="en-US"/>
              <a:t>: add 30 to 40 nonsense nucleotides</a:t>
            </a:r>
          </a:p>
          <a:p>
            <a:pPr lvl="1"/>
            <a:r>
              <a:rPr lang="en-US" altLang="en-US"/>
              <a:t>Remove these bases before copying is done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TextBox 8">
            <a:extLst>
              <a:ext uri="{FF2B5EF4-FFF2-40B4-BE49-F238E27FC236}">
                <a16:creationId xmlns:a16="http://schemas.microsoft.com/office/drawing/2014/main" id="{43495471-5094-F4C5-6E7A-BD89729CA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9700"/>
            <a:ext cx="6858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rgbClr val="EE7444"/>
                </a:solidFill>
              </a:rPr>
              <a:t>Transcription</a:t>
            </a:r>
          </a:p>
        </p:txBody>
      </p:sp>
      <p:sp>
        <p:nvSpPr>
          <p:cNvPr id="229379" name="TextBox 1">
            <a:extLst>
              <a:ext uri="{FF2B5EF4-FFF2-40B4-BE49-F238E27FC236}">
                <a16:creationId xmlns:a16="http://schemas.microsoft.com/office/drawing/2014/main" id="{1385F727-F0B4-9395-2E46-BCBE5847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456363"/>
            <a:ext cx="72390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100">
                <a:solidFill>
                  <a:srgbClr val="000000"/>
                </a:solidFill>
              </a:rPr>
              <a:t>https://en.wikipedia.org/wiki/Eukaryotic_transcription#/media/File:Eukaryotic_Transcription.png</a:t>
            </a:r>
            <a:endParaRPr lang="en-US" altLang="en-US" sz="1100">
              <a:solidFill>
                <a:schemeClr val="bg1"/>
              </a:solidFill>
            </a:endParaRPr>
          </a:p>
        </p:txBody>
      </p:sp>
      <p:pic>
        <p:nvPicPr>
          <p:cNvPr id="229380" name="Picture 6" descr="Diagram&#10;&#10;Description automatically generated">
            <a:extLst>
              <a:ext uri="{FF2B5EF4-FFF2-40B4-BE49-F238E27FC236}">
                <a16:creationId xmlns:a16="http://schemas.microsoft.com/office/drawing/2014/main" id="{5D6A8DD8-104B-B0E5-1A6A-AD39EA7A4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7239000" cy="535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Title 1">
            <a:extLst>
              <a:ext uri="{FF2B5EF4-FFF2-40B4-BE49-F238E27FC236}">
                <a16:creationId xmlns:a16="http://schemas.microsoft.com/office/drawing/2014/main" id="{D9995E0E-A0B3-2A05-21F8-DF76857A0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Genomic Library</a:t>
            </a:r>
          </a:p>
        </p:txBody>
      </p:sp>
      <p:pic>
        <p:nvPicPr>
          <p:cNvPr id="231427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84179528-22E0-6EBC-B230-D5DDB8C6E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2057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1428" name="TextBox 8">
            <a:extLst>
              <a:ext uri="{FF2B5EF4-FFF2-40B4-BE49-F238E27FC236}">
                <a16:creationId xmlns:a16="http://schemas.microsoft.com/office/drawing/2014/main" id="{53997087-7306-3063-8C38-6B4619B13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100" y="6516688"/>
            <a:ext cx="5257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100"/>
              <a:t>Image Source: https://www.youtube.com/watch?v=SnmMhYnINj0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Title 1">
            <a:extLst>
              <a:ext uri="{FF2B5EF4-FFF2-40B4-BE49-F238E27FC236}">
                <a16:creationId xmlns:a16="http://schemas.microsoft.com/office/drawing/2014/main" id="{4E3C905F-7A75-1E6A-E784-C9BBDB2F48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Zinc Fingers</a:t>
            </a:r>
          </a:p>
        </p:txBody>
      </p:sp>
      <p:pic>
        <p:nvPicPr>
          <p:cNvPr id="232451" name="Picture 2">
            <a:extLst>
              <a:ext uri="{FF2B5EF4-FFF2-40B4-BE49-F238E27FC236}">
                <a16:creationId xmlns:a16="http://schemas.microsoft.com/office/drawing/2014/main" id="{08E2EB94-97B7-6693-4E8D-F283307B8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743200"/>
            <a:ext cx="28575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2452" name="TextBox 4">
            <a:extLst>
              <a:ext uri="{FF2B5EF4-FFF2-40B4-BE49-F238E27FC236}">
                <a16:creationId xmlns:a16="http://schemas.microsoft.com/office/drawing/2014/main" id="{41429743-C359-E95A-A8C3-2FD28887F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319838"/>
            <a:ext cx="5715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100"/>
              <a:t>Image Source: https://en.wikipedia.org/wiki/Zinc_finger#/media/File:Zinc_finger_DNA_complex.png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Title 1">
            <a:extLst>
              <a:ext uri="{FF2B5EF4-FFF2-40B4-BE49-F238E27FC236}">
                <a16:creationId xmlns:a16="http://schemas.microsoft.com/office/drawing/2014/main" id="{C3CD517C-B150-09E8-47BD-20286D1B9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RNA Polymerase</a:t>
            </a:r>
          </a:p>
        </p:txBody>
      </p:sp>
      <p:sp>
        <p:nvSpPr>
          <p:cNvPr id="233475" name="Content Placeholder 2">
            <a:extLst>
              <a:ext uri="{FF2B5EF4-FFF2-40B4-BE49-F238E27FC236}">
                <a16:creationId xmlns:a16="http://schemas.microsoft.com/office/drawing/2014/main" id="{3122606A-3469-0C93-91CD-CBF3800BD9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Alpha, beta, beta prime: Core enzyme</a:t>
            </a:r>
          </a:p>
          <a:p>
            <a:r>
              <a:rPr lang="en-US" altLang="en-US"/>
              <a:t>ADD Sigma factor, rho factor: Holoenzyme</a:t>
            </a:r>
          </a:p>
          <a:p>
            <a:endParaRPr lang="en-US" altLang="en-US"/>
          </a:p>
          <a:p>
            <a:r>
              <a:rPr lang="en-US" altLang="en-US"/>
              <a:t>Rifampin</a:t>
            </a:r>
          </a:p>
          <a:p>
            <a:r>
              <a:rPr lang="en-US" altLang="en-US"/>
              <a:t>Fidaxomicin</a:t>
            </a:r>
          </a:p>
          <a:p>
            <a:r>
              <a:rPr lang="en-US" altLang="en-US"/>
              <a:t>Anti rho antibody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TextBox 8">
            <a:extLst>
              <a:ext uri="{FF2B5EF4-FFF2-40B4-BE49-F238E27FC236}">
                <a16:creationId xmlns:a16="http://schemas.microsoft.com/office/drawing/2014/main" id="{D0162313-B5DD-1EB8-C2B3-5858C0714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9700"/>
            <a:ext cx="6858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rgbClr val="EE7444"/>
                </a:solidFill>
              </a:rPr>
              <a:t>Transcription</a:t>
            </a:r>
          </a:p>
        </p:txBody>
      </p:sp>
      <p:sp>
        <p:nvSpPr>
          <p:cNvPr id="234499" name="TextBox 1">
            <a:extLst>
              <a:ext uri="{FF2B5EF4-FFF2-40B4-BE49-F238E27FC236}">
                <a16:creationId xmlns:a16="http://schemas.microsoft.com/office/drawing/2014/main" id="{3AD72207-34E9-7DDC-867A-9D7FD12DF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526213"/>
            <a:ext cx="6248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100">
                <a:solidFill>
                  <a:srgbClr val="000000"/>
                </a:solidFill>
              </a:rPr>
              <a:t>Image Source: https://www.news-medical.net/life-sciences/DNA-Replication-and-Repair.aspx</a:t>
            </a:r>
            <a:endParaRPr lang="en-US" altLang="en-US" sz="1100">
              <a:solidFill>
                <a:schemeClr val="bg1"/>
              </a:solidFill>
            </a:endParaRPr>
          </a:p>
        </p:txBody>
      </p:sp>
      <p:pic>
        <p:nvPicPr>
          <p:cNvPr id="234500" name="Picture 3" descr="Diagram&#10;&#10;Description automatically generated">
            <a:extLst>
              <a:ext uri="{FF2B5EF4-FFF2-40B4-BE49-F238E27FC236}">
                <a16:creationId xmlns:a16="http://schemas.microsoft.com/office/drawing/2014/main" id="{94C7468D-1CB8-BB96-A8F3-026DB374C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788" y="725488"/>
            <a:ext cx="4416425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Title 1">
            <a:extLst>
              <a:ext uri="{FF2B5EF4-FFF2-40B4-BE49-F238E27FC236}">
                <a16:creationId xmlns:a16="http://schemas.microsoft.com/office/drawing/2014/main" id="{AB0DF3EC-F25A-6F29-347F-E15E46BAE8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Transcription Initiation</a:t>
            </a:r>
          </a:p>
        </p:txBody>
      </p:sp>
      <p:sp>
        <p:nvSpPr>
          <p:cNvPr id="236547" name="Content Placeholder 2">
            <a:extLst>
              <a:ext uri="{FF2B5EF4-FFF2-40B4-BE49-F238E27FC236}">
                <a16:creationId xmlns:a16="http://schemas.microsoft.com/office/drawing/2014/main" id="{5518B428-F0DB-48F5-14B5-F2C4F183C5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bg1"/>
                </a:solidFill>
              </a:rPr>
              <a:t>Minus 35 sequence</a:t>
            </a:r>
          </a:p>
          <a:p>
            <a:pPr lvl="1"/>
            <a:r>
              <a:rPr lang="en-US" altLang="en-US"/>
              <a:t>Recognized by the core enzyme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Minus 10 sequence</a:t>
            </a:r>
          </a:p>
          <a:p>
            <a:pPr lvl="1"/>
            <a:r>
              <a:rPr lang="en-US" altLang="en-US"/>
              <a:t>Recognized by the sigma factor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Title 1">
            <a:extLst>
              <a:ext uri="{FF2B5EF4-FFF2-40B4-BE49-F238E27FC236}">
                <a16:creationId xmlns:a16="http://schemas.microsoft.com/office/drawing/2014/main" id="{694A3CA7-980D-F92A-0F6C-E45993477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Transcription Process</a:t>
            </a:r>
          </a:p>
        </p:txBody>
      </p:sp>
      <p:sp>
        <p:nvSpPr>
          <p:cNvPr id="237571" name="Content Placeholder 2">
            <a:extLst>
              <a:ext uri="{FF2B5EF4-FFF2-40B4-BE49-F238E27FC236}">
                <a16:creationId xmlns:a16="http://schemas.microsoft.com/office/drawing/2014/main" id="{A5328D45-A0EB-AAC7-1A45-5642908933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NOT continuous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Exons</a:t>
            </a:r>
            <a:r>
              <a:rPr lang="en-US" altLang="en-US"/>
              <a:t>: will be expressed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Introns</a:t>
            </a:r>
            <a:r>
              <a:rPr lang="en-US" altLang="en-US"/>
              <a:t>: intervening sequences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Title 1">
            <a:extLst>
              <a:ext uri="{FF2B5EF4-FFF2-40B4-BE49-F238E27FC236}">
                <a16:creationId xmlns:a16="http://schemas.microsoft.com/office/drawing/2014/main" id="{6EC5784D-2531-C01E-9B4D-4760AC025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Transcriptional Termination</a:t>
            </a:r>
          </a:p>
        </p:txBody>
      </p:sp>
      <p:sp>
        <p:nvSpPr>
          <p:cNvPr id="238595" name="Content Placeholder 2">
            <a:extLst>
              <a:ext uri="{FF2B5EF4-FFF2-40B4-BE49-F238E27FC236}">
                <a16:creationId xmlns:a16="http://schemas.microsoft.com/office/drawing/2014/main" id="{74524213-2B78-7481-B24F-518C6A2664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Palindrome: termination sequence</a:t>
            </a:r>
          </a:p>
          <a:p>
            <a:pPr lvl="1"/>
            <a:r>
              <a:rPr lang="en-US" altLang="en-US"/>
              <a:t>RACECAR</a:t>
            </a:r>
          </a:p>
          <a:p>
            <a:r>
              <a:rPr lang="en-US" altLang="en-US"/>
              <a:t>Rho-dependent transcriptional termination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itle 1">
            <a:extLst>
              <a:ext uri="{FF2B5EF4-FFF2-40B4-BE49-F238E27FC236}">
                <a16:creationId xmlns:a16="http://schemas.microsoft.com/office/drawing/2014/main" id="{FCAFBCA4-43DE-84B8-4EDE-09DF9B675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latin typeface="+mn-lt"/>
              </a:rPr>
              <a:t>Post-Transcriptional Modification</a:t>
            </a:r>
          </a:p>
        </p:txBody>
      </p:sp>
      <p:sp>
        <p:nvSpPr>
          <p:cNvPr id="239619" name="Content Placeholder 2">
            <a:extLst>
              <a:ext uri="{FF2B5EF4-FFF2-40B4-BE49-F238E27FC236}">
                <a16:creationId xmlns:a16="http://schemas.microsoft.com/office/drawing/2014/main" id="{FF013E88-7B41-DE02-64D0-EA1EA78D57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bg1"/>
                </a:solidFill>
              </a:rPr>
              <a:t>SnRNPs</a:t>
            </a:r>
          </a:p>
          <a:p>
            <a:pPr lvl="1"/>
            <a:r>
              <a:rPr lang="en-US" altLang="en-US"/>
              <a:t>Splice off introns</a:t>
            </a:r>
          </a:p>
          <a:p>
            <a:pPr lvl="1"/>
            <a:r>
              <a:rPr lang="en-US" altLang="en-US"/>
              <a:t>Bring exons together: gene now continuous</a:t>
            </a:r>
          </a:p>
          <a:p>
            <a:pPr lvl="1"/>
            <a:r>
              <a:rPr lang="en-US" altLang="en-US"/>
              <a:t>Add poly A tail to 3’-end</a:t>
            </a:r>
          </a:p>
          <a:p>
            <a:pPr lvl="1"/>
            <a:r>
              <a:rPr lang="en-US" altLang="en-US"/>
              <a:t>Add Guanosine to 5’-end: </a:t>
            </a:r>
            <a:r>
              <a:rPr lang="en-US" altLang="en-US" b="1">
                <a:solidFill>
                  <a:schemeClr val="bg1"/>
                </a:solidFill>
              </a:rPr>
              <a:t>capping</a:t>
            </a:r>
          </a:p>
          <a:p>
            <a:pPr lvl="1"/>
            <a:r>
              <a:rPr lang="en-US" altLang="en-US"/>
              <a:t>Move unit to cytoplasm</a:t>
            </a:r>
          </a:p>
          <a:p>
            <a:pPr lvl="1"/>
            <a:r>
              <a:rPr lang="en-US" altLang="en-US" b="1">
                <a:solidFill>
                  <a:schemeClr val="bg1"/>
                </a:solidFill>
              </a:rPr>
              <a:t>P-bodies</a:t>
            </a:r>
            <a:r>
              <a:rPr lang="en-US" altLang="en-US"/>
              <a:t> grab unit</a:t>
            </a:r>
          </a:p>
          <a:p>
            <a:pPr lvl="1"/>
            <a:r>
              <a:rPr lang="en-US" altLang="en-US"/>
              <a:t>A methyl group is added to C-7 of guanosine</a:t>
            </a:r>
          </a:p>
          <a:p>
            <a:pPr lvl="1"/>
            <a:r>
              <a:rPr lang="en-US" altLang="en-US"/>
              <a:t>mRNA now attaches to 30s ribosome</a:t>
            </a:r>
          </a:p>
          <a:p>
            <a:pPr lvl="1"/>
            <a:r>
              <a:rPr lang="en-US" altLang="en-US"/>
              <a:t>Anti-RNP antibody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Title 1">
            <a:extLst>
              <a:ext uri="{FF2B5EF4-FFF2-40B4-BE49-F238E27FC236}">
                <a16:creationId xmlns:a16="http://schemas.microsoft.com/office/drawing/2014/main" id="{8B26BA76-2B1D-EB29-5BD1-DBCE293AEF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Lessons from the Lac Operon</a:t>
            </a:r>
          </a:p>
        </p:txBody>
      </p:sp>
      <p:sp>
        <p:nvSpPr>
          <p:cNvPr id="240643" name="Content Placeholder 2">
            <a:extLst>
              <a:ext uri="{FF2B5EF4-FFF2-40B4-BE49-F238E27FC236}">
                <a16:creationId xmlns:a16="http://schemas.microsoft.com/office/drawing/2014/main" id="{DB85ABFF-D174-E86C-8826-ABB46DB2EE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bg1"/>
                </a:solidFill>
              </a:rPr>
              <a:t>Repressor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Enhancer</a:t>
            </a:r>
          </a:p>
          <a:p>
            <a:r>
              <a:rPr lang="en-US" altLang="en-US"/>
              <a:t>Gain of function enhancer mutations:</a:t>
            </a:r>
          </a:p>
          <a:p>
            <a:pPr lvl="1"/>
            <a:r>
              <a:rPr lang="en-US" altLang="en-US"/>
              <a:t>BCL-2</a:t>
            </a:r>
          </a:p>
          <a:p>
            <a:pPr lvl="1"/>
            <a:r>
              <a:rPr lang="en-US" altLang="en-US"/>
              <a:t>KRAS</a:t>
            </a:r>
          </a:p>
          <a:p>
            <a:pPr lvl="1"/>
            <a:r>
              <a:rPr lang="en-US" altLang="en-US"/>
              <a:t>Jun</a:t>
            </a:r>
          </a:p>
          <a:p>
            <a:r>
              <a:rPr lang="en-US" altLang="en-US"/>
              <a:t>Loss of function repressor mutation</a:t>
            </a:r>
          </a:p>
          <a:p>
            <a:pPr lvl="1"/>
            <a:r>
              <a:rPr lang="en-US" altLang="en-US"/>
              <a:t>Any cancer that occurs from birth to 21y/o</a:t>
            </a:r>
          </a:p>
          <a:p>
            <a:r>
              <a:rPr lang="en-US" altLang="en-US"/>
              <a:t>Initiator and Promoter mutations: 2 hit theory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TextBox 8">
            <a:extLst>
              <a:ext uri="{FF2B5EF4-FFF2-40B4-BE49-F238E27FC236}">
                <a16:creationId xmlns:a16="http://schemas.microsoft.com/office/drawing/2014/main" id="{547DBD90-0134-5EE7-96A7-DE6775737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9700"/>
            <a:ext cx="6858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rgbClr val="EE7444"/>
                </a:solidFill>
              </a:rPr>
              <a:t>Transcription vs. Translation</a:t>
            </a:r>
          </a:p>
        </p:txBody>
      </p:sp>
      <p:sp>
        <p:nvSpPr>
          <p:cNvPr id="241667" name="TextBox 1">
            <a:extLst>
              <a:ext uri="{FF2B5EF4-FFF2-40B4-BE49-F238E27FC236}">
                <a16:creationId xmlns:a16="http://schemas.microsoft.com/office/drawing/2014/main" id="{88478E37-413E-2DAD-920E-9A197B828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486525"/>
            <a:ext cx="72390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100">
                <a:solidFill>
                  <a:srgbClr val="000000"/>
                </a:solidFill>
              </a:rPr>
              <a:t>Image Source: https://www.news-medical.net/life-sciences/DNA-Replication-and-Repair.aspx</a:t>
            </a:r>
          </a:p>
        </p:txBody>
      </p:sp>
      <p:pic>
        <p:nvPicPr>
          <p:cNvPr id="241668" name="Picture 3" descr="Diagram&#10;&#10;Description automatically generated">
            <a:extLst>
              <a:ext uri="{FF2B5EF4-FFF2-40B4-BE49-F238E27FC236}">
                <a16:creationId xmlns:a16="http://schemas.microsoft.com/office/drawing/2014/main" id="{6B5F5CFF-525A-DA6C-DB4E-A65CDEC66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63" y="1435100"/>
            <a:ext cx="6746875" cy="379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TextBox 8">
            <a:extLst>
              <a:ext uri="{FF2B5EF4-FFF2-40B4-BE49-F238E27FC236}">
                <a16:creationId xmlns:a16="http://schemas.microsoft.com/office/drawing/2014/main" id="{8841AE18-17DE-F8AD-E8D5-D9C59FB1B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39700"/>
            <a:ext cx="6858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>
                <a:solidFill>
                  <a:srgbClr val="EE7444"/>
                </a:solidFill>
              </a:rPr>
              <a:t>Translation</a:t>
            </a:r>
          </a:p>
        </p:txBody>
      </p:sp>
      <p:sp>
        <p:nvSpPr>
          <p:cNvPr id="242691" name="TextBox 1">
            <a:extLst>
              <a:ext uri="{FF2B5EF4-FFF2-40B4-BE49-F238E27FC236}">
                <a16:creationId xmlns:a16="http://schemas.microsoft.com/office/drawing/2014/main" id="{FCC78391-3B11-1AB3-C781-5436209C9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6588125"/>
            <a:ext cx="77724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100">
                <a:solidFill>
                  <a:srgbClr val="000000"/>
                </a:solidFill>
              </a:rPr>
              <a:t>Image Source: https://en.wikipedia.org/wiki/Translation_(biology)#/media/File:Ribosome_mRNA_translation_en.svg</a:t>
            </a:r>
          </a:p>
        </p:txBody>
      </p:sp>
      <p:pic>
        <p:nvPicPr>
          <p:cNvPr id="242692" name="Picture 4" descr="Diagram&#10;&#10;Description automatically generated">
            <a:extLst>
              <a:ext uri="{FF2B5EF4-FFF2-40B4-BE49-F238E27FC236}">
                <a16:creationId xmlns:a16="http://schemas.microsoft.com/office/drawing/2014/main" id="{35965C8B-856B-38A4-30C1-FCD3B95A0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181100"/>
            <a:ext cx="6858000" cy="483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Title 1">
            <a:extLst>
              <a:ext uri="{FF2B5EF4-FFF2-40B4-BE49-F238E27FC236}">
                <a16:creationId xmlns:a16="http://schemas.microsoft.com/office/drawing/2014/main" id="{FF2C5F48-C2E6-1C9A-1C98-F5D3AFCB8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Players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Title 1">
            <a:extLst>
              <a:ext uri="{FF2B5EF4-FFF2-40B4-BE49-F238E27FC236}">
                <a16:creationId xmlns:a16="http://schemas.microsoft.com/office/drawing/2014/main" id="{3EA3A18D-4E16-D112-8383-ECE32BFCC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RNA</a:t>
            </a:r>
          </a:p>
        </p:txBody>
      </p:sp>
      <p:sp>
        <p:nvSpPr>
          <p:cNvPr id="244739" name="Content Placeholder 2">
            <a:extLst>
              <a:ext uri="{FF2B5EF4-FFF2-40B4-BE49-F238E27FC236}">
                <a16:creationId xmlns:a16="http://schemas.microsoft.com/office/drawing/2014/main" id="{745E0468-2B3F-8A4E-A981-7F8CE2CE76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/>
              <a:t>rRNA</a:t>
            </a:r>
            <a:r>
              <a:rPr lang="en-US" altLang="en-US"/>
              <a:t> – from nucleolus; most abundant         	RNA polymerase 1 replicates it</a:t>
            </a:r>
          </a:p>
          <a:p>
            <a:r>
              <a:rPr lang="en-US" altLang="en-US" b="1"/>
              <a:t>mRNA</a:t>
            </a:r>
            <a:r>
              <a:rPr lang="en-US" altLang="en-US"/>
              <a:t> – </a:t>
            </a:r>
          </a:p>
          <a:p>
            <a:pPr lvl="1"/>
            <a:r>
              <a:rPr lang="en-US" altLang="en-US"/>
              <a:t>RNA polymerase 2 replicates it</a:t>
            </a:r>
          </a:p>
          <a:p>
            <a:r>
              <a:rPr lang="en-US" altLang="en-US" b="1"/>
              <a:t>tRNA</a:t>
            </a:r>
            <a:r>
              <a:rPr lang="en-US" altLang="en-US"/>
              <a:t> and </a:t>
            </a:r>
            <a:r>
              <a:rPr lang="en-US" altLang="en-US" b="1"/>
              <a:t>SnRNPs</a:t>
            </a:r>
          </a:p>
          <a:p>
            <a:pPr lvl="1"/>
            <a:r>
              <a:rPr lang="en-US" altLang="en-US"/>
              <a:t>RNA polymerase 3 replicates it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Title 1">
            <a:extLst>
              <a:ext uri="{FF2B5EF4-FFF2-40B4-BE49-F238E27FC236}">
                <a16:creationId xmlns:a16="http://schemas.microsoft.com/office/drawing/2014/main" id="{CB918ED8-E4EE-4832-864E-EB8EF0566D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tRNA</a:t>
            </a:r>
          </a:p>
        </p:txBody>
      </p:sp>
      <p:sp>
        <p:nvSpPr>
          <p:cNvPr id="245763" name="Content Placeholder 2">
            <a:extLst>
              <a:ext uri="{FF2B5EF4-FFF2-40B4-BE49-F238E27FC236}">
                <a16:creationId xmlns:a16="http://schemas.microsoft.com/office/drawing/2014/main" id="{20DBE684-CC6F-E996-59D0-DDB312E36F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64 different ones</a:t>
            </a:r>
          </a:p>
          <a:p>
            <a:r>
              <a:rPr lang="en-US" altLang="en-US"/>
              <a:t>Start codon: AUG</a:t>
            </a:r>
          </a:p>
          <a:p>
            <a:r>
              <a:rPr lang="en-US" altLang="en-US"/>
              <a:t>Stop codons: UAA, UAG, UGA</a:t>
            </a:r>
          </a:p>
          <a:p>
            <a:r>
              <a:rPr lang="en-US" altLang="en-US"/>
              <a:t>60 codons left for 20 amino acids</a:t>
            </a:r>
          </a:p>
          <a:p>
            <a:r>
              <a:rPr lang="en-US" altLang="en-US"/>
              <a:t>CCA : on 3’-end</a:t>
            </a:r>
          </a:p>
          <a:p>
            <a:pPr lvl="1"/>
            <a:r>
              <a:rPr lang="en-US" altLang="en-US"/>
              <a:t>Amino acid attached to the A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Title 1">
            <a:extLst>
              <a:ext uri="{FF2B5EF4-FFF2-40B4-BE49-F238E27FC236}">
                <a16:creationId xmlns:a16="http://schemas.microsoft.com/office/drawing/2014/main" id="{415D6FBC-0B0F-0B5D-08D9-128C24B6F6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30s Ribosome</a:t>
            </a:r>
          </a:p>
        </p:txBody>
      </p:sp>
      <p:sp>
        <p:nvSpPr>
          <p:cNvPr id="246787" name="Content Placeholder 2">
            <a:extLst>
              <a:ext uri="{FF2B5EF4-FFF2-40B4-BE49-F238E27FC236}">
                <a16:creationId xmlns:a16="http://schemas.microsoft.com/office/drawing/2014/main" id="{FF8E434A-5417-4F82-CB64-8E576C523A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Shine-Dalgarno sequence: where mRNA binds</a:t>
            </a:r>
          </a:p>
          <a:p>
            <a:r>
              <a:rPr lang="en-US" altLang="en-US"/>
              <a:t>Initiation factors: IF-1,</a:t>
            </a:r>
            <a:r>
              <a:rPr lang="en-US" altLang="en-US" b="1"/>
              <a:t> IF-2</a:t>
            </a:r>
            <a:r>
              <a:rPr lang="en-US" altLang="en-US"/>
              <a:t>, IF-3</a:t>
            </a:r>
          </a:p>
          <a:p>
            <a:pPr lvl="1"/>
            <a:r>
              <a:rPr lang="en-US" altLang="en-US"/>
              <a:t>Aminoglycosides: block initiation factor</a:t>
            </a:r>
          </a:p>
          <a:p>
            <a:pPr lvl="1"/>
            <a:r>
              <a:rPr lang="en-US" altLang="en-US"/>
              <a:t>Tetracyclines: block tRNA from binding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Title 1">
            <a:extLst>
              <a:ext uri="{FF2B5EF4-FFF2-40B4-BE49-F238E27FC236}">
                <a16:creationId xmlns:a16="http://schemas.microsoft.com/office/drawing/2014/main" id="{68FF924E-7FEB-23C3-356B-30F3E84AB0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A-Site</a:t>
            </a:r>
          </a:p>
        </p:txBody>
      </p:sp>
      <p:sp>
        <p:nvSpPr>
          <p:cNvPr id="247811" name="Subtitle 2">
            <a:extLst>
              <a:ext uri="{FF2B5EF4-FFF2-40B4-BE49-F238E27FC236}">
                <a16:creationId xmlns:a16="http://schemas.microsoft.com/office/drawing/2014/main" id="{C213B838-B0D2-4512-0D08-3C9D46B69C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Amino acid is dropped off here</a:t>
            </a:r>
          </a:p>
          <a:p>
            <a:r>
              <a:rPr lang="en-US" altLang="en-US"/>
              <a:t>Puromycin: blocks this site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Title 1">
            <a:extLst>
              <a:ext uri="{FF2B5EF4-FFF2-40B4-BE49-F238E27FC236}">
                <a16:creationId xmlns:a16="http://schemas.microsoft.com/office/drawing/2014/main" id="{A82D28DC-E60D-B828-1441-AEAC411382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P-Site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5B5F6-3869-9E0F-CD9A-8B10BB4C4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+mj-lt"/>
              </a:rPr>
              <a:t>Where the peptide bond is made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Title 1">
            <a:extLst>
              <a:ext uri="{FF2B5EF4-FFF2-40B4-BE49-F238E27FC236}">
                <a16:creationId xmlns:a16="http://schemas.microsoft.com/office/drawing/2014/main" id="{9745E658-1FBC-E46B-432C-FDF5BC2E8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Start Codon</a:t>
            </a:r>
          </a:p>
        </p:txBody>
      </p:sp>
      <p:sp>
        <p:nvSpPr>
          <p:cNvPr id="249859" name="Subtitle 2">
            <a:extLst>
              <a:ext uri="{FF2B5EF4-FFF2-40B4-BE49-F238E27FC236}">
                <a16:creationId xmlns:a16="http://schemas.microsoft.com/office/drawing/2014/main" id="{E4EF906F-0522-43FB-BB41-5C459146CB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Methionine is dropped off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Title 1">
            <a:extLst>
              <a:ext uri="{FF2B5EF4-FFF2-40B4-BE49-F238E27FC236}">
                <a16:creationId xmlns:a16="http://schemas.microsoft.com/office/drawing/2014/main" id="{BC5F8404-5E56-7732-BFEE-D0460212F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50s Ribosome</a:t>
            </a:r>
          </a:p>
        </p:txBody>
      </p:sp>
      <p:sp>
        <p:nvSpPr>
          <p:cNvPr id="250883" name="Content Placeholder 2">
            <a:extLst>
              <a:ext uri="{FF2B5EF4-FFF2-40B4-BE49-F238E27FC236}">
                <a16:creationId xmlns:a16="http://schemas.microsoft.com/office/drawing/2014/main" id="{86332C85-0BD3-A986-6F73-02B1E86ED5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Elongation factor: EF-1,</a:t>
            </a:r>
            <a:r>
              <a:rPr lang="en-US" altLang="en-US" b="1"/>
              <a:t> EF-2</a:t>
            </a:r>
            <a:r>
              <a:rPr lang="en-US" altLang="en-US"/>
              <a:t>, EF-3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Title 1">
            <a:extLst>
              <a:ext uri="{FF2B5EF4-FFF2-40B4-BE49-F238E27FC236}">
                <a16:creationId xmlns:a16="http://schemas.microsoft.com/office/drawing/2014/main" id="{A6223BCF-9222-FC9E-20B8-9760E547E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EF-2</a:t>
            </a:r>
          </a:p>
        </p:txBody>
      </p:sp>
      <p:sp>
        <p:nvSpPr>
          <p:cNvPr id="251907" name="Content Placeholder 2">
            <a:extLst>
              <a:ext uri="{FF2B5EF4-FFF2-40B4-BE49-F238E27FC236}">
                <a16:creationId xmlns:a16="http://schemas.microsoft.com/office/drawing/2014/main" id="{64CA7024-BAAD-0EE2-7586-030FD75684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Reads codon</a:t>
            </a:r>
          </a:p>
          <a:p>
            <a:r>
              <a:rPr lang="en-US" altLang="en-US"/>
              <a:t>Finds the correct tRNA with amino acid </a:t>
            </a:r>
          </a:p>
          <a:p>
            <a:r>
              <a:rPr lang="en-US" altLang="en-US"/>
              <a:t>Brings correct tRNA to A-site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Title 1">
            <a:extLst>
              <a:ext uri="{FF2B5EF4-FFF2-40B4-BE49-F238E27FC236}">
                <a16:creationId xmlns:a16="http://schemas.microsoft.com/office/drawing/2014/main" id="{DF905758-A6A6-CAD0-30FE-17D2FE5B6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Inactivates EF-2</a:t>
            </a:r>
          </a:p>
        </p:txBody>
      </p:sp>
      <p:sp>
        <p:nvSpPr>
          <p:cNvPr id="252931" name="Content Placeholder 2">
            <a:extLst>
              <a:ext uri="{FF2B5EF4-FFF2-40B4-BE49-F238E27FC236}">
                <a16:creationId xmlns:a16="http://schemas.microsoft.com/office/drawing/2014/main" id="{F8494753-44AF-160D-3D1D-F564403714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Corynebacterium Diphtheria</a:t>
            </a:r>
          </a:p>
          <a:p>
            <a:r>
              <a:rPr lang="en-US" altLang="en-US"/>
              <a:t>Pseudomonas Aeruginosa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Title 1">
            <a:extLst>
              <a:ext uri="{FF2B5EF4-FFF2-40B4-BE49-F238E27FC236}">
                <a16:creationId xmlns:a16="http://schemas.microsoft.com/office/drawing/2014/main" id="{CEAA03E8-B59A-4C00-D33C-388455FE7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Process</a:t>
            </a:r>
          </a:p>
        </p:txBody>
      </p:sp>
      <p:sp>
        <p:nvSpPr>
          <p:cNvPr id="253955" name="Content Placeholder 2">
            <a:extLst>
              <a:ext uri="{FF2B5EF4-FFF2-40B4-BE49-F238E27FC236}">
                <a16:creationId xmlns:a16="http://schemas.microsoft.com/office/drawing/2014/main" id="{CB0D901E-0701-61AB-0F6F-7F4E824E7B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/>
              <a:t>EF-2</a:t>
            </a:r>
            <a:r>
              <a:rPr lang="en-US" altLang="en-US"/>
              <a:t> drops off amino acid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Peptidyl transferase</a:t>
            </a:r>
            <a:r>
              <a:rPr lang="en-US" altLang="en-US" b="1"/>
              <a:t> </a:t>
            </a:r>
            <a:r>
              <a:rPr lang="en-US" altLang="en-US"/>
              <a:t>makes peptide bond with last amino acid</a:t>
            </a:r>
          </a:p>
          <a:p>
            <a:pPr lvl="1"/>
            <a:r>
              <a:rPr lang="en-US" altLang="en-US"/>
              <a:t>chloramphenicol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Translocase</a:t>
            </a:r>
            <a:r>
              <a:rPr lang="en-US" altLang="en-US"/>
              <a:t> moves three bases to next codon</a:t>
            </a:r>
          </a:p>
          <a:p>
            <a:pPr lvl="1"/>
            <a:r>
              <a:rPr lang="en-US" altLang="en-US"/>
              <a:t>Clindamycin/Lincomycin</a:t>
            </a:r>
          </a:p>
          <a:p>
            <a:pPr lvl="1"/>
            <a:r>
              <a:rPr lang="en-US" altLang="en-US"/>
              <a:t>Macrolides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Title 1">
            <a:extLst>
              <a:ext uri="{FF2B5EF4-FFF2-40B4-BE49-F238E27FC236}">
                <a16:creationId xmlns:a16="http://schemas.microsoft.com/office/drawing/2014/main" id="{F78B9E20-DF16-5DFB-EC82-604EEE9A6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Cost</a:t>
            </a:r>
          </a:p>
        </p:txBody>
      </p:sp>
      <p:sp>
        <p:nvSpPr>
          <p:cNvPr id="254979" name="Content Placeholder 2">
            <a:extLst>
              <a:ext uri="{FF2B5EF4-FFF2-40B4-BE49-F238E27FC236}">
                <a16:creationId xmlns:a16="http://schemas.microsoft.com/office/drawing/2014/main" id="{737B1C7B-96E9-791C-5F38-EC70FD66A3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Activation: 2 GTP attaching amino acid to tRNA</a:t>
            </a:r>
          </a:p>
          <a:p>
            <a:r>
              <a:rPr lang="en-US" altLang="en-US"/>
              <a:t>EF-2 transports tRNA over to mRNA: 1 GTP</a:t>
            </a:r>
          </a:p>
          <a:p>
            <a:r>
              <a:rPr lang="en-US" altLang="en-US"/>
              <a:t>Translocation: 1 GTP</a:t>
            </a:r>
          </a:p>
          <a:p>
            <a:r>
              <a:rPr lang="en-US" altLang="en-US"/>
              <a:t>Total energy needs: 4 GTP/amino acid added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1CFBB648-9E4E-D358-F202-DD84453F75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52475"/>
            <a:ext cx="6888163" cy="10810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Differences</a:t>
            </a:r>
          </a:p>
        </p:txBody>
      </p:sp>
      <p:sp>
        <p:nvSpPr>
          <p:cNvPr id="256003" name="Rectangle 4">
            <a:extLst>
              <a:ext uri="{FF2B5EF4-FFF2-40B4-BE49-F238E27FC236}">
                <a16:creationId xmlns:a16="http://schemas.microsoft.com/office/drawing/2014/main" id="{9D926B39-1E09-7B25-3217-E481C0C22E0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33400" y="2286000"/>
            <a:ext cx="4705350" cy="3598863"/>
          </a:xfrm>
        </p:spPr>
        <p:txBody>
          <a:bodyPr/>
          <a:lstStyle/>
          <a:p>
            <a:pPr eaLnBrk="1" hangingPunct="1"/>
            <a:r>
              <a:rPr lang="en-US" altLang="en-US"/>
              <a:t>DNA Replication</a:t>
            </a:r>
          </a:p>
          <a:p>
            <a:pPr lvl="1" eaLnBrk="1" hangingPunct="1"/>
            <a:r>
              <a:rPr lang="en-US" altLang="en-US"/>
              <a:t>DNA POL alpha (Primase)</a:t>
            </a:r>
          </a:p>
          <a:p>
            <a:pPr lvl="1" eaLnBrk="1" hangingPunct="1"/>
            <a:r>
              <a:rPr lang="en-US" altLang="en-US"/>
              <a:t>DNA POL beta (DNA pol 1)</a:t>
            </a:r>
          </a:p>
          <a:p>
            <a:pPr lvl="1" eaLnBrk="1" hangingPunct="1"/>
            <a:r>
              <a:rPr lang="en-US" altLang="en-US"/>
              <a:t>DNA POL gamma (Mitochondrial DNA)</a:t>
            </a:r>
          </a:p>
          <a:p>
            <a:pPr lvl="1" eaLnBrk="1" hangingPunct="1"/>
            <a:r>
              <a:rPr lang="en-US" altLang="en-US"/>
              <a:t>DNA POL delta (Leading strand)</a:t>
            </a:r>
          </a:p>
          <a:p>
            <a:pPr lvl="1" eaLnBrk="1" hangingPunct="1"/>
            <a:r>
              <a:rPr lang="en-US" altLang="en-US"/>
              <a:t>DNA POL epsilon (Lagging strand)</a:t>
            </a:r>
          </a:p>
          <a:p>
            <a:pPr lvl="1" eaLnBrk="1" hangingPunct="1"/>
            <a:r>
              <a:rPr lang="en-US" altLang="en-US"/>
              <a:t>Replication forks</a:t>
            </a:r>
          </a:p>
          <a:p>
            <a:pPr eaLnBrk="1" hangingPunct="1"/>
            <a:r>
              <a:rPr lang="en-US" altLang="en-US"/>
              <a:t>Transcription</a:t>
            </a:r>
          </a:p>
          <a:p>
            <a:pPr lvl="1" eaLnBrk="1" hangingPunct="1"/>
            <a:r>
              <a:rPr lang="en-US" altLang="en-US"/>
              <a:t>Monocistronic</a:t>
            </a:r>
          </a:p>
          <a:p>
            <a:pPr lvl="1" eaLnBrk="1" hangingPunct="1"/>
            <a:r>
              <a:rPr lang="en-US" altLang="en-US"/>
              <a:t>Polycistronic</a:t>
            </a:r>
          </a:p>
        </p:txBody>
      </p:sp>
      <p:sp>
        <p:nvSpPr>
          <p:cNvPr id="256004" name="Rectangle 5">
            <a:extLst>
              <a:ext uri="{FF2B5EF4-FFF2-40B4-BE49-F238E27FC236}">
                <a16:creationId xmlns:a16="http://schemas.microsoft.com/office/drawing/2014/main" id="{2CD6BC13-47C1-92EA-B165-41AC8C35B53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238750" y="2286000"/>
            <a:ext cx="3360738" cy="3598863"/>
          </a:xfrm>
        </p:spPr>
        <p:txBody>
          <a:bodyPr/>
          <a:lstStyle/>
          <a:p>
            <a:pPr eaLnBrk="1" hangingPunct="1"/>
            <a:r>
              <a:rPr lang="en-US" altLang="en-US"/>
              <a:t>Translation </a:t>
            </a:r>
          </a:p>
          <a:p>
            <a:pPr lvl="1" eaLnBrk="1" hangingPunct="1"/>
            <a:r>
              <a:rPr lang="en-US" altLang="en-US"/>
              <a:t>Fmet vs Met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3F6D500C-AD70-4591-51FE-AA52E43625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Mutations</a:t>
            </a:r>
          </a:p>
        </p:txBody>
      </p:sp>
      <p:sp>
        <p:nvSpPr>
          <p:cNvPr id="258051" name="Rectangle 3">
            <a:extLst>
              <a:ext uri="{FF2B5EF4-FFF2-40B4-BE49-F238E27FC236}">
                <a16:creationId xmlns:a16="http://schemas.microsoft.com/office/drawing/2014/main" id="{EB140640-62A7-B3FB-8E60-502D62B702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Frameshift mutations</a:t>
            </a:r>
          </a:p>
          <a:p>
            <a:pPr eaLnBrk="1" hangingPunct="1"/>
            <a:r>
              <a:rPr lang="en-US" altLang="en-US"/>
              <a:t>Point mutations</a:t>
            </a:r>
          </a:p>
          <a:p>
            <a:pPr lvl="1" eaLnBrk="1" hangingPunct="1"/>
            <a:r>
              <a:rPr lang="en-US" altLang="en-US" sz="2400" b="1">
                <a:solidFill>
                  <a:schemeClr val="bg1"/>
                </a:solidFill>
              </a:rPr>
              <a:t>Transition</a:t>
            </a:r>
            <a:r>
              <a:rPr lang="en-US" altLang="en-US" sz="2400"/>
              <a:t> mutations</a:t>
            </a:r>
          </a:p>
          <a:p>
            <a:pPr lvl="1" eaLnBrk="1" hangingPunct="1"/>
            <a:r>
              <a:rPr lang="en-US" altLang="en-US" sz="2400" b="1">
                <a:solidFill>
                  <a:schemeClr val="bg1"/>
                </a:solidFill>
              </a:rPr>
              <a:t>Transversion</a:t>
            </a:r>
            <a:r>
              <a:rPr lang="en-US" altLang="en-US" sz="2400">
                <a:solidFill>
                  <a:srgbClr val="FF3300"/>
                </a:solidFill>
              </a:rPr>
              <a:t> </a:t>
            </a:r>
            <a:r>
              <a:rPr lang="en-US" altLang="en-US" sz="2400"/>
              <a:t>mutations</a:t>
            </a:r>
          </a:p>
          <a:p>
            <a:pPr lvl="2" eaLnBrk="1" hangingPunct="1"/>
            <a:r>
              <a:rPr lang="en-US" altLang="en-US" sz="2400">
                <a:solidFill>
                  <a:schemeClr val="bg1"/>
                </a:solidFill>
              </a:rPr>
              <a:t>Silent</a:t>
            </a:r>
            <a:r>
              <a:rPr lang="en-US" altLang="en-US" sz="2400"/>
              <a:t> mutations</a:t>
            </a:r>
          </a:p>
          <a:p>
            <a:pPr lvl="2" eaLnBrk="1" hangingPunct="1"/>
            <a:r>
              <a:rPr lang="en-US" altLang="en-US" sz="2400">
                <a:solidFill>
                  <a:schemeClr val="bg1"/>
                </a:solidFill>
              </a:rPr>
              <a:t>Missense</a:t>
            </a:r>
            <a:r>
              <a:rPr lang="en-US" altLang="en-US" sz="2400"/>
              <a:t> mutations</a:t>
            </a:r>
          </a:p>
          <a:p>
            <a:pPr lvl="2" eaLnBrk="1" hangingPunct="1"/>
            <a:r>
              <a:rPr lang="en-US" altLang="en-US" sz="2400">
                <a:solidFill>
                  <a:schemeClr val="bg1"/>
                </a:solidFill>
              </a:rPr>
              <a:t>Nonsense</a:t>
            </a:r>
            <a:r>
              <a:rPr lang="en-US" altLang="en-US" sz="2400"/>
              <a:t> mutations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025DF976-6053-BCD3-1330-1F7FB923E83C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3600"/>
            <a:ext cx="7772400" cy="3127375"/>
          </a:xfrm>
        </p:spPr>
        <p:txBody>
          <a:bodyPr/>
          <a:lstStyle/>
          <a:p>
            <a:pPr algn="ctr" eaLnBrk="1" hangingPunct="1"/>
            <a:r>
              <a:rPr lang="en-US" altLang="en-US" sz="4800"/>
              <a:t>Can it be the END?</a:t>
            </a:r>
            <a:br>
              <a:rPr lang="en-US" altLang="en-US" sz="4800"/>
            </a:br>
            <a:br>
              <a:rPr lang="en-US" altLang="en-US" sz="4800"/>
            </a:br>
            <a:r>
              <a:rPr lang="en-US" altLang="en-US" sz="4800"/>
              <a:t>YES, IT IS!!!</a:t>
            </a:r>
            <a:br>
              <a:rPr lang="en-US" altLang="en-US" sz="2800"/>
            </a:br>
            <a:br>
              <a:rPr lang="en-US" altLang="en-US" sz="4400"/>
            </a:br>
            <a:endParaRPr lang="en-US" altLang="en-US" sz="440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Title 1">
            <a:extLst>
              <a:ext uri="{FF2B5EF4-FFF2-40B4-BE49-F238E27FC236}">
                <a16:creationId xmlns:a16="http://schemas.microsoft.com/office/drawing/2014/main" id="{33B26279-5455-71C6-E9FE-9F62D642C8B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0"/>
            <a:ext cx="8229600" cy="2895600"/>
          </a:xfrm>
        </p:spPr>
        <p:txBody>
          <a:bodyPr/>
          <a:lstStyle/>
          <a:p>
            <a:pPr algn="ctr" eaLnBrk="1" hangingPunct="1"/>
            <a:r>
              <a:rPr lang="en-US" altLang="en-US" sz="7200"/>
              <a:t>Or is It?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17486</TotalTime>
  <Words>4208</Words>
  <Application>Microsoft Office PowerPoint</Application>
  <PresentationFormat>On-screen Show (4:3)</PresentationFormat>
  <Paragraphs>1070</Paragraphs>
  <Slides>204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204</vt:i4>
      </vt:variant>
    </vt:vector>
  </HeadingPairs>
  <TitlesOfParts>
    <vt:vector size="209" baseType="lpstr">
      <vt:lpstr>Arial</vt:lpstr>
      <vt:lpstr>Calibri</vt:lpstr>
      <vt:lpstr>Impact</vt:lpstr>
      <vt:lpstr>Trebuchet MS</vt:lpstr>
      <vt:lpstr>Berlin</vt:lpstr>
      <vt:lpstr>PUTTING IT ALL BACK TOGETHER</vt:lpstr>
      <vt:lpstr>Section One: Organization of Anabolic Pathways</vt:lpstr>
      <vt:lpstr>Control of Anabolic</vt:lpstr>
      <vt:lpstr>PowerPoint Presentation</vt:lpstr>
      <vt:lpstr>Block Alpha 1 Glucosidase</vt:lpstr>
      <vt:lpstr>Incretins</vt:lpstr>
      <vt:lpstr>Block Gluconeogenesis</vt:lpstr>
      <vt:lpstr>Section Two: Anabolic Pathways</vt:lpstr>
      <vt:lpstr>PowerPoint Presentation</vt:lpstr>
      <vt:lpstr>PowerPoint Presentation</vt:lpstr>
      <vt:lpstr>PowerPoint Presentation</vt:lpstr>
      <vt:lpstr>NADPH is used for…</vt:lpstr>
      <vt:lpstr>X-linked Recessive Enzymes</vt:lpstr>
      <vt:lpstr>G6PD</vt:lpstr>
      <vt:lpstr>PowerPoint Presentation</vt:lpstr>
      <vt:lpstr>Nonoxidative Pentose Pathway</vt:lpstr>
      <vt:lpstr>Wernicke’s Encephalopathy</vt:lpstr>
      <vt:lpstr>PowerPoint Presentation</vt:lpstr>
      <vt:lpstr>Transaminases</vt:lpstr>
      <vt:lpstr>GGT</vt:lpstr>
      <vt:lpstr>Where Amino Acids Are Made</vt:lpstr>
      <vt:lpstr>Succinyl-CoA</vt:lpstr>
      <vt:lpstr>Hepatitis</vt:lpstr>
      <vt:lpstr>To Stop the TCA Cycle:</vt:lpstr>
      <vt:lpstr>Citrate Shuttle</vt:lpstr>
      <vt:lpstr>AcCoA +ATP + CO2 = Malonyl-CoA AcCoA Carboxylase  This is done each round</vt:lpstr>
      <vt:lpstr>To Make Palmitic Acid:</vt:lpstr>
      <vt:lpstr>Pyruvate Carboxylase</vt:lpstr>
      <vt:lpstr>PowerPoint Presentation</vt:lpstr>
      <vt:lpstr>Fatty Acid Synthase</vt:lpstr>
      <vt:lpstr>1. Malonyl-CoA Attacks an Even Number of Carbons</vt:lpstr>
      <vt:lpstr>2. Decarboxylation</vt:lpstr>
      <vt:lpstr>3 &amp; 4. Add Protons to Inside Ketone</vt:lpstr>
      <vt:lpstr>Palmitic Acid</vt:lpstr>
      <vt:lpstr>Rules for Fatty Acids</vt:lpstr>
      <vt:lpstr>Essential Fatty Acids</vt:lpstr>
      <vt:lpstr>Arachidonic Acid</vt:lpstr>
      <vt:lpstr>From Arachidonic Acid:</vt:lpstr>
      <vt:lpstr>PowerPoint Presentation</vt:lpstr>
      <vt:lpstr>Steroid Use in Asthma</vt:lpstr>
      <vt:lpstr>Aspirin-Sensitive Asthma</vt:lpstr>
      <vt:lpstr>SRS-A (Slow Reacting Substance of Anaphylaxis)</vt:lpstr>
      <vt:lpstr>Metachromatic Leukodystrophy</vt:lpstr>
      <vt:lpstr>LT B4</vt:lpstr>
      <vt:lpstr>Thromboxane (PG A2)</vt:lpstr>
      <vt:lpstr>PG E-2 (E-1)</vt:lpstr>
      <vt:lpstr>PDA</vt:lpstr>
      <vt:lpstr>Aspirin/NSAID Induced Ulcers</vt:lpstr>
      <vt:lpstr>COX 2 Inhibitors</vt:lpstr>
      <vt:lpstr>Prostacyclin</vt:lpstr>
      <vt:lpstr>PG F-2</vt:lpstr>
      <vt:lpstr>PG E-2 Analogues</vt:lpstr>
      <vt:lpstr>PG F-2 Analogues</vt:lpstr>
      <vt:lpstr>Leukotrienes</vt:lpstr>
      <vt:lpstr>Leukotrienes: LT- C4,D4,E4</vt:lpstr>
      <vt:lpstr>LT B-4</vt:lpstr>
      <vt:lpstr>Pharmacology</vt:lpstr>
      <vt:lpstr>Irreversible Cyclo-Oxygenase Inhibitor</vt:lpstr>
      <vt:lpstr>Acid Base Problems From Aspirin</vt:lpstr>
      <vt:lpstr>Aspirin Overdose</vt:lpstr>
      <vt:lpstr>Reversible Cyclo-Oxygenase inhibitors</vt:lpstr>
      <vt:lpstr>Steroids</vt:lpstr>
      <vt:lpstr>Steroids</vt:lpstr>
      <vt:lpstr>Mast Cell Stabilizers</vt:lpstr>
      <vt:lpstr>Management of Asthma</vt:lpstr>
      <vt:lpstr>LRBs</vt:lpstr>
      <vt:lpstr>Triglyceride Synthesis</vt:lpstr>
      <vt:lpstr>To Make Glycerol 3 Phosphate</vt:lpstr>
      <vt:lpstr>Lysophosphatidic Acid</vt:lpstr>
      <vt:lpstr>Phosphatidic Acid</vt:lpstr>
      <vt:lpstr>Carriers</vt:lpstr>
      <vt:lpstr>Phosphatidylethanolamine</vt:lpstr>
      <vt:lpstr>Phosphatidylcholine</vt:lpstr>
      <vt:lpstr>Phosphatidylserine</vt:lpstr>
      <vt:lpstr>Cardiolipin</vt:lpstr>
      <vt:lpstr>IP-3/DAG</vt:lpstr>
      <vt:lpstr>Triglycerides</vt:lpstr>
      <vt:lpstr>Pancreatic Lipase</vt:lpstr>
      <vt:lpstr>Lacteals</vt:lpstr>
      <vt:lpstr>Ezetimibe</vt:lpstr>
      <vt:lpstr>Triglyceride Transport</vt:lpstr>
      <vt:lpstr>Chylomicrons</vt:lpstr>
      <vt:lpstr>Medium Chain Triglycerides</vt:lpstr>
      <vt:lpstr>VLDL</vt:lpstr>
      <vt:lpstr>IDL</vt:lpstr>
      <vt:lpstr>To Treat Hypertriglyceridemia</vt:lpstr>
      <vt:lpstr>Sphingolipids</vt:lpstr>
      <vt:lpstr>CDP = carrier for complex lipids</vt:lpstr>
      <vt:lpstr>Sphingosine</vt:lpstr>
      <vt:lpstr>Ceramide</vt:lpstr>
      <vt:lpstr>Cerebroside</vt:lpstr>
      <vt:lpstr>Ganglioside</vt:lpstr>
      <vt:lpstr>Sphingomyelin</vt:lpstr>
      <vt:lpstr>The BIG Picture</vt:lpstr>
      <vt:lpstr>Lysosomal Storage Diseases</vt:lpstr>
      <vt:lpstr>Lysosomal Storage Diseases</vt:lpstr>
      <vt:lpstr>X-Linked</vt:lpstr>
      <vt:lpstr>Gargoyle-Like Features</vt:lpstr>
      <vt:lpstr>Jewish Descent</vt:lpstr>
      <vt:lpstr>Cherry Red Macula</vt:lpstr>
      <vt:lpstr>Have Cataracts</vt:lpstr>
      <vt:lpstr>Gaucher’s</vt:lpstr>
      <vt:lpstr>Krabbe’s</vt:lpstr>
      <vt:lpstr>Tay Sachs </vt:lpstr>
      <vt:lpstr>Nieman-Picks</vt:lpstr>
      <vt:lpstr>Metachromatic Leukodystrophy</vt:lpstr>
      <vt:lpstr>The Final Anabolic Process</vt:lpstr>
      <vt:lpstr>PowerPoint Presentation</vt:lpstr>
      <vt:lpstr>HMG CoA Reductase</vt:lpstr>
      <vt:lpstr>Gallstones</vt:lpstr>
      <vt:lpstr>Gallstone Presentation:</vt:lpstr>
      <vt:lpstr>Location of Gallstones</vt:lpstr>
      <vt:lpstr>Gallstone Terminology:</vt:lpstr>
      <vt:lpstr>Cholecystitis</vt:lpstr>
      <vt:lpstr>Cholelithiasis/Choledocholithiasis</vt:lpstr>
      <vt:lpstr>Gallstone Ileus</vt:lpstr>
      <vt:lpstr>Evaluation of Gallstone Disease</vt:lpstr>
      <vt:lpstr>Evidence of High Cholesterol</vt:lpstr>
      <vt:lpstr>Cholesterol Screening</vt:lpstr>
      <vt:lpstr>LDL Cholesterol</vt:lpstr>
      <vt:lpstr>HDL Cholesterol</vt:lpstr>
      <vt:lpstr>Treatment of High Cholesterol:</vt:lpstr>
      <vt:lpstr>Bile Acid Binders</vt:lpstr>
      <vt:lpstr>PSK-9 Blockers</vt:lpstr>
      <vt:lpstr>Urea Cycle</vt:lpstr>
      <vt:lpstr>PowerPoint Presentation</vt:lpstr>
      <vt:lpstr>The Renal Collecting Duct 10%</vt:lpstr>
      <vt:lpstr>GGT</vt:lpstr>
      <vt:lpstr>Glutamate Dehydrogenase</vt:lpstr>
      <vt:lpstr>Citrulline</vt:lpstr>
      <vt:lpstr>Rapid Growth Periods</vt:lpstr>
      <vt:lpstr>L-Arginine</vt:lpstr>
      <vt:lpstr>Urea</vt:lpstr>
      <vt:lpstr>Liver Failure</vt:lpstr>
      <vt:lpstr>Liver Transplant:</vt:lpstr>
      <vt:lpstr>Glutamine</vt:lpstr>
      <vt:lpstr>Hepatorenal Syndrome</vt:lpstr>
      <vt:lpstr>Nucleotides</vt:lpstr>
      <vt:lpstr>Nucleotides</vt:lpstr>
      <vt:lpstr>UDP Vs Dolichol</vt:lpstr>
      <vt:lpstr>Purines</vt:lpstr>
      <vt:lpstr>Diseases Related to UV Light</vt:lpstr>
      <vt:lpstr>PYRIMIDINES</vt:lpstr>
      <vt:lpstr>Nucleotides</vt:lpstr>
      <vt:lpstr>Found Only in DNA</vt:lpstr>
      <vt:lpstr>Found Only in RNA</vt:lpstr>
      <vt:lpstr>To Silence DNA</vt:lpstr>
      <vt:lpstr>To Loosen Up DNA</vt:lpstr>
      <vt:lpstr>Proofreading DNA</vt:lpstr>
      <vt:lpstr>THE BLOTS</vt:lpstr>
      <vt:lpstr>Nucleotides Continued</vt:lpstr>
      <vt:lpstr>Purines</vt:lpstr>
      <vt:lpstr>To Make a Purine Ring</vt:lpstr>
      <vt:lpstr>HGPRT</vt:lpstr>
      <vt:lpstr>Gout</vt:lpstr>
      <vt:lpstr>Pyrimidines</vt:lpstr>
      <vt:lpstr>Carbamoyl Phosphate Synthetase</vt:lpstr>
      <vt:lpstr>Ribonucleotide Reductase</vt:lpstr>
      <vt:lpstr>SCID</vt:lpstr>
      <vt:lpstr>SCID Update</vt:lpstr>
      <vt:lpstr>The DNA Helix</vt:lpstr>
      <vt:lpstr>HISTONES</vt:lpstr>
      <vt:lpstr>A Nucleosome</vt:lpstr>
      <vt:lpstr>H-1: The Linker protein</vt:lpstr>
      <vt:lpstr>Anti-Histone Antibody</vt:lpstr>
      <vt:lpstr>SLE</vt:lpstr>
      <vt:lpstr>Drug Induced Lupus: Differences</vt:lpstr>
      <vt:lpstr>Section Three: Cellular Cycle</vt:lpstr>
      <vt:lpstr>PowerPoint Presentation</vt:lpstr>
      <vt:lpstr>Rb-gene</vt:lpstr>
      <vt:lpstr>Centrioles</vt:lpstr>
      <vt:lpstr>Apoptosis</vt:lpstr>
      <vt:lpstr>Mitosis</vt:lpstr>
      <vt:lpstr>DNA Replication</vt:lpstr>
      <vt:lpstr>PowerPoint Presentation</vt:lpstr>
      <vt:lpstr>What if you had fewer than 8 bases left on the 5’-3’ lagging strand ?</vt:lpstr>
      <vt:lpstr>PowerPoint Presentation</vt:lpstr>
      <vt:lpstr>Genomic Library</vt:lpstr>
      <vt:lpstr>Zinc Fingers</vt:lpstr>
      <vt:lpstr>RNA Polymerase</vt:lpstr>
      <vt:lpstr>PowerPoint Presentation</vt:lpstr>
      <vt:lpstr>Transcription Initiation</vt:lpstr>
      <vt:lpstr>Transcription Process</vt:lpstr>
      <vt:lpstr>Transcriptional Termination</vt:lpstr>
      <vt:lpstr>Post-Transcriptional Modification</vt:lpstr>
      <vt:lpstr>Lessons from the Lac Operon</vt:lpstr>
      <vt:lpstr>PowerPoint Presentation</vt:lpstr>
      <vt:lpstr>PowerPoint Presentation</vt:lpstr>
      <vt:lpstr>The Players</vt:lpstr>
      <vt:lpstr>RNA</vt:lpstr>
      <vt:lpstr>tRNA</vt:lpstr>
      <vt:lpstr>30s Ribosome</vt:lpstr>
      <vt:lpstr>A-Site</vt:lpstr>
      <vt:lpstr>P-Site</vt:lpstr>
      <vt:lpstr>Start Codon</vt:lpstr>
      <vt:lpstr>50s Ribosome</vt:lpstr>
      <vt:lpstr>EF-2</vt:lpstr>
      <vt:lpstr>Inactivates EF-2</vt:lpstr>
      <vt:lpstr>The Process</vt:lpstr>
      <vt:lpstr>The Cost</vt:lpstr>
      <vt:lpstr>Differences</vt:lpstr>
      <vt:lpstr>Mutations</vt:lpstr>
      <vt:lpstr>Can it be the END?  YES, IT IS!!!  </vt:lpstr>
      <vt:lpstr>Or is It?</vt:lpstr>
    </vt:vector>
  </TitlesOfParts>
  <Company>PASSPROGRAM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INTRODUCTION: THE MOST POWERFUL CONCEPT IN MEDICINE</dc:title>
  <dc:creator>DR. FRANCIS</dc:creator>
  <cp:lastModifiedBy>Ryan Cannon-Scott</cp:lastModifiedBy>
  <cp:revision>160</cp:revision>
  <dcterms:created xsi:type="dcterms:W3CDTF">2006-04-02T20:21:56Z</dcterms:created>
  <dcterms:modified xsi:type="dcterms:W3CDTF">2022-06-24T05:15:17Z</dcterms:modified>
</cp:coreProperties>
</file>